
<file path=[Content_Types].xml><?xml version="1.0" encoding="utf-8"?>
<Types xmlns="http://schemas.openxmlformats.org/package/2006/content-types">
  <Default Extension="gif&amp;f=1&amp;nofb=1&amp;ipt=41d79e817e6b773d97bac74443bbf0af58ae636d84b9cb46fb639e127ddbcecf" ContentType="image/gif"/>
  <Default Extension="jpeg" ContentType="image/jpeg"/>
  <Default Extension="jpg&amp;f=1&amp;nofb=1&amp;ipt=3e95fc048c88248d015dfadfaebdb331aac3fdd4d064ea286400b1b5117fbc99" ContentType="image/jpeg"/>
  <Default Extension="png" ContentType="image/png"/>
  <Default Extension="png&amp;f=1&amp;nofb=1&amp;ipt=f7c12ffb644cb2c206bfe9129b2d6727ebdf7165e659b21289c3cf5b6f96ee38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8" r:id="rId3"/>
    <p:sldId id="257" r:id="rId4"/>
    <p:sldId id="270" r:id="rId5"/>
    <p:sldId id="284" r:id="rId6"/>
    <p:sldId id="285" r:id="rId7"/>
    <p:sldId id="287" r:id="rId8"/>
    <p:sldId id="286" r:id="rId9"/>
    <p:sldId id="280" r:id="rId10"/>
    <p:sldId id="283" r:id="rId11"/>
    <p:sldId id="297" r:id="rId12"/>
    <p:sldId id="298" r:id="rId13"/>
    <p:sldId id="290" r:id="rId14"/>
    <p:sldId id="288" r:id="rId15"/>
    <p:sldId id="291" r:id="rId16"/>
    <p:sldId id="292" r:id="rId17"/>
    <p:sldId id="293" r:id="rId18"/>
    <p:sldId id="294" r:id="rId19"/>
    <p:sldId id="295" r:id="rId20"/>
    <p:sldId id="296" r:id="rId21"/>
    <p:sldId id="281" r:id="rId2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322" autoAdjust="0"/>
  </p:normalViewPr>
  <p:slideViewPr>
    <p:cSldViewPr snapToGrid="0">
      <p:cViewPr varScale="1">
        <p:scale>
          <a:sx n="55" d="100"/>
          <a:sy n="55" d="100"/>
        </p:scale>
        <p:origin x="10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87DA45-1FDC-456E-8945-7244C9B1951C}" type="datetimeFigureOut">
              <a:rPr lang="en-DE" smtClean="0"/>
              <a:t>14/07/2026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A14C6C-5AFE-40A1-9170-F17A1A11427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04122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A14C6C-5AFE-40A1-9170-F17A1A11427B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36850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A14C6C-5AFE-40A1-9170-F17A1A11427B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42273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37FC4-A25A-7D7C-7358-7D8383F54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B9611D-B324-1C9B-6DBD-0C6A4D8E5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F9E50-33DD-B2DE-27A1-1F80FF5CAE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6A236-AD12-B833-F849-994317BC90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A14C6C-5AFE-40A1-9170-F17A1A11427B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56164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C19AD-39FE-81C3-586C-E08C0BC0E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115167-D7C9-F74C-1127-92848D025D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F3F77A-DBE7-ECEB-8D03-F5BF7C34A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0B5D5-61E7-AE57-5BCD-85C1CFB62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A14C6C-5AFE-40A1-9170-F17A1A11427B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53884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E2E26-5B2E-D227-F5DA-6B2C30A9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A2DAB4-3D38-EDE8-A5E1-731CD1D79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80D20C-0053-DBFA-8C67-19D3AE6F8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E894F-AFE2-680C-363F-651953C2B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A14C6C-5AFE-40A1-9170-F17A1A11427B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20048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D09EE-0DB1-B68E-B57A-C830FD107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2EAC20-5571-761C-AF01-717B17972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B5C814-5E01-8F8B-750F-85818B5A8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84F71-EDF8-CF9E-9183-15F3D4BBFA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A14C6C-5AFE-40A1-9170-F17A1A11427B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75778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80135-EBCC-3C23-45C7-C3C18785B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F48B8-E184-5BA0-149B-56814E0263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69E35-59B2-AA13-8452-37258FA52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04/06/2026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2B25B-1775-9B43-F619-0A39E2BB7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5A496-6830-15C6-E927-FA33D980E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C1C1E-0E29-41E5-9180-F70B30A6035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53858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E133C-97B7-227A-44F2-79120AD33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454CF-423D-4329-BBE5-7FDC43BF5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A74E7-9E3A-70B9-E697-4A924BF02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04/06/2026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1AC5D-F93C-D900-D792-477FB5963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7CB1B-6D32-BD62-63F7-59E2FB14B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C1C1E-0E29-41E5-9180-F70B30A6035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06755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8D9B4-F1E2-802E-9D73-985AE0CFA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DD15E-04F7-B763-C3C7-2C7866DC0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5CC14-50C2-C633-6260-8C29CA5C4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04/06/2026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8FAEF-606D-CEAC-623E-DBA89F704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05D5E-B507-DBDD-DA38-B36B1838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C1C1E-0E29-41E5-9180-F70B30A6035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71268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4C5A7-2AF1-01EE-427B-D21680123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C9938-373D-AD15-CE92-51F09EA4D5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E89105-7F7C-5A16-2819-E4C3AE8E5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25356-7D90-65E3-05A8-F5376AB55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04/06/2026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357DC-5999-15DC-555D-597E81599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97640-42C6-0C59-82EF-118A8CFCB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C1C1E-0E29-41E5-9180-F70B30A6035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37645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3F584-ECEF-6A23-3266-E1DA90AA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DD05F-6A60-9C66-AA33-E78D041C8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1E373F-9DC9-4134-1159-03DA4C039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607970-E4E2-8D42-2681-907AE935A3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010382-C94E-B596-7086-181A3A1FCA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D09366-1938-EE45-2222-8F4C90D60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04/06/2026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62D024-86D6-7DD8-6376-4093CB11F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EF3D3B-8179-C319-775F-DE3395AF5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C1C1E-0E29-41E5-9180-F70B30A6035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23518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ACB56-D627-4093-019C-1F098B7D4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DE515F-D157-B873-93D2-FF3C7B230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04/06/2026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DFCB62-4130-8565-990F-DC8354416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FE47C3-A526-56EF-3928-231EE41D4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C1C1E-0E29-41E5-9180-F70B30A6035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40534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F583F-E174-E2E7-F7D9-55F124A99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04/06/2026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5C6555-5C67-25CE-F131-EDF493B3E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5DA10-4154-9647-0DFE-316F11E32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C1C1E-0E29-41E5-9180-F70B30A6035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89344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11BAF-5767-E5D9-EDC0-06655DD1C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7497A-3812-F2C0-1E86-53610F700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39BD7D-B903-8CF4-3DE4-989E08451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FACFF-B009-4BC6-55CA-FCE54C45B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04/06/2026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163272-2EBC-889F-D13B-C9F8D3874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F3FDF-8A75-45CE-7119-EB991087A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C1C1E-0E29-41E5-9180-F70B30A6035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84522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A865D-89EF-C20D-4B2C-A5B4B2530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EE9083-29F5-6E8E-EC37-6C7CA16D96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C4F813-4023-09A5-60E2-AEF92DDE1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6AB13-DFCC-9A3C-1F30-04A361C6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04/06/2026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CA1FE-499E-D9B9-8FEB-65CAE503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5ACBB6-1B6B-4C20-DA3A-3E9C46A3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C1C1E-0E29-41E5-9180-F70B30A6035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06625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CFAD5-4286-A5C2-5477-248F396A4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D5242A-22E9-7FD8-D92B-98072F085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21B57-7564-C916-F9B9-F8072A4B2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04/06/2026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B7A46-0399-630E-878D-E946C7A32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1372E-4ED6-3A2D-AB6C-EA1B25300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C1C1E-0E29-41E5-9180-F70B30A6035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85123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AFA352-034F-5A69-04F0-731497E60D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7BC719-B30A-AA97-609F-B61668D2A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07FFA-75B4-53FD-C7A1-D787B5963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04/06/2026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00E01-65B3-035A-10D9-9800B4EEC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C1C93-378D-1E6B-5586-9659334B7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C1C1E-0E29-41E5-9180-F70B30A6035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6191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8EF5BD-F9D4-9FDD-6A2D-9D3333DC6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6452E-6FF3-1EB7-1038-E942B2888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D8CE3-659C-9B26-1D11-4BE47BBD74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DE"/>
              <a:t>04/06/2026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8D9B7-8188-E20F-3509-A13B0BBB46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7797D-2F76-5D1F-62EF-35FEB635A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0C1C1E-0E29-41E5-9180-F70B30A6035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41962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&amp;f=1&amp;nofb=1&amp;ipt=f7c12ffb644cb2c206bfe9129b2d6727ebdf7165e659b21289c3cf5b6f96ee38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gif&amp;f=1&amp;nofb=1&amp;ipt=41d79e817e6b773d97bac74443bbf0af58ae636d84b9cb46fb639e127ddbcecf"/><Relationship Id="rId4" Type="http://schemas.openxmlformats.org/officeDocument/2006/relationships/image" Target="../media/image2.jpg&amp;f=1&amp;nofb=1&amp;ipt=3e95fc048c88248d015dfadfaebdb331aac3fdd4d064ea286400b1b5117fbc99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580D3-8E25-71B4-6B6E-F23D0758EC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en-US" dirty="0"/>
              <a:t>A Causal Analysis of Organic Farming on Water Nitrate Levels</a:t>
            </a: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BE97A1-BAD8-378F-2F5F-4ABF26EA9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84061"/>
            <a:ext cx="9144000" cy="1041859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r>
              <a:rPr lang="en-DE" dirty="0"/>
              <a:t>Alexander D</a:t>
            </a:r>
            <a:r>
              <a:rPr lang="en-US" dirty="0"/>
              <a:t>.</a:t>
            </a:r>
            <a:r>
              <a:rPr lang="en-DE" dirty="0"/>
              <a:t> </a:t>
            </a:r>
            <a:r>
              <a:rPr lang="en-US" dirty="0"/>
              <a:t>J.</a:t>
            </a:r>
            <a:r>
              <a:rPr lang="en-DE" dirty="0"/>
              <a:t> Sommer</a:t>
            </a:r>
            <a:r>
              <a:rPr lang="en-US" dirty="0"/>
              <a:t> &amp; Sophia N. K. Marangou</a:t>
            </a:r>
          </a:p>
          <a:p>
            <a:r>
              <a:rPr lang="en-US" dirty="0"/>
              <a:t>MSc Statistics – Econometrics and Quantitative Economic Research Track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3B466C-30F8-F6FF-F375-B0233113A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CB4538-0CB4-0F51-0FA6-B4199AADC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683" y="4455510"/>
            <a:ext cx="1320046" cy="9682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493CDE-C71B-72C2-24D7-6B2C1610F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732" y="4355595"/>
            <a:ext cx="1168085" cy="11680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225075-0C67-445C-0076-A99EA7DC56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5732" y="4153730"/>
            <a:ext cx="1609717" cy="16097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AF2FF7-B59D-10E3-1A6C-90DB6540F0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6333" y="4272754"/>
            <a:ext cx="2267067" cy="137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572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C7736-A257-3131-DAAE-B4255F592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846" y="1253331"/>
            <a:ext cx="10515600" cy="3153416"/>
          </a:xfrm>
        </p:spPr>
        <p:txBody>
          <a:bodyPr/>
          <a:lstStyle/>
          <a:p>
            <a:r>
              <a:rPr lang="en-US" dirty="0"/>
              <a:t>Research question</a:t>
            </a:r>
          </a:p>
          <a:p>
            <a:r>
              <a:rPr lang="en-US" dirty="0"/>
              <a:t>Data sources</a:t>
            </a:r>
          </a:p>
          <a:p>
            <a:r>
              <a:rPr lang="en-US" dirty="0"/>
              <a:t>Workflow for creating a reproducible panel set</a:t>
            </a:r>
          </a:p>
          <a:p>
            <a:r>
              <a:rPr lang="en-US" dirty="0"/>
              <a:t>Next steps: Econometric / </a:t>
            </a:r>
            <a:r>
              <a:rPr lang="en-US" dirty="0" err="1"/>
              <a:t>DiD</a:t>
            </a:r>
            <a:r>
              <a:rPr lang="en-US" dirty="0"/>
              <a:t> models</a:t>
            </a:r>
          </a:p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AE5CFC-1D73-5387-EA32-E74123764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25872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D3FAA-2063-6EB8-7F43-77B179D75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71BDC-248C-495C-E356-3A011EE78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0750"/>
            <a:ext cx="10515600" cy="356817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i="1" dirty="0"/>
              <a:t>“</a:t>
            </a:r>
            <a:r>
              <a:rPr lang="en-DE" sz="4800" i="1" dirty="0"/>
              <a:t>Does organic farming affect</a:t>
            </a:r>
            <a:endParaRPr lang="en-US" sz="4800" i="1" dirty="0"/>
          </a:p>
          <a:p>
            <a:pPr marL="0" indent="0" algn="ctr">
              <a:buNone/>
            </a:pPr>
            <a:r>
              <a:rPr lang="en-DE" sz="4800" i="1" dirty="0"/>
              <a:t> groundwater</a:t>
            </a:r>
            <a:r>
              <a:rPr lang="en-US" sz="4800" i="1" dirty="0"/>
              <a:t> </a:t>
            </a:r>
            <a:r>
              <a:rPr lang="en-DE" sz="4800" i="1" dirty="0"/>
              <a:t>nitrate pollution</a:t>
            </a:r>
            <a:endParaRPr lang="en-US" sz="4800" i="1" dirty="0"/>
          </a:p>
          <a:p>
            <a:pPr marL="0" indent="0" algn="ctr">
              <a:buNone/>
            </a:pPr>
            <a:r>
              <a:rPr lang="en-DE" sz="4800" i="1" dirty="0"/>
              <a:t>in Lower Saxony</a:t>
            </a:r>
            <a:r>
              <a:rPr lang="en-US" sz="4800" i="1" dirty="0"/>
              <a:t>?”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E13AE-70D4-741C-5AB2-2B63A8847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82223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90C04-5707-8060-928F-BA9173BDA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64DE25-7C24-2B22-3E5B-88A78F09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EC4BF2-E456-3484-71A7-DF215E286409}"/>
              </a:ext>
            </a:extLst>
          </p:cNvPr>
          <p:cNvSpPr txBox="1">
            <a:spLocks/>
          </p:cNvSpPr>
          <p:nvPr/>
        </p:nvSpPr>
        <p:spPr>
          <a:xfrm>
            <a:off x="606846" y="1253331"/>
            <a:ext cx="10515600" cy="31534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Research question</a:t>
            </a:r>
          </a:p>
          <a:p>
            <a:r>
              <a:rPr lang="en-US" dirty="0"/>
              <a:t>Data sources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566832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04C3B-005D-1D02-BAF5-2F5FD9139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0B86-899C-C00D-3890-D0E8F3DA7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 - </a:t>
            </a:r>
            <a:r>
              <a:rPr lang="en-DE" dirty="0"/>
              <a:t>UBA nitrate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38A24-F408-D0B0-DCC4-E2F64D866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</a:t>
            </a:r>
            <a:r>
              <a:rPr lang="en-DE" dirty="0" err="1"/>
              <a:t>rovides</a:t>
            </a:r>
            <a:r>
              <a:rPr lang="en-US" dirty="0"/>
              <a:t>:</a:t>
            </a:r>
            <a:endParaRPr lang="en-DE" dirty="0"/>
          </a:p>
          <a:p>
            <a:r>
              <a:rPr lang="en-DE" dirty="0"/>
              <a:t>groundwater monitoring stations </a:t>
            </a:r>
          </a:p>
          <a:p>
            <a:r>
              <a:rPr lang="en-DE" dirty="0"/>
              <a:t>coordinates </a:t>
            </a:r>
          </a:p>
          <a:p>
            <a:r>
              <a:rPr lang="en-DE" dirty="0"/>
              <a:t>nitrate measurements </a:t>
            </a:r>
          </a:p>
          <a:p>
            <a:r>
              <a:rPr lang="en-DE" dirty="0"/>
              <a:t>year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BD56C0-217D-2635-9AA1-CC4A79FDC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AFE170-0291-53AB-8F1B-C4237723DC90}"/>
              </a:ext>
            </a:extLst>
          </p:cNvPr>
          <p:cNvSpPr txBox="1"/>
          <p:nvPr/>
        </p:nvSpPr>
        <p:spPr>
          <a:xfrm>
            <a:off x="6096000" y="4244237"/>
            <a:ext cx="60940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station    </a:t>
            </a:r>
            <a:r>
              <a:rPr lang="en-US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</a:t>
            </a:r>
            <a:r>
              <a:rPr lang="en-DE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DE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year     </a:t>
            </a:r>
            <a:r>
              <a:rPr lang="en-US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</a:t>
            </a:r>
            <a:r>
              <a:rPr lang="en-DE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nitrate</a:t>
            </a:r>
          </a:p>
          <a:p>
            <a:r>
              <a:rPr lang="en-DE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           </a:t>
            </a:r>
            <a:r>
              <a:rPr lang="en-US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	 </a:t>
            </a:r>
            <a:r>
              <a:rPr lang="en-DE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2012     </a:t>
            </a:r>
            <a:r>
              <a:rPr lang="en-US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</a:t>
            </a:r>
            <a:r>
              <a:rPr lang="en-DE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23</a:t>
            </a:r>
          </a:p>
          <a:p>
            <a:r>
              <a:rPr lang="en-DE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          </a:t>
            </a:r>
            <a:r>
              <a:rPr lang="en-US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	</a:t>
            </a:r>
            <a:r>
              <a:rPr lang="en-DE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2013     </a:t>
            </a:r>
            <a:r>
              <a:rPr lang="en-US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</a:t>
            </a:r>
            <a:r>
              <a:rPr lang="en-DE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19</a:t>
            </a:r>
          </a:p>
          <a:p>
            <a:r>
              <a:rPr lang="en-DE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          </a:t>
            </a:r>
            <a:r>
              <a:rPr lang="en-US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	</a:t>
            </a:r>
            <a:r>
              <a:rPr lang="en-DE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2014     </a:t>
            </a:r>
            <a:r>
              <a:rPr lang="en-US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</a:t>
            </a:r>
            <a:r>
              <a:rPr lang="en-DE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18</a:t>
            </a:r>
          </a:p>
          <a:p>
            <a:r>
              <a:rPr lang="en-DE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124552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96A5F-04A9-3DA9-0585-E9DABAD55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144FC-1377-FA8F-E015-79F253DB2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 – Google Dynamic World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1F78B-B53F-A34C-A573-50E780696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Remote sensing queries:</a:t>
            </a:r>
            <a:endParaRPr lang="en-DE" dirty="0"/>
          </a:p>
          <a:p>
            <a:r>
              <a:rPr lang="en-US" dirty="0"/>
              <a:t>L</a:t>
            </a:r>
            <a:r>
              <a:rPr lang="en-DE" dirty="0"/>
              <a:t>and</a:t>
            </a:r>
            <a:r>
              <a:rPr lang="en-US" dirty="0"/>
              <a:t>-cover characteristics a</a:t>
            </a:r>
            <a:r>
              <a:rPr lang="en-DE" dirty="0"/>
              <a:t>round </a:t>
            </a:r>
            <a:r>
              <a:rPr lang="en-US" dirty="0"/>
              <a:t>a given point,</a:t>
            </a:r>
            <a:br>
              <a:rPr lang="en-US" dirty="0"/>
            </a:br>
            <a:r>
              <a:rPr lang="en-US" dirty="0"/>
              <a:t>for us:</a:t>
            </a:r>
            <a:r>
              <a:rPr lang="en-DE" dirty="0"/>
              <a:t> </a:t>
            </a:r>
            <a:r>
              <a:rPr lang="en-US" dirty="0"/>
              <a:t>each water </a:t>
            </a:r>
            <a:r>
              <a:rPr lang="en-DE" dirty="0"/>
              <a:t>monitoring station</a:t>
            </a:r>
            <a:endParaRPr lang="en-US" dirty="0"/>
          </a:p>
          <a:p>
            <a:pPr lvl="1"/>
            <a:r>
              <a:rPr lang="en-US" dirty="0"/>
              <a:t>crops  vs.  trees  vs.  grass</a:t>
            </a:r>
          </a:p>
          <a:p>
            <a:pPr lvl="1"/>
            <a:r>
              <a:rPr lang="en-US" dirty="0"/>
              <a:t>buildings   vs.   settlements</a:t>
            </a:r>
          </a:p>
          <a:p>
            <a:r>
              <a:rPr lang="en-US" dirty="0"/>
              <a:t>we queried every year from 2016 to 2022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37D26-99FA-77B3-273A-871A0CD0C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33E08D-528B-FF16-D28A-A999DA16ACCC}"/>
              </a:ext>
            </a:extLst>
          </p:cNvPr>
          <p:cNvSpPr txBox="1"/>
          <p:nvPr/>
        </p:nvSpPr>
        <p:spPr>
          <a:xfrm>
            <a:off x="8434086" y="3429000"/>
            <a:ext cx="21798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Station A</a:t>
            </a:r>
          </a:p>
          <a:p>
            <a:endParaRPr lang="en-US" dirty="0"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r>
              <a:rPr lang="en-US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500 m radius</a:t>
            </a:r>
          </a:p>
          <a:p>
            <a:endParaRPr lang="en-US" dirty="0"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r>
              <a:rPr lang="en-US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60% crops</a:t>
            </a:r>
          </a:p>
          <a:p>
            <a:r>
              <a:rPr lang="en-US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15% trees</a:t>
            </a:r>
          </a:p>
          <a:p>
            <a:r>
              <a:rPr lang="en-US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20% grass</a:t>
            </a:r>
          </a:p>
          <a:p>
            <a:r>
              <a:rPr lang="en-US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5% built</a:t>
            </a:r>
            <a:endParaRPr lang="en-DE" dirty="0"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191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433E0-D4DB-3B9E-98E3-4B1248E19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546AE-97E4-1196-E3DF-95799668D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 – </a:t>
            </a:r>
            <a:r>
              <a:rPr lang="en-US" dirty="0" err="1"/>
              <a:t>Regionalstatistik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3B03D-AF38-C3FD-96AD-16680D3B9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Socio-economic data of district where water station lies:</a:t>
            </a:r>
            <a:endParaRPr lang="en-DE" dirty="0"/>
          </a:p>
          <a:p>
            <a:r>
              <a:rPr lang="en-DE" dirty="0"/>
              <a:t>organic farms</a:t>
            </a:r>
            <a:endParaRPr lang="en-US" dirty="0"/>
          </a:p>
          <a:p>
            <a:r>
              <a:rPr lang="en-DE" dirty="0"/>
              <a:t>agricultural area </a:t>
            </a:r>
            <a:r>
              <a:rPr lang="en-US" dirty="0"/>
              <a:t>(vs populated area)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561B7E-8668-607E-4003-22363DD5D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2FD064-04A1-C8D9-196E-3DAF1B7A4173}"/>
              </a:ext>
            </a:extLst>
          </p:cNvPr>
          <p:cNvSpPr txBox="1"/>
          <p:nvPr/>
        </p:nvSpPr>
        <p:spPr>
          <a:xfrm>
            <a:off x="8260466" y="2769243"/>
            <a:ext cx="246926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water station</a:t>
            </a:r>
          </a:p>
          <a:p>
            <a:endParaRPr lang="en-US" dirty="0"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r>
              <a:rPr lang="en-US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     ↓</a:t>
            </a:r>
          </a:p>
          <a:p>
            <a:endParaRPr lang="en-US" dirty="0"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r>
              <a:rPr lang="en-US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which district?</a:t>
            </a:r>
          </a:p>
          <a:p>
            <a:endParaRPr lang="en-US" dirty="0"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r>
              <a:rPr lang="en-US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     ↓</a:t>
            </a:r>
          </a:p>
          <a:p>
            <a:endParaRPr lang="en-US" dirty="0"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r>
              <a:rPr lang="en-US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join district statistics</a:t>
            </a:r>
            <a:endParaRPr lang="en-DE" dirty="0"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115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E1F42-178D-D921-59C0-B6E16B6F6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23A56-246A-1F03-5BC8-15BCF8584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Data Sources – Alternative: CORINE</a:t>
            </a:r>
            <a:endParaRPr lang="en-DE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BBF24-D3BB-0E6B-59CD-9B830DC4E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Remote sensing queries:</a:t>
            </a:r>
            <a:endParaRPr lang="en-DE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L</a:t>
            </a:r>
            <a:r>
              <a:rPr lang="en-DE" dirty="0">
                <a:solidFill>
                  <a:schemeClr val="bg2">
                    <a:lumMod val="75000"/>
                  </a:schemeClr>
                </a:solidFill>
              </a:rPr>
              <a:t>and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-cover characteristics a</a:t>
            </a:r>
            <a:r>
              <a:rPr lang="en-DE" dirty="0">
                <a:solidFill>
                  <a:schemeClr val="bg2">
                    <a:lumMod val="75000"/>
                  </a:schemeClr>
                </a:solidFill>
              </a:rPr>
              <a:t>round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a given point, for us:</a:t>
            </a:r>
            <a:r>
              <a:rPr lang="en-DE" dirty="0">
                <a:solidFill>
                  <a:schemeClr val="bg2">
                    <a:lumMod val="75000"/>
                  </a:schemeClr>
                </a:solidFill>
              </a:rPr>
              <a:t> monitoring station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Snapshots 2006, 2012, 2018,</a:t>
            </a:r>
            <a:br>
              <a:rPr lang="en-US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then we interpolate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D5D74-F3FB-F2E3-82F5-3E0533313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0DD6D4-64BB-2DFF-0582-D00CC8749275}"/>
              </a:ext>
            </a:extLst>
          </p:cNvPr>
          <p:cNvSpPr txBox="1"/>
          <p:nvPr/>
        </p:nvSpPr>
        <p:spPr>
          <a:xfrm>
            <a:off x="8434086" y="3429000"/>
            <a:ext cx="21798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Station A</a:t>
            </a:r>
          </a:p>
          <a:p>
            <a:endParaRPr lang="en-US" dirty="0">
              <a:solidFill>
                <a:schemeClr val="bg2">
                  <a:lumMod val="75000"/>
                </a:schemeClr>
              </a:solidFill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500 m radius</a:t>
            </a:r>
          </a:p>
          <a:p>
            <a:endParaRPr lang="en-US" dirty="0">
              <a:solidFill>
                <a:schemeClr val="bg2">
                  <a:lumMod val="75000"/>
                </a:schemeClr>
              </a:solidFill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60% crops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15% trees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20% grass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5% built</a:t>
            </a:r>
            <a:endParaRPr lang="en-DE" dirty="0">
              <a:solidFill>
                <a:schemeClr val="bg2">
                  <a:lumMod val="75000"/>
                </a:schemeClr>
              </a:solidFill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120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85F11D-5A95-B9E2-FE89-0C62160E2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D10AC35-A36E-C39E-2C86-CD016352A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846" y="1253331"/>
            <a:ext cx="10515600" cy="3153416"/>
          </a:xfrm>
        </p:spPr>
        <p:txBody>
          <a:bodyPr/>
          <a:lstStyle/>
          <a:p>
            <a:r>
              <a:rPr lang="en-US" dirty="0"/>
              <a:t>Research question</a:t>
            </a:r>
          </a:p>
          <a:p>
            <a:r>
              <a:rPr lang="en-US" dirty="0"/>
              <a:t>Data sources</a:t>
            </a:r>
          </a:p>
          <a:p>
            <a:r>
              <a:rPr lang="en-US" dirty="0"/>
              <a:t>Workflow for creating a reproducible panel set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489426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E6A555-B9A6-99EB-786E-6E37241B5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896B24-B097-DD9C-2551-822FA159E028}"/>
              </a:ext>
            </a:extLst>
          </p:cNvPr>
          <p:cNvSpPr txBox="1"/>
          <p:nvPr/>
        </p:nvSpPr>
        <p:spPr>
          <a:xfrm>
            <a:off x="7957595" y="517525"/>
            <a:ext cx="3825432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/>
              <a:t> </a:t>
            </a:r>
            <a:r>
              <a:rPr lang="en-US" dirty="0"/>
              <a:t>              </a:t>
            </a:r>
            <a:r>
              <a:rPr lang="en-DE" i="1" dirty="0"/>
              <a:t>UBA</a:t>
            </a:r>
          </a:p>
          <a:p>
            <a:r>
              <a:rPr lang="en-DE" dirty="0"/>
              <a:t>         groundwater stations</a:t>
            </a:r>
          </a:p>
          <a:p>
            <a:r>
              <a:rPr lang="en-DE" dirty="0"/>
              <a:t>         nitrate measurements</a:t>
            </a:r>
          </a:p>
          <a:p>
            <a:r>
              <a:rPr lang="en-DE" dirty="0"/>
              <a:t>                  │</a:t>
            </a:r>
          </a:p>
          <a:p>
            <a:r>
              <a:rPr lang="en-DE" dirty="0"/>
              <a:t>                  │</a:t>
            </a:r>
          </a:p>
          <a:p>
            <a:r>
              <a:rPr lang="en-DE" dirty="0"/>
              <a:t>        station-year observations</a:t>
            </a:r>
          </a:p>
          <a:p>
            <a:r>
              <a:rPr lang="en-DE" dirty="0"/>
              <a:t>                  │</a:t>
            </a:r>
          </a:p>
          <a:p>
            <a:r>
              <a:rPr lang="en-DE" dirty="0"/>
              <a:t>      ┌──────────────────────┐</a:t>
            </a:r>
          </a:p>
          <a:p>
            <a:r>
              <a:rPr lang="en-DE" dirty="0"/>
              <a:t>      │           </a:t>
            </a:r>
            <a:r>
              <a:rPr lang="en-US" dirty="0"/>
              <a:t>                </a:t>
            </a:r>
            <a:r>
              <a:rPr lang="en-DE" dirty="0"/>
              <a:t>│             </a:t>
            </a:r>
            <a:r>
              <a:rPr lang="en-US" dirty="0"/>
              <a:t>            </a:t>
            </a:r>
            <a:r>
              <a:rPr lang="en-DE" dirty="0"/>
              <a:t>│</a:t>
            </a:r>
          </a:p>
          <a:p>
            <a:r>
              <a:rPr lang="en-DE" dirty="0"/>
              <a:t>    </a:t>
            </a:r>
            <a:r>
              <a:rPr lang="en-US" dirty="0"/>
              <a:t> </a:t>
            </a:r>
            <a:r>
              <a:rPr lang="en-DE" dirty="0"/>
              <a:t>▼        </a:t>
            </a:r>
            <a:r>
              <a:rPr lang="en-US" dirty="0"/>
              <a:t>                 </a:t>
            </a:r>
            <a:r>
              <a:rPr lang="en-DE" dirty="0"/>
              <a:t>▼           </a:t>
            </a:r>
            <a:r>
              <a:rPr lang="en-US" dirty="0"/>
              <a:t>           </a:t>
            </a:r>
            <a:r>
              <a:rPr lang="en-DE" dirty="0"/>
              <a:t>▼</a:t>
            </a:r>
          </a:p>
          <a:p>
            <a:r>
              <a:rPr lang="en-DE" i="1" dirty="0"/>
              <a:t> Dynamic      </a:t>
            </a:r>
            <a:r>
              <a:rPr lang="en-US" i="1" dirty="0"/>
              <a:t>   </a:t>
            </a:r>
            <a:r>
              <a:rPr lang="en-DE" i="1" dirty="0"/>
              <a:t>CORINE      </a:t>
            </a:r>
            <a:r>
              <a:rPr lang="en-US" i="1" dirty="0"/>
              <a:t>  </a:t>
            </a:r>
            <a:r>
              <a:rPr lang="en-DE" i="1" dirty="0"/>
              <a:t>Regional-</a:t>
            </a:r>
          </a:p>
          <a:p>
            <a:r>
              <a:rPr lang="en-DE" i="1" dirty="0"/>
              <a:t>  </a:t>
            </a:r>
            <a:r>
              <a:rPr lang="en-US" i="1" dirty="0"/>
              <a:t> </a:t>
            </a:r>
            <a:r>
              <a:rPr lang="en-DE" i="1" dirty="0"/>
              <a:t>World      </a:t>
            </a:r>
            <a:r>
              <a:rPr lang="en-US" i="1" dirty="0"/>
              <a:t>     </a:t>
            </a:r>
            <a:r>
              <a:rPr lang="en-DE" i="1" dirty="0"/>
              <a:t>land cover   </a:t>
            </a:r>
            <a:r>
              <a:rPr lang="en-US" i="1" dirty="0"/>
              <a:t>    </a:t>
            </a:r>
            <a:r>
              <a:rPr lang="en-DE" i="1" dirty="0" err="1"/>
              <a:t>statistik</a:t>
            </a:r>
            <a:endParaRPr lang="en-DE" i="1" dirty="0"/>
          </a:p>
          <a:p>
            <a:r>
              <a:rPr lang="en-DE" dirty="0"/>
              <a:t>      │           </a:t>
            </a:r>
            <a:r>
              <a:rPr lang="en-US" dirty="0"/>
              <a:t>                </a:t>
            </a:r>
            <a:r>
              <a:rPr lang="en-DE" dirty="0"/>
              <a:t>│             </a:t>
            </a:r>
            <a:r>
              <a:rPr lang="en-US" dirty="0"/>
              <a:t>            </a:t>
            </a:r>
            <a:r>
              <a:rPr lang="en-DE" dirty="0"/>
              <a:t>│</a:t>
            </a:r>
          </a:p>
          <a:p>
            <a:r>
              <a:rPr lang="en-DE" dirty="0"/>
              <a:t>      └──────────────────────┘</a:t>
            </a:r>
          </a:p>
          <a:p>
            <a:r>
              <a:rPr lang="en-DE" dirty="0"/>
              <a:t>                  │</a:t>
            </a:r>
          </a:p>
          <a:p>
            <a:r>
              <a:rPr lang="en-DE" dirty="0"/>
              <a:t>                 ▼</a:t>
            </a:r>
          </a:p>
          <a:p>
            <a:r>
              <a:rPr lang="en-DE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</a:t>
            </a:r>
            <a:r>
              <a:rPr lang="en-US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dirty="0">
                <a:ea typeface="Cascadia Code Light" panose="020B0609020000020004" pitchFamily="49" charset="0"/>
                <a:cs typeface="Cascadia Code Light" panose="020B0609020000020004" pitchFamily="49" charset="0"/>
              </a:rPr>
              <a:t>our panel data set</a:t>
            </a:r>
            <a:endParaRPr lang="en-DE" dirty="0"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r>
              <a:rPr lang="en-DE" dirty="0"/>
              <a:t>                  │</a:t>
            </a:r>
          </a:p>
          <a:p>
            <a:r>
              <a:rPr lang="en-DE" dirty="0"/>
              <a:t>                 ▼</a:t>
            </a:r>
          </a:p>
          <a:p>
            <a:r>
              <a:rPr lang="en-DE" dirty="0"/>
              <a:t>        econometric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B7E2AF-0629-6E24-F82A-CEF28FA3B6E5}"/>
              </a:ext>
            </a:extLst>
          </p:cNvPr>
          <p:cNvSpPr txBox="1"/>
          <p:nvPr/>
        </p:nvSpPr>
        <p:spPr>
          <a:xfrm>
            <a:off x="855562" y="2445719"/>
            <a:ext cx="67480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br>
              <a:rPr lang="en-US" sz="2400" b="1" dirty="0"/>
            </a:br>
            <a:r>
              <a:rPr lang="en-US" sz="2400" b="1" dirty="0"/>
              <a:t>How agricultural is the land around the station </a:t>
            </a:r>
          </a:p>
          <a:p>
            <a:pPr algn="ctr"/>
            <a:r>
              <a:rPr lang="en-US" sz="2400" b="1" dirty="0"/>
              <a:t>X</a:t>
            </a:r>
          </a:p>
          <a:p>
            <a:pPr algn="ctr"/>
            <a:r>
              <a:rPr lang="en-US" sz="2400" b="1" dirty="0"/>
              <a:t>How much organic farming exists in the district</a:t>
            </a:r>
            <a:endParaRPr lang="en-DE" sz="2400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86F535E-9D97-CAB7-C595-9F8E0B63504C}"/>
              </a:ext>
            </a:extLst>
          </p:cNvPr>
          <p:cNvSpPr txBox="1">
            <a:spLocks/>
          </p:cNvSpPr>
          <p:nvPr/>
        </p:nvSpPr>
        <p:spPr>
          <a:xfrm>
            <a:off x="855562" y="517525"/>
            <a:ext cx="106506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Workflow - Data Pipeline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42437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1AF4E-337D-7391-A69F-1C26E535E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D7BF8E-D19C-9390-FB00-F88E639FB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C40217-BA2C-761F-B3A0-457003BBA60F}"/>
              </a:ext>
            </a:extLst>
          </p:cNvPr>
          <p:cNvSpPr txBox="1"/>
          <p:nvPr/>
        </p:nvSpPr>
        <p:spPr>
          <a:xfrm>
            <a:off x="7957595" y="517525"/>
            <a:ext cx="3825432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/>
              <a:t> </a:t>
            </a:r>
            <a:r>
              <a:rPr lang="en-US" dirty="0"/>
              <a:t>              </a:t>
            </a:r>
            <a:r>
              <a:rPr lang="en-DE" i="1" dirty="0"/>
              <a:t>UBA</a:t>
            </a:r>
          </a:p>
          <a:p>
            <a:r>
              <a:rPr lang="en-DE" dirty="0"/>
              <a:t>         groundwater stations</a:t>
            </a:r>
          </a:p>
          <a:p>
            <a:r>
              <a:rPr lang="en-DE" dirty="0"/>
              <a:t>         nitrate measurements</a:t>
            </a:r>
          </a:p>
          <a:p>
            <a:r>
              <a:rPr lang="en-US" sz="1200" dirty="0">
                <a:solidFill>
                  <a:srgbClr val="FFC00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</a:t>
            </a:r>
            <a:r>
              <a:rPr lang="en-DE" sz="14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download.py </a:t>
            </a:r>
            <a:r>
              <a:rPr lang="en-DE" dirty="0">
                <a:solidFill>
                  <a:srgbClr val="FFB001"/>
                </a:solidFill>
              </a:rPr>
              <a:t>│</a:t>
            </a:r>
            <a:r>
              <a:rPr lang="en-US" dirty="0">
                <a:solidFill>
                  <a:srgbClr val="FFB001"/>
                </a:solidFill>
              </a:rPr>
              <a:t>     </a:t>
            </a:r>
            <a:r>
              <a:rPr lang="en-DE" sz="14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preprocess.py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endParaRPr lang="en-DE" dirty="0">
              <a:solidFill>
                <a:schemeClr val="bg1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       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  <a:r>
              <a:rPr lang="en-US" sz="14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/raw/</a:t>
            </a:r>
            <a:r>
              <a:rPr lang="en-US" sz="1400" dirty="0">
                <a:solidFill>
                  <a:schemeClr val="bg1"/>
                </a:solidFill>
              </a:rPr>
              <a:t>            </a:t>
            </a:r>
            <a:r>
              <a:rPr lang="en-DE" dirty="0">
                <a:solidFill>
                  <a:srgbClr val="FFB001"/>
                </a:solidFill>
              </a:rPr>
              <a:t>▼</a:t>
            </a:r>
            <a:r>
              <a:rPr lang="en-US" dirty="0">
                <a:solidFill>
                  <a:srgbClr val="FFB001"/>
                </a:solidFill>
              </a:rPr>
              <a:t>      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  <a:r>
              <a:rPr lang="en-US" sz="14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/processed/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</a:t>
            </a:r>
            <a:r>
              <a:rPr lang="en-US" dirty="0"/>
              <a:t>baseline: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DE" u="sng" dirty="0"/>
              <a:t>station-yea</a:t>
            </a:r>
            <a:r>
              <a:rPr lang="en-DE" dirty="0"/>
              <a:t>r observations</a:t>
            </a:r>
          </a:p>
          <a:p>
            <a:r>
              <a:rPr lang="en-DE" dirty="0"/>
              <a:t>                  </a:t>
            </a:r>
            <a:r>
              <a:rPr lang="en-US" dirty="0"/>
              <a:t>              </a:t>
            </a:r>
            <a:r>
              <a:rPr lang="en-DE" dirty="0">
                <a:solidFill>
                  <a:schemeClr val="accent6">
                    <a:lumMod val="75000"/>
                  </a:schemeClr>
                </a:solidFill>
              </a:rPr>
              <a:t>│</a:t>
            </a:r>
          </a:p>
          <a:p>
            <a:r>
              <a:rPr lang="en-DE" dirty="0"/>
              <a:t>      </a:t>
            </a:r>
            <a:r>
              <a:rPr lang="en-DE" dirty="0">
                <a:solidFill>
                  <a:schemeClr val="accent6">
                    <a:lumMod val="75000"/>
                  </a:schemeClr>
                </a:solidFill>
              </a:rPr>
              <a:t>┌──────────────────────┐</a:t>
            </a:r>
          </a:p>
          <a:p>
            <a:r>
              <a:rPr lang="en-DE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DE" sz="2400" dirty="0">
                <a:solidFill>
                  <a:schemeClr val="accent6">
                    <a:lumMod val="75000"/>
                  </a:schemeClr>
                </a:solidFill>
              </a:rPr>
              <a:t>│</a:t>
            </a:r>
            <a:r>
              <a:rPr lang="en-DE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download.py</a:t>
            </a:r>
            <a:r>
              <a:rPr lang="en-DE" sz="2800" dirty="0">
                <a:solidFill>
                  <a:schemeClr val="accent6">
                    <a:lumMod val="75000"/>
                  </a:schemeClr>
                </a:solidFill>
              </a:rPr>
              <a:t>│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preprocess.py</a:t>
            </a:r>
            <a:r>
              <a:rPr lang="en-US" sz="12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DE" sz="2800" dirty="0">
                <a:solidFill>
                  <a:schemeClr val="accent6">
                    <a:lumMod val="75000"/>
                  </a:schemeClr>
                </a:solidFill>
              </a:rPr>
              <a:t>│</a:t>
            </a:r>
            <a:endParaRPr lang="en-DE" dirty="0">
              <a:solidFill>
                <a:schemeClr val="accent6">
                  <a:lumMod val="75000"/>
                </a:schemeClr>
              </a:solidFill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r>
              <a:rPr lang="en-DE" dirty="0">
                <a:solidFill>
                  <a:schemeClr val="accent6">
                    <a:lumMod val="75000"/>
                  </a:schemeClr>
                </a:solidFill>
              </a:rPr>
              <a:t>      │      </a:t>
            </a:r>
            <a:r>
              <a:rPr lang="en-US" dirty="0">
                <a:solidFill>
                  <a:schemeClr val="bg1"/>
                </a:solidFill>
              </a:rPr>
              <a:t>.</a:t>
            </a:r>
            <a:r>
              <a:rPr lang="en-US" sz="12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/raw/</a:t>
            </a:r>
            <a:r>
              <a:rPr lang="en-DE" sz="12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sz="8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</a:t>
            </a:r>
            <a:r>
              <a:rPr lang="en-DE" dirty="0">
                <a:solidFill>
                  <a:schemeClr val="accent6">
                    <a:lumMod val="75000"/>
                  </a:schemeClr>
                </a:solidFill>
              </a:rPr>
              <a:t>│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r>
              <a:rPr lang="en-US" sz="1100" dirty="0">
                <a:solidFill>
                  <a:schemeClr val="bg1"/>
                </a:solidFill>
              </a:rPr>
              <a:t>.</a:t>
            </a:r>
            <a:r>
              <a:rPr lang="en-US" sz="11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/processed/</a:t>
            </a:r>
            <a:r>
              <a:rPr lang="en-US" dirty="0">
                <a:solidFill>
                  <a:schemeClr val="bg1"/>
                </a:solidFill>
              </a:rPr>
              <a:t>     </a:t>
            </a:r>
            <a:r>
              <a:rPr lang="en-DE" sz="2000" dirty="0">
                <a:solidFill>
                  <a:schemeClr val="accent6">
                    <a:lumMod val="75000"/>
                  </a:schemeClr>
                </a:solidFill>
              </a:rPr>
              <a:t>│</a:t>
            </a:r>
            <a:endParaRPr lang="en-DE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DE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DE" dirty="0">
                <a:solidFill>
                  <a:schemeClr val="accent6">
                    <a:lumMod val="75000"/>
                  </a:schemeClr>
                </a:solidFill>
              </a:rPr>
              <a:t>▼    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         </a:t>
            </a:r>
            <a:r>
              <a:rPr lang="en-DE" dirty="0">
                <a:solidFill>
                  <a:schemeClr val="accent6">
                    <a:lumMod val="75000"/>
                  </a:schemeClr>
                </a:solidFill>
              </a:rPr>
              <a:t>▼       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           </a:t>
            </a:r>
            <a:r>
              <a:rPr lang="en-DE" dirty="0">
                <a:solidFill>
                  <a:schemeClr val="accent6">
                    <a:lumMod val="75000"/>
                  </a:schemeClr>
                </a:solidFill>
              </a:rPr>
              <a:t>▼</a:t>
            </a:r>
          </a:p>
          <a:p>
            <a:r>
              <a:rPr lang="en-DE" i="1" dirty="0"/>
              <a:t> Dynamic      </a:t>
            </a:r>
            <a:r>
              <a:rPr lang="en-US" i="1" dirty="0"/>
              <a:t>   </a:t>
            </a:r>
            <a:r>
              <a:rPr lang="en-DE" i="1" dirty="0"/>
              <a:t>CORINE      </a:t>
            </a:r>
            <a:r>
              <a:rPr lang="en-US" i="1" dirty="0"/>
              <a:t>  </a:t>
            </a:r>
            <a:r>
              <a:rPr lang="en-DE" i="1" dirty="0"/>
              <a:t>Regional-</a:t>
            </a:r>
          </a:p>
          <a:p>
            <a:r>
              <a:rPr lang="en-DE" i="1" dirty="0"/>
              <a:t>  </a:t>
            </a:r>
            <a:r>
              <a:rPr lang="en-US" i="1" dirty="0"/>
              <a:t> </a:t>
            </a:r>
            <a:r>
              <a:rPr lang="en-DE" i="1" dirty="0"/>
              <a:t>World      </a:t>
            </a:r>
            <a:r>
              <a:rPr lang="en-US" i="1" dirty="0"/>
              <a:t>     </a:t>
            </a:r>
            <a:r>
              <a:rPr lang="en-DE" i="1" dirty="0"/>
              <a:t>land cover   </a:t>
            </a:r>
            <a:r>
              <a:rPr lang="en-US" i="1" dirty="0"/>
              <a:t>    </a:t>
            </a:r>
            <a:r>
              <a:rPr lang="en-DE" i="1" dirty="0" err="1"/>
              <a:t>statistik</a:t>
            </a:r>
            <a:endParaRPr lang="en-DE" i="1" dirty="0"/>
          </a:p>
          <a:p>
            <a:r>
              <a:rPr lang="en-DE" dirty="0"/>
              <a:t>      </a:t>
            </a:r>
            <a:r>
              <a:rPr lang="en-DE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          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              </a:t>
            </a:r>
            <a:r>
              <a:rPr lang="en-DE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            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          </a:t>
            </a:r>
            <a:r>
              <a:rPr lang="en-DE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</a:t>
            </a:r>
          </a:p>
          <a:p>
            <a:r>
              <a:rPr lang="en-DE" dirty="0"/>
              <a:t>      </a:t>
            </a:r>
            <a:r>
              <a:rPr lang="en-DE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└──────────────────────┘</a:t>
            </a:r>
          </a:p>
          <a:p>
            <a:r>
              <a:rPr lang="en-DE" dirty="0">
                <a:solidFill>
                  <a:srgbClr val="0070C0"/>
                </a:solidFill>
              </a:rPr>
              <a:t>                  │   </a:t>
            </a:r>
            <a:endParaRPr lang="en-DE" dirty="0">
              <a:solidFill>
                <a:srgbClr val="0070C0"/>
              </a:solidFill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r>
              <a:rPr lang="en-DE" dirty="0">
                <a:solidFill>
                  <a:srgbClr val="0070C0"/>
                </a:solidFill>
              </a:rPr>
              <a:t>                 ▼</a:t>
            </a:r>
          </a:p>
          <a:p>
            <a:r>
              <a:rPr lang="en-US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 </a:t>
            </a:r>
            <a:r>
              <a:rPr lang="en-US" dirty="0">
                <a:ea typeface="Cascadia Code Light" panose="020B0609020000020004" pitchFamily="49" charset="0"/>
                <a:cs typeface="Cascadia Code Light" panose="020B0609020000020004" pitchFamily="49" charset="0"/>
              </a:rPr>
              <a:t>our panel data set</a:t>
            </a:r>
            <a:endParaRPr lang="en-US" sz="1600" dirty="0"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r>
              <a:rPr lang="en-DE" dirty="0"/>
              <a:t>                 </a:t>
            </a:r>
            <a:r>
              <a:rPr lang="en-DE" dirty="0">
                <a:solidFill>
                  <a:schemeClr val="bg2">
                    <a:lumMod val="90000"/>
                  </a:schemeClr>
                </a:solidFill>
              </a:rPr>
              <a:t> │</a:t>
            </a:r>
          </a:p>
          <a:p>
            <a:r>
              <a:rPr lang="en-DE" dirty="0">
                <a:solidFill>
                  <a:schemeClr val="bg2">
                    <a:lumMod val="90000"/>
                  </a:schemeClr>
                </a:solidFill>
              </a:rPr>
              <a:t>                 ▼</a:t>
            </a:r>
          </a:p>
          <a:p>
            <a:r>
              <a:rPr lang="en-DE" dirty="0"/>
              <a:t>        econometric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91E215-8F8B-CA52-BA46-DE96A5FBE880}"/>
              </a:ext>
            </a:extLst>
          </p:cNvPr>
          <p:cNvSpPr txBox="1"/>
          <p:nvPr/>
        </p:nvSpPr>
        <p:spPr>
          <a:xfrm>
            <a:off x="855562" y="2445719"/>
            <a:ext cx="67480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br>
              <a:rPr lang="en-US" sz="2400" b="1" dirty="0"/>
            </a:br>
            <a:r>
              <a:rPr lang="en-US" sz="2400" b="1" dirty="0"/>
              <a:t>How agricultural is the land around the station </a:t>
            </a:r>
          </a:p>
          <a:p>
            <a:pPr algn="ctr"/>
            <a:r>
              <a:rPr lang="en-US" sz="2400" b="1" dirty="0"/>
              <a:t>X</a:t>
            </a:r>
          </a:p>
          <a:p>
            <a:pPr algn="ctr"/>
            <a:r>
              <a:rPr lang="en-US" sz="2400" b="1" dirty="0"/>
              <a:t>How much organic farming exists in the district</a:t>
            </a:r>
            <a:endParaRPr lang="en-DE" sz="2400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08AD5DB-2B71-2980-EC0C-19AB4808DA65}"/>
              </a:ext>
            </a:extLst>
          </p:cNvPr>
          <p:cNvSpPr txBox="1">
            <a:spLocks/>
          </p:cNvSpPr>
          <p:nvPr/>
        </p:nvSpPr>
        <p:spPr>
          <a:xfrm>
            <a:off x="855562" y="517525"/>
            <a:ext cx="106506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Workflow - Data Pipeline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168043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BAB3F-0BAC-936E-255F-E2294C492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591694-5DB8-8C74-E826-0A7A47466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53D79D-3653-5E78-7705-4A2DD7FD94DE}"/>
              </a:ext>
            </a:extLst>
          </p:cNvPr>
          <p:cNvSpPr txBox="1"/>
          <p:nvPr/>
        </p:nvSpPr>
        <p:spPr>
          <a:xfrm>
            <a:off x="7957595" y="517525"/>
            <a:ext cx="3825432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/>
              <a:t> </a:t>
            </a:r>
            <a:r>
              <a:rPr lang="en-US" dirty="0"/>
              <a:t>              </a:t>
            </a:r>
            <a:r>
              <a:rPr lang="en-DE" i="1" dirty="0"/>
              <a:t>UBA</a:t>
            </a:r>
          </a:p>
          <a:p>
            <a:r>
              <a:rPr lang="en-DE" dirty="0"/>
              <a:t>         groundwater stations</a:t>
            </a:r>
          </a:p>
          <a:p>
            <a:r>
              <a:rPr lang="en-DE" dirty="0"/>
              <a:t>         nitrate measurements</a:t>
            </a:r>
          </a:p>
          <a:p>
            <a:r>
              <a:rPr lang="en-US" sz="1200" dirty="0">
                <a:solidFill>
                  <a:srgbClr val="FFC00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</a:t>
            </a:r>
            <a:r>
              <a:rPr lang="en-DE" sz="1400" dirty="0">
                <a:solidFill>
                  <a:srgbClr val="FFB00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download.py </a:t>
            </a:r>
            <a:r>
              <a:rPr lang="en-DE" dirty="0">
                <a:solidFill>
                  <a:srgbClr val="FFB001"/>
                </a:solidFill>
              </a:rPr>
              <a:t>│</a:t>
            </a:r>
            <a:r>
              <a:rPr lang="en-US" dirty="0">
                <a:solidFill>
                  <a:srgbClr val="FFB001"/>
                </a:solidFill>
              </a:rPr>
              <a:t>     </a:t>
            </a:r>
            <a:r>
              <a:rPr lang="en-DE" sz="1400" dirty="0">
                <a:solidFill>
                  <a:srgbClr val="FFB00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preprocess.py</a:t>
            </a:r>
            <a:r>
              <a:rPr lang="en-US" sz="1400" dirty="0">
                <a:solidFill>
                  <a:srgbClr val="FFB001"/>
                </a:solidFill>
              </a:rPr>
              <a:t> </a:t>
            </a:r>
            <a:endParaRPr lang="en-DE" dirty="0">
              <a:solidFill>
                <a:srgbClr val="FFB001"/>
              </a:solidFill>
            </a:endParaRPr>
          </a:p>
          <a:p>
            <a:r>
              <a:rPr lang="en-DE" dirty="0">
                <a:solidFill>
                  <a:srgbClr val="FFB001"/>
                </a:solidFill>
              </a:rPr>
              <a:t> </a:t>
            </a:r>
            <a:r>
              <a:rPr lang="en-US" dirty="0">
                <a:solidFill>
                  <a:srgbClr val="FFB001"/>
                </a:solidFill>
              </a:rPr>
              <a:t>       </a:t>
            </a:r>
            <a:r>
              <a:rPr lang="en-US" sz="1400" dirty="0">
                <a:solidFill>
                  <a:srgbClr val="FFB001"/>
                </a:solidFill>
              </a:rPr>
              <a:t>.</a:t>
            </a:r>
            <a:r>
              <a:rPr lang="en-US" sz="1400" dirty="0">
                <a:solidFill>
                  <a:srgbClr val="FFB00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/raw/</a:t>
            </a:r>
            <a:r>
              <a:rPr lang="en-US" sz="1400" dirty="0">
                <a:solidFill>
                  <a:srgbClr val="FFB001"/>
                </a:solidFill>
              </a:rPr>
              <a:t>            </a:t>
            </a:r>
            <a:r>
              <a:rPr lang="en-DE" dirty="0">
                <a:solidFill>
                  <a:srgbClr val="FFB001"/>
                </a:solidFill>
              </a:rPr>
              <a:t>▼</a:t>
            </a:r>
            <a:r>
              <a:rPr lang="en-US" dirty="0">
                <a:solidFill>
                  <a:srgbClr val="FFB001"/>
                </a:solidFill>
              </a:rPr>
              <a:t>      </a:t>
            </a:r>
            <a:r>
              <a:rPr lang="en-US" sz="1400" dirty="0">
                <a:solidFill>
                  <a:srgbClr val="FFB001"/>
                </a:solidFill>
              </a:rPr>
              <a:t>.</a:t>
            </a:r>
            <a:r>
              <a:rPr lang="en-US" sz="1400" dirty="0">
                <a:solidFill>
                  <a:srgbClr val="FFB00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/processed/</a:t>
            </a:r>
            <a:r>
              <a:rPr lang="en-US" sz="1400" dirty="0">
                <a:solidFill>
                  <a:srgbClr val="FFB001"/>
                </a:solidFill>
              </a:rPr>
              <a:t> 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</a:t>
            </a:r>
            <a:r>
              <a:rPr lang="en-US" dirty="0"/>
              <a:t>baseline: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DE" dirty="0"/>
              <a:t>station-year observations</a:t>
            </a:r>
          </a:p>
          <a:p>
            <a:r>
              <a:rPr lang="en-DE" dirty="0"/>
              <a:t>                  </a:t>
            </a:r>
            <a:r>
              <a:rPr lang="en-US" dirty="0"/>
              <a:t>              </a:t>
            </a:r>
            <a:r>
              <a:rPr lang="en-DE" dirty="0">
                <a:solidFill>
                  <a:schemeClr val="accent6">
                    <a:lumMod val="75000"/>
                  </a:schemeClr>
                </a:solidFill>
              </a:rPr>
              <a:t>│</a:t>
            </a:r>
          </a:p>
          <a:p>
            <a:r>
              <a:rPr lang="en-DE" dirty="0"/>
              <a:t>      </a:t>
            </a:r>
            <a:r>
              <a:rPr lang="en-DE" dirty="0">
                <a:solidFill>
                  <a:schemeClr val="accent6">
                    <a:lumMod val="75000"/>
                  </a:schemeClr>
                </a:solidFill>
              </a:rPr>
              <a:t>┌──────────────────────┐</a:t>
            </a:r>
          </a:p>
          <a:p>
            <a:r>
              <a:rPr lang="en-DE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DE" sz="2400" dirty="0">
                <a:solidFill>
                  <a:schemeClr val="accent6">
                    <a:lumMod val="75000"/>
                  </a:schemeClr>
                </a:solidFill>
              </a:rPr>
              <a:t>│</a:t>
            </a:r>
            <a:r>
              <a:rPr lang="en-DE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DE" sz="1200" dirty="0">
                <a:solidFill>
                  <a:schemeClr val="accent6">
                    <a:lumMod val="75000"/>
                  </a:schemeClr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download.py</a:t>
            </a:r>
            <a:r>
              <a:rPr lang="en-DE" sz="2800" dirty="0">
                <a:solidFill>
                  <a:schemeClr val="accent6">
                    <a:lumMod val="75000"/>
                  </a:schemeClr>
                </a:solidFill>
              </a:rPr>
              <a:t>│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DE" sz="1200" dirty="0">
                <a:solidFill>
                  <a:schemeClr val="accent6">
                    <a:lumMod val="75000"/>
                  </a:schemeClr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preprocess.py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DE" sz="2800" dirty="0">
                <a:solidFill>
                  <a:schemeClr val="accent6">
                    <a:lumMod val="75000"/>
                  </a:schemeClr>
                </a:solidFill>
              </a:rPr>
              <a:t>│</a:t>
            </a:r>
            <a:endParaRPr lang="en-DE" dirty="0">
              <a:solidFill>
                <a:schemeClr val="accent6">
                  <a:lumMod val="75000"/>
                </a:schemeClr>
              </a:solidFill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r>
              <a:rPr lang="en-DE" dirty="0">
                <a:solidFill>
                  <a:schemeClr val="accent6">
                    <a:lumMod val="75000"/>
                  </a:schemeClr>
                </a:solidFill>
              </a:rPr>
              <a:t>      │  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/raw/</a:t>
            </a:r>
            <a:r>
              <a:rPr lang="en-DE" sz="1200" dirty="0">
                <a:solidFill>
                  <a:schemeClr val="accent6">
                    <a:lumMod val="75000"/>
                  </a:schemeClr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sz="800" dirty="0">
                <a:solidFill>
                  <a:schemeClr val="accent6">
                    <a:lumMod val="75000"/>
                  </a:schemeClr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</a:t>
            </a:r>
            <a:r>
              <a:rPr lang="en-DE" dirty="0">
                <a:solidFill>
                  <a:schemeClr val="accent6">
                    <a:lumMod val="75000"/>
                  </a:schemeClr>
                </a:solidFill>
              </a:rPr>
              <a:t>│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/processed/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 </a:t>
            </a:r>
            <a:r>
              <a:rPr lang="en-DE" sz="2000" dirty="0">
                <a:solidFill>
                  <a:schemeClr val="accent6">
                    <a:lumMod val="75000"/>
                  </a:schemeClr>
                </a:solidFill>
              </a:rPr>
              <a:t>│</a:t>
            </a:r>
            <a:endParaRPr lang="en-DE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DE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DE" dirty="0">
                <a:solidFill>
                  <a:schemeClr val="accent6">
                    <a:lumMod val="75000"/>
                  </a:schemeClr>
                </a:solidFill>
              </a:rPr>
              <a:t>▼    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         </a:t>
            </a:r>
            <a:r>
              <a:rPr lang="en-DE" dirty="0">
                <a:solidFill>
                  <a:schemeClr val="accent6">
                    <a:lumMod val="75000"/>
                  </a:schemeClr>
                </a:solidFill>
              </a:rPr>
              <a:t>▼       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           </a:t>
            </a:r>
            <a:r>
              <a:rPr lang="en-DE" dirty="0">
                <a:solidFill>
                  <a:schemeClr val="accent6">
                    <a:lumMod val="75000"/>
                  </a:schemeClr>
                </a:solidFill>
              </a:rPr>
              <a:t>▼</a:t>
            </a:r>
          </a:p>
          <a:p>
            <a:r>
              <a:rPr lang="en-DE" i="1" dirty="0"/>
              <a:t> Dynamic      </a:t>
            </a:r>
            <a:r>
              <a:rPr lang="en-US" i="1" dirty="0"/>
              <a:t>   </a:t>
            </a:r>
            <a:r>
              <a:rPr lang="en-DE" i="1" dirty="0"/>
              <a:t>CORINE      </a:t>
            </a:r>
            <a:r>
              <a:rPr lang="en-US" i="1" dirty="0"/>
              <a:t>  </a:t>
            </a:r>
            <a:r>
              <a:rPr lang="en-DE" i="1" dirty="0"/>
              <a:t>Regional-</a:t>
            </a:r>
          </a:p>
          <a:p>
            <a:r>
              <a:rPr lang="en-DE" i="1" dirty="0"/>
              <a:t>  </a:t>
            </a:r>
            <a:r>
              <a:rPr lang="en-US" i="1" dirty="0"/>
              <a:t> </a:t>
            </a:r>
            <a:r>
              <a:rPr lang="en-DE" i="1" dirty="0"/>
              <a:t>World      </a:t>
            </a:r>
            <a:r>
              <a:rPr lang="en-US" i="1" dirty="0"/>
              <a:t>     </a:t>
            </a:r>
            <a:r>
              <a:rPr lang="en-DE" i="1" dirty="0"/>
              <a:t>land cover   </a:t>
            </a:r>
            <a:r>
              <a:rPr lang="en-US" i="1" dirty="0"/>
              <a:t>    </a:t>
            </a:r>
            <a:r>
              <a:rPr lang="en-DE" i="1" dirty="0" err="1"/>
              <a:t>statistik</a:t>
            </a:r>
            <a:endParaRPr lang="en-DE" i="1" dirty="0"/>
          </a:p>
          <a:p>
            <a:r>
              <a:rPr lang="en-DE" dirty="0"/>
              <a:t>      </a:t>
            </a:r>
            <a:r>
              <a:rPr lang="en-DE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          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              </a:t>
            </a:r>
            <a:r>
              <a:rPr lang="en-DE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            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          </a:t>
            </a:r>
            <a:r>
              <a:rPr lang="en-DE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</a:t>
            </a:r>
          </a:p>
          <a:p>
            <a:r>
              <a:rPr lang="en-DE" dirty="0"/>
              <a:t>      </a:t>
            </a:r>
            <a:r>
              <a:rPr lang="en-DE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└──────────────────────┘</a:t>
            </a:r>
          </a:p>
          <a:p>
            <a:r>
              <a:rPr lang="en-DE" dirty="0">
                <a:solidFill>
                  <a:srgbClr val="0070C0"/>
                </a:solidFill>
              </a:rPr>
              <a:t>                  │    </a:t>
            </a:r>
            <a:r>
              <a:rPr lang="en-DE" sz="1400" dirty="0">
                <a:solidFill>
                  <a:srgbClr val="0070C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create_panel_dataset.py</a:t>
            </a:r>
            <a:endParaRPr lang="en-DE" dirty="0">
              <a:solidFill>
                <a:srgbClr val="0070C0"/>
              </a:solidFill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r>
              <a:rPr lang="en-DE" dirty="0">
                <a:solidFill>
                  <a:srgbClr val="0070C0"/>
                </a:solidFill>
              </a:rPr>
              <a:t>                 ▼</a:t>
            </a:r>
          </a:p>
          <a:p>
            <a:r>
              <a:rPr lang="en-DE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</a:t>
            </a:r>
            <a:r>
              <a:rPr lang="en-US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DE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gw_nitrate_panel_ni.csv</a:t>
            </a:r>
          </a:p>
          <a:p>
            <a:r>
              <a:rPr lang="en-DE" dirty="0"/>
              <a:t>                 </a:t>
            </a:r>
            <a:r>
              <a:rPr lang="en-DE" dirty="0">
                <a:solidFill>
                  <a:schemeClr val="bg2">
                    <a:lumMod val="90000"/>
                  </a:schemeClr>
                </a:solidFill>
              </a:rPr>
              <a:t> │</a:t>
            </a:r>
          </a:p>
          <a:p>
            <a:r>
              <a:rPr lang="en-DE" dirty="0">
                <a:solidFill>
                  <a:schemeClr val="bg2">
                    <a:lumMod val="90000"/>
                  </a:schemeClr>
                </a:solidFill>
              </a:rPr>
              <a:t>                 ▼</a:t>
            </a:r>
          </a:p>
          <a:p>
            <a:r>
              <a:rPr lang="en-DE" dirty="0"/>
              <a:t>        econometric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C94A64-6619-4D07-1FCE-68281628001B}"/>
              </a:ext>
            </a:extLst>
          </p:cNvPr>
          <p:cNvSpPr txBox="1"/>
          <p:nvPr/>
        </p:nvSpPr>
        <p:spPr>
          <a:xfrm>
            <a:off x="855562" y="2445719"/>
            <a:ext cx="67480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br>
              <a:rPr lang="en-US" sz="2400" b="1" dirty="0"/>
            </a:br>
            <a:r>
              <a:rPr lang="en-US" sz="2400" b="1" dirty="0"/>
              <a:t>How agricultural is the land around the station </a:t>
            </a:r>
          </a:p>
          <a:p>
            <a:pPr algn="ctr"/>
            <a:r>
              <a:rPr lang="en-US" sz="2400" b="1" dirty="0"/>
              <a:t>X</a:t>
            </a:r>
          </a:p>
          <a:p>
            <a:pPr algn="ctr"/>
            <a:r>
              <a:rPr lang="en-US" sz="2400" b="1" dirty="0"/>
              <a:t>How much organic farming exists in the district</a:t>
            </a:r>
            <a:endParaRPr lang="en-DE" sz="2400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2536648-F61E-04AB-E7DF-06D909DABA5B}"/>
              </a:ext>
            </a:extLst>
          </p:cNvPr>
          <p:cNvSpPr txBox="1">
            <a:spLocks/>
          </p:cNvSpPr>
          <p:nvPr/>
        </p:nvSpPr>
        <p:spPr>
          <a:xfrm>
            <a:off x="855562" y="517525"/>
            <a:ext cx="106506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Workflow - Data Pipeline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64109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8702A-164F-042C-9044-2FD262250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C11265-FCAE-F95F-7F3B-7B8092377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729C32B-427F-E35E-9EE2-1E37F1858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255645"/>
              </p:ext>
            </p:extLst>
          </p:nvPr>
        </p:nvGraphicFramePr>
        <p:xfrm>
          <a:off x="838201" y="3452654"/>
          <a:ext cx="10412391" cy="1183007"/>
        </p:xfrm>
        <a:graphic>
          <a:graphicData uri="http://schemas.openxmlformats.org/drawingml/2006/table">
            <a:tbl>
              <a:tblPr/>
              <a:tblGrid>
                <a:gridCol w="1858700">
                  <a:extLst>
                    <a:ext uri="{9D8B030D-6E8A-4147-A177-3AD203B41FA5}">
                      <a16:colId xmlns:a16="http://schemas.microsoft.com/office/drawing/2014/main" val="3177200126"/>
                    </a:ext>
                  </a:extLst>
                </a:gridCol>
                <a:gridCol w="856527">
                  <a:extLst>
                    <a:ext uri="{9D8B030D-6E8A-4147-A177-3AD203B41FA5}">
                      <a16:colId xmlns:a16="http://schemas.microsoft.com/office/drawing/2014/main" val="2219570103"/>
                    </a:ext>
                  </a:extLst>
                </a:gridCol>
                <a:gridCol w="1261640">
                  <a:extLst>
                    <a:ext uri="{9D8B030D-6E8A-4147-A177-3AD203B41FA5}">
                      <a16:colId xmlns:a16="http://schemas.microsoft.com/office/drawing/2014/main" val="2096947159"/>
                    </a:ext>
                  </a:extLst>
                </a:gridCol>
                <a:gridCol w="1531266">
                  <a:extLst>
                    <a:ext uri="{9D8B030D-6E8A-4147-A177-3AD203B41FA5}">
                      <a16:colId xmlns:a16="http://schemas.microsoft.com/office/drawing/2014/main" val="4114496521"/>
                    </a:ext>
                  </a:extLst>
                </a:gridCol>
                <a:gridCol w="1902170">
                  <a:extLst>
                    <a:ext uri="{9D8B030D-6E8A-4147-A177-3AD203B41FA5}">
                      <a16:colId xmlns:a16="http://schemas.microsoft.com/office/drawing/2014/main" val="527892462"/>
                    </a:ext>
                  </a:extLst>
                </a:gridCol>
                <a:gridCol w="2198316">
                  <a:extLst>
                    <a:ext uri="{9D8B030D-6E8A-4147-A177-3AD203B41FA5}">
                      <a16:colId xmlns:a16="http://schemas.microsoft.com/office/drawing/2014/main" val="3663151306"/>
                    </a:ext>
                  </a:extLst>
                </a:gridCol>
                <a:gridCol w="803772">
                  <a:extLst>
                    <a:ext uri="{9D8B030D-6E8A-4147-A177-3AD203B41FA5}">
                      <a16:colId xmlns:a16="http://schemas.microsoft.com/office/drawing/2014/main" val="3756000448"/>
                    </a:ext>
                  </a:extLst>
                </a:gridCol>
              </a:tblGrid>
              <a:tr h="451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s</a:t>
                      </a:r>
                      <a:r>
                        <a:rPr lang="en-DE" sz="1800" dirty="0" err="1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tation</a:t>
                      </a: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_id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nitrate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dirty="0" err="1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crop_share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dirty="0" err="1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forest_share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dirty="0" err="1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organic_area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9330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1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2012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0.45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0.20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340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689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2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2013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0.43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0.19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350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0030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FC8D510F-5041-AB7D-DBDA-2209586D5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Panel Data Set</a:t>
            </a:r>
            <a:endParaRPr lang="en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6CB79B-B901-85E4-2852-25CB95A0DB56}"/>
              </a:ext>
            </a:extLst>
          </p:cNvPr>
          <p:cNvSpPr txBox="1"/>
          <p:nvPr/>
        </p:nvSpPr>
        <p:spPr>
          <a:xfrm>
            <a:off x="3510023" y="2517217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24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sz="24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~ </a:t>
            </a:r>
            <a:r>
              <a:rPr lang="en-DE" sz="24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gw_nitrate_panel_ni.csv</a:t>
            </a:r>
            <a:endParaRPr lang="en-DE" sz="2800" dirty="0"/>
          </a:p>
        </p:txBody>
      </p:sp>
    </p:spTree>
    <p:extLst>
      <p:ext uri="{BB962C8B-B14F-4D97-AF65-F5344CB8AC3E}">
        <p14:creationId xmlns:p14="http://schemas.microsoft.com/office/powerpoint/2010/main" val="762407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7389DD-8A92-AA2D-4F73-0D0C76F2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97CB42-9F42-9DF1-36A4-4A26FAC737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532248"/>
              </p:ext>
            </p:extLst>
          </p:nvPr>
        </p:nvGraphicFramePr>
        <p:xfrm>
          <a:off x="514108" y="3322047"/>
          <a:ext cx="8896110" cy="2590800"/>
        </p:xfrm>
        <a:graphic>
          <a:graphicData uri="http://schemas.openxmlformats.org/drawingml/2006/table">
            <a:tbl>
              <a:tblPr/>
              <a:tblGrid>
                <a:gridCol w="1354764">
                  <a:extLst>
                    <a:ext uri="{9D8B030D-6E8A-4147-A177-3AD203B41FA5}">
                      <a16:colId xmlns:a16="http://schemas.microsoft.com/office/drawing/2014/main" val="3177200126"/>
                    </a:ext>
                  </a:extLst>
                </a:gridCol>
                <a:gridCol w="1372278">
                  <a:extLst>
                    <a:ext uri="{9D8B030D-6E8A-4147-A177-3AD203B41FA5}">
                      <a16:colId xmlns:a16="http://schemas.microsoft.com/office/drawing/2014/main" val="2219570103"/>
                    </a:ext>
                  </a:extLst>
                </a:gridCol>
                <a:gridCol w="1335189">
                  <a:extLst>
                    <a:ext uri="{9D8B030D-6E8A-4147-A177-3AD203B41FA5}">
                      <a16:colId xmlns:a16="http://schemas.microsoft.com/office/drawing/2014/main" val="2096947159"/>
                    </a:ext>
                  </a:extLst>
                </a:gridCol>
                <a:gridCol w="1359915">
                  <a:extLst>
                    <a:ext uri="{9D8B030D-6E8A-4147-A177-3AD203B41FA5}">
                      <a16:colId xmlns:a16="http://schemas.microsoft.com/office/drawing/2014/main" val="4114496521"/>
                    </a:ext>
                  </a:extLst>
                </a:gridCol>
                <a:gridCol w="1458818">
                  <a:extLst>
                    <a:ext uri="{9D8B030D-6E8A-4147-A177-3AD203B41FA5}">
                      <a16:colId xmlns:a16="http://schemas.microsoft.com/office/drawing/2014/main" val="527892462"/>
                    </a:ext>
                  </a:extLst>
                </a:gridCol>
                <a:gridCol w="1421728">
                  <a:extLst>
                    <a:ext uri="{9D8B030D-6E8A-4147-A177-3AD203B41FA5}">
                      <a16:colId xmlns:a16="http://schemas.microsoft.com/office/drawing/2014/main" val="3663151306"/>
                    </a:ext>
                  </a:extLst>
                </a:gridCol>
                <a:gridCol w="593418">
                  <a:extLst>
                    <a:ext uri="{9D8B030D-6E8A-4147-A177-3AD203B41FA5}">
                      <a16:colId xmlns:a16="http://schemas.microsoft.com/office/drawing/2014/main" val="3756000448"/>
                    </a:ext>
                  </a:extLst>
                </a:gridCol>
              </a:tblGrid>
              <a:tr h="288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MODULE_A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MODULE_B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MODULE_C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MODULE_D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MODULE_E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MODULE_F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933038"/>
                  </a:ext>
                </a:extLst>
              </a:tr>
              <a:tr h="12629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2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</a:br>
                      <a:r>
                        <a:rPr lang="fi-FI" sz="44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⊞</a:t>
                      </a:r>
                    </a:p>
                    <a:p>
                      <a:pPr>
                        <a:buNone/>
                      </a:pPr>
                      <a:endParaRPr lang="en-US" sz="44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i-FI" sz="20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44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𝄜</a:t>
                      </a:r>
                      <a:endParaRPr lang="fi-FI" sz="44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i-FI" sz="40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68944"/>
                  </a:ext>
                </a:extLst>
              </a:tr>
              <a:tr h="28866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0030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56251B3F-E9D3-6602-E0CF-F69059FD9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Panel Data Set</a:t>
            </a:r>
            <a:endParaRPr lang="en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E2A893-97BB-D932-FE15-5E0225491D99}"/>
              </a:ext>
            </a:extLst>
          </p:cNvPr>
          <p:cNvSpPr txBox="1"/>
          <p:nvPr/>
        </p:nvSpPr>
        <p:spPr>
          <a:xfrm>
            <a:off x="3510023" y="2517217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24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gw_nitrate_panel_ni.csv</a:t>
            </a:r>
            <a:endParaRPr lang="en-DE" sz="2800" dirty="0"/>
          </a:p>
        </p:txBody>
      </p:sp>
    </p:spTree>
    <p:extLst>
      <p:ext uri="{BB962C8B-B14F-4D97-AF65-F5344CB8AC3E}">
        <p14:creationId xmlns:p14="http://schemas.microsoft.com/office/powerpoint/2010/main" val="1526362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71D23-5A48-B37D-6976-9828A8593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1E06A6-0FBE-1AFA-24C9-533CAD17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B8D085-0FBE-4024-9FD2-26D0299F8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79422"/>
              </p:ext>
            </p:extLst>
          </p:nvPr>
        </p:nvGraphicFramePr>
        <p:xfrm>
          <a:off x="1088020" y="3399789"/>
          <a:ext cx="9201874" cy="1901415"/>
        </p:xfrm>
        <a:graphic>
          <a:graphicData uri="http://schemas.openxmlformats.org/drawingml/2006/table">
            <a:tbl>
              <a:tblPr/>
              <a:tblGrid>
                <a:gridCol w="1592432">
                  <a:extLst>
                    <a:ext uri="{9D8B030D-6E8A-4147-A177-3AD203B41FA5}">
                      <a16:colId xmlns:a16="http://schemas.microsoft.com/office/drawing/2014/main" val="3177200126"/>
                    </a:ext>
                  </a:extLst>
                </a:gridCol>
                <a:gridCol w="844225">
                  <a:extLst>
                    <a:ext uri="{9D8B030D-6E8A-4147-A177-3AD203B41FA5}">
                      <a16:colId xmlns:a16="http://schemas.microsoft.com/office/drawing/2014/main" val="2219570103"/>
                    </a:ext>
                  </a:extLst>
                </a:gridCol>
                <a:gridCol w="2224650">
                  <a:extLst>
                    <a:ext uri="{9D8B030D-6E8A-4147-A177-3AD203B41FA5}">
                      <a16:colId xmlns:a16="http://schemas.microsoft.com/office/drawing/2014/main" val="2096947159"/>
                    </a:ext>
                  </a:extLst>
                </a:gridCol>
                <a:gridCol w="2064930">
                  <a:extLst>
                    <a:ext uri="{9D8B030D-6E8A-4147-A177-3AD203B41FA5}">
                      <a16:colId xmlns:a16="http://schemas.microsoft.com/office/drawing/2014/main" val="4114496521"/>
                    </a:ext>
                  </a:extLst>
                </a:gridCol>
                <a:gridCol w="228170">
                  <a:extLst>
                    <a:ext uri="{9D8B030D-6E8A-4147-A177-3AD203B41FA5}">
                      <a16:colId xmlns:a16="http://schemas.microsoft.com/office/drawing/2014/main" val="527892462"/>
                    </a:ext>
                  </a:extLst>
                </a:gridCol>
                <a:gridCol w="1426057">
                  <a:extLst>
                    <a:ext uri="{9D8B030D-6E8A-4147-A177-3AD203B41FA5}">
                      <a16:colId xmlns:a16="http://schemas.microsoft.com/office/drawing/2014/main" val="3663151306"/>
                    </a:ext>
                  </a:extLst>
                </a:gridCol>
                <a:gridCol w="821410">
                  <a:extLst>
                    <a:ext uri="{9D8B030D-6E8A-4147-A177-3AD203B41FA5}">
                      <a16:colId xmlns:a16="http://schemas.microsoft.com/office/drawing/2014/main" val="3756000448"/>
                    </a:ext>
                  </a:extLst>
                </a:gridCol>
              </a:tblGrid>
              <a:tr h="460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dirty="0" err="1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station_id</a:t>
                      </a: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n_measurements</a:t>
                      </a: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dirty="0" err="1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nitrate_mg_l</a:t>
                      </a: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933038"/>
                  </a:ext>
                </a:extLst>
              </a:tr>
              <a:tr h="1072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1</a:t>
                      </a:r>
                      <a:br>
                        <a:rPr lang="en-US" sz="1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</a:br>
                      <a:r>
                        <a:rPr lang="en-US" sz="1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i-FI" sz="1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2012</a:t>
                      </a:r>
                    </a:p>
                    <a:p>
                      <a:pPr>
                        <a:buNone/>
                      </a:pPr>
                      <a:r>
                        <a:rPr lang="fi-FI" sz="1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2013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DE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600" kern="1200" dirty="0">
                          <a:solidFill>
                            <a:schemeClr val="tx1"/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48.7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 </a:t>
                      </a:r>
                      <a:r>
                        <a:rPr lang="en-DE" sz="1600" kern="1200" dirty="0">
                          <a:solidFill>
                            <a:schemeClr val="tx1"/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mg/L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600" kern="1200" dirty="0">
                          <a:solidFill>
                            <a:schemeClr val="tx1"/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62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   </a:t>
                      </a:r>
                      <a:r>
                        <a:rPr lang="en-DE" sz="1600" kern="1200" dirty="0">
                          <a:solidFill>
                            <a:schemeClr val="tx1"/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mg/L</a:t>
                      </a:r>
                    </a:p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68944"/>
                  </a:ext>
                </a:extLst>
              </a:tr>
              <a:tr h="367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2</a:t>
                      </a: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2012</a:t>
                      </a: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...</a:t>
                      </a: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0030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520B523F-07C7-C4F5-9B79-A2D8F6ABE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Panel Data Set</a:t>
            </a:r>
            <a:endParaRPr lang="en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12FF31-2702-D452-B089-0A84515CDDCE}"/>
              </a:ext>
            </a:extLst>
          </p:cNvPr>
          <p:cNvSpPr txBox="1"/>
          <p:nvPr/>
        </p:nvSpPr>
        <p:spPr>
          <a:xfrm>
            <a:off x="3903563" y="2410551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MODULE_A</a:t>
            </a:r>
            <a:endParaRPr lang="en-DE" sz="2800" dirty="0"/>
          </a:p>
        </p:txBody>
      </p:sp>
    </p:spTree>
    <p:extLst>
      <p:ext uri="{BB962C8B-B14F-4D97-AF65-F5344CB8AC3E}">
        <p14:creationId xmlns:p14="http://schemas.microsoft.com/office/powerpoint/2010/main" val="3191483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2156C-5D85-6471-6B6A-545222539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00252-BCF6-F501-6A40-635BFA14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E4A6E6A-0FEE-5A59-65CB-FD1636E6FD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808262"/>
              </p:ext>
            </p:extLst>
          </p:nvPr>
        </p:nvGraphicFramePr>
        <p:xfrm>
          <a:off x="435980" y="3140138"/>
          <a:ext cx="11416497" cy="1183007"/>
        </p:xfrm>
        <a:graphic>
          <a:graphicData uri="http://schemas.openxmlformats.org/drawingml/2006/table">
            <a:tbl>
              <a:tblPr/>
              <a:tblGrid>
                <a:gridCol w="1630372">
                  <a:extLst>
                    <a:ext uri="{9D8B030D-6E8A-4147-A177-3AD203B41FA5}">
                      <a16:colId xmlns:a16="http://schemas.microsoft.com/office/drawing/2014/main" val="3177200126"/>
                    </a:ext>
                  </a:extLst>
                </a:gridCol>
                <a:gridCol w="1810084">
                  <a:extLst>
                    <a:ext uri="{9D8B030D-6E8A-4147-A177-3AD203B41FA5}">
                      <a16:colId xmlns:a16="http://schemas.microsoft.com/office/drawing/2014/main" val="2219570103"/>
                    </a:ext>
                  </a:extLst>
                </a:gridCol>
                <a:gridCol w="1998003">
                  <a:extLst>
                    <a:ext uri="{9D8B030D-6E8A-4147-A177-3AD203B41FA5}">
                      <a16:colId xmlns:a16="http://schemas.microsoft.com/office/drawing/2014/main" val="2096947159"/>
                    </a:ext>
                  </a:extLst>
                </a:gridCol>
                <a:gridCol w="2274138">
                  <a:extLst>
                    <a:ext uri="{9D8B030D-6E8A-4147-A177-3AD203B41FA5}">
                      <a16:colId xmlns:a16="http://schemas.microsoft.com/office/drawing/2014/main" val="4114496521"/>
                    </a:ext>
                  </a:extLst>
                </a:gridCol>
                <a:gridCol w="2384072">
                  <a:extLst>
                    <a:ext uri="{9D8B030D-6E8A-4147-A177-3AD203B41FA5}">
                      <a16:colId xmlns:a16="http://schemas.microsoft.com/office/drawing/2014/main" val="527892462"/>
                    </a:ext>
                  </a:extLst>
                </a:gridCol>
                <a:gridCol w="605568">
                  <a:extLst>
                    <a:ext uri="{9D8B030D-6E8A-4147-A177-3AD203B41FA5}">
                      <a16:colId xmlns:a16="http://schemas.microsoft.com/office/drawing/2014/main" val="3663151306"/>
                    </a:ext>
                  </a:extLst>
                </a:gridCol>
                <a:gridCol w="714260">
                  <a:extLst>
                    <a:ext uri="{9D8B030D-6E8A-4147-A177-3AD203B41FA5}">
                      <a16:colId xmlns:a16="http://schemas.microsoft.com/office/drawing/2014/main" val="3756000448"/>
                    </a:ext>
                  </a:extLst>
                </a:gridCol>
              </a:tblGrid>
              <a:tr h="451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st_id</a:t>
                      </a:r>
                      <a:r>
                        <a:rPr lang="en-US" sz="18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 year</a:t>
                      </a:r>
                      <a:endParaRPr lang="en-DE" sz="1800" dirty="0">
                        <a:solidFill>
                          <a:schemeClr val="bg2">
                            <a:lumMod val="75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station_name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water_body_id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water_body_name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sampling_depth_m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lon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lat</a:t>
                      </a: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9330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689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8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0030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7149E3D7-F3C1-37D3-4B8A-0C2DB2EC3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Panel Data Set</a:t>
            </a:r>
            <a:endParaRPr lang="en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907340-C56F-9C1B-D0D5-A7510F55ED52}"/>
              </a:ext>
            </a:extLst>
          </p:cNvPr>
          <p:cNvSpPr txBox="1"/>
          <p:nvPr/>
        </p:nvSpPr>
        <p:spPr>
          <a:xfrm>
            <a:off x="3915137" y="2272697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MODULE_B</a:t>
            </a:r>
            <a:endParaRPr lang="en-DE" sz="2800" dirty="0"/>
          </a:p>
        </p:txBody>
      </p:sp>
    </p:spTree>
    <p:extLst>
      <p:ext uri="{BB962C8B-B14F-4D97-AF65-F5344CB8AC3E}">
        <p14:creationId xmlns:p14="http://schemas.microsoft.com/office/powerpoint/2010/main" val="3815766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FC3C6-D57A-3917-7252-052D29E90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D1AD10-197D-81A3-79E3-C2395F2E3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ABBA4A2-DE77-E169-EAFD-3F05F1F01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239284"/>
              </p:ext>
            </p:extLst>
          </p:nvPr>
        </p:nvGraphicFramePr>
        <p:xfrm>
          <a:off x="173619" y="3140138"/>
          <a:ext cx="11806178" cy="1245584"/>
        </p:xfrm>
        <a:graphic>
          <a:graphicData uri="http://schemas.openxmlformats.org/drawingml/2006/table">
            <a:tbl>
              <a:tblPr/>
              <a:tblGrid>
                <a:gridCol w="1655181">
                  <a:extLst>
                    <a:ext uri="{9D8B030D-6E8A-4147-A177-3AD203B41FA5}">
                      <a16:colId xmlns:a16="http://schemas.microsoft.com/office/drawing/2014/main" val="3177200126"/>
                    </a:ext>
                  </a:extLst>
                </a:gridCol>
                <a:gridCol w="2488557">
                  <a:extLst>
                    <a:ext uri="{9D8B030D-6E8A-4147-A177-3AD203B41FA5}">
                      <a16:colId xmlns:a16="http://schemas.microsoft.com/office/drawing/2014/main" val="2096947159"/>
                    </a:ext>
                  </a:extLst>
                </a:gridCol>
                <a:gridCol w="2511706">
                  <a:extLst>
                    <a:ext uri="{9D8B030D-6E8A-4147-A177-3AD203B41FA5}">
                      <a16:colId xmlns:a16="http://schemas.microsoft.com/office/drawing/2014/main" val="4114496521"/>
                    </a:ext>
                  </a:extLst>
                </a:gridCol>
                <a:gridCol w="2569580">
                  <a:extLst>
                    <a:ext uri="{9D8B030D-6E8A-4147-A177-3AD203B41FA5}">
                      <a16:colId xmlns:a16="http://schemas.microsoft.com/office/drawing/2014/main" val="527892462"/>
                    </a:ext>
                  </a:extLst>
                </a:gridCol>
                <a:gridCol w="2581154">
                  <a:extLst>
                    <a:ext uri="{9D8B030D-6E8A-4147-A177-3AD203B41FA5}">
                      <a16:colId xmlns:a16="http://schemas.microsoft.com/office/drawing/2014/main" val="3756000448"/>
                    </a:ext>
                  </a:extLst>
                </a:gridCol>
              </a:tblGrid>
              <a:tr h="514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st_id</a:t>
                      </a:r>
                      <a:r>
                        <a:rPr lang="en-US" sz="16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  year</a:t>
                      </a:r>
                      <a:endParaRPr lang="en-DE" sz="1600" dirty="0">
                        <a:solidFill>
                          <a:schemeClr val="bg2">
                            <a:lumMod val="75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dw_crops_share_500m</a:t>
                      </a: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dw_trees_share_500m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dw_crops_share_1000m</a:t>
                      </a: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dirty="0" err="1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dw_trees_share</a:t>
                      </a:r>
                      <a:r>
                        <a:rPr lang="en-DE" sz="1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_</a:t>
                      </a:r>
                      <a:r>
                        <a:rPr lang="en-US" sz="1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10</a:t>
                      </a:r>
                      <a:r>
                        <a:rPr lang="en-DE" sz="1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00m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9330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689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0030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BAFEF2C0-A548-6D78-7F57-17993003E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Panel Data Set</a:t>
            </a:r>
            <a:endParaRPr lang="en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7BEA7-8469-2C1E-CBED-46054ABC8020}"/>
              </a:ext>
            </a:extLst>
          </p:cNvPr>
          <p:cNvSpPr txBox="1"/>
          <p:nvPr/>
        </p:nvSpPr>
        <p:spPr>
          <a:xfrm>
            <a:off x="3915137" y="2272697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MODULE_C</a:t>
            </a:r>
            <a:endParaRPr lang="en-DE" sz="2800" dirty="0"/>
          </a:p>
        </p:txBody>
      </p:sp>
    </p:spTree>
    <p:extLst>
      <p:ext uri="{BB962C8B-B14F-4D97-AF65-F5344CB8AC3E}">
        <p14:creationId xmlns:p14="http://schemas.microsoft.com/office/powerpoint/2010/main" val="254663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805B1-2F1F-4494-1867-F02F18680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45A4F-7C47-9A5D-F0EF-235EDDD6B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A9D07DB-AB41-1517-AF31-C4F927EA9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Panel Data Set</a:t>
            </a:r>
            <a:endParaRPr lang="en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ABFE7-7B30-2E9B-6F88-CB999AFA6107}"/>
              </a:ext>
            </a:extLst>
          </p:cNvPr>
          <p:cNvSpPr txBox="1"/>
          <p:nvPr/>
        </p:nvSpPr>
        <p:spPr>
          <a:xfrm>
            <a:off x="3915137" y="2272697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MODULE_D (Corine interpolation)</a:t>
            </a:r>
            <a:endParaRPr lang="en-DE" sz="28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698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084E9-51E8-C6AF-6FCB-F72D3AB3D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0A950C-5A80-D453-BD2E-A8BA73872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D5D7854-9901-8C99-6217-2B6638735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801223"/>
              </p:ext>
            </p:extLst>
          </p:nvPr>
        </p:nvGraphicFramePr>
        <p:xfrm>
          <a:off x="682905" y="3140138"/>
          <a:ext cx="11296891" cy="1353154"/>
        </p:xfrm>
        <a:graphic>
          <a:graphicData uri="http://schemas.openxmlformats.org/drawingml/2006/table">
            <a:tbl>
              <a:tblPr/>
              <a:tblGrid>
                <a:gridCol w="1583781">
                  <a:extLst>
                    <a:ext uri="{9D8B030D-6E8A-4147-A177-3AD203B41FA5}">
                      <a16:colId xmlns:a16="http://schemas.microsoft.com/office/drawing/2014/main" val="3177200126"/>
                    </a:ext>
                  </a:extLst>
                </a:gridCol>
                <a:gridCol w="2381207">
                  <a:extLst>
                    <a:ext uri="{9D8B030D-6E8A-4147-A177-3AD203B41FA5}">
                      <a16:colId xmlns:a16="http://schemas.microsoft.com/office/drawing/2014/main" val="2096947159"/>
                    </a:ext>
                  </a:extLst>
                </a:gridCol>
                <a:gridCol w="2403358">
                  <a:extLst>
                    <a:ext uri="{9D8B030D-6E8A-4147-A177-3AD203B41FA5}">
                      <a16:colId xmlns:a16="http://schemas.microsoft.com/office/drawing/2014/main" val="4114496521"/>
                    </a:ext>
                  </a:extLst>
                </a:gridCol>
                <a:gridCol w="2458735">
                  <a:extLst>
                    <a:ext uri="{9D8B030D-6E8A-4147-A177-3AD203B41FA5}">
                      <a16:colId xmlns:a16="http://schemas.microsoft.com/office/drawing/2014/main" val="527892462"/>
                    </a:ext>
                  </a:extLst>
                </a:gridCol>
                <a:gridCol w="2469810">
                  <a:extLst>
                    <a:ext uri="{9D8B030D-6E8A-4147-A177-3AD203B41FA5}">
                      <a16:colId xmlns:a16="http://schemas.microsoft.com/office/drawing/2014/main" val="3756000448"/>
                    </a:ext>
                  </a:extLst>
                </a:gridCol>
              </a:tblGrid>
              <a:tr h="621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st_id</a:t>
                      </a:r>
                      <a:r>
                        <a:rPr lang="en-US" sz="16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  year</a:t>
                      </a:r>
                      <a:endParaRPr lang="en-DE" sz="1600" dirty="0">
                        <a:solidFill>
                          <a:schemeClr val="bg2">
                            <a:lumMod val="75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   </a:t>
                      </a:r>
                      <a:r>
                        <a:rPr lang="en-US" sz="1600" dirty="0" err="1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district_code</a:t>
                      </a: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district_name</a:t>
                      </a: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9330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689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0030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51C15E98-9B25-5488-418C-114B5C37C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Panel Data Set</a:t>
            </a:r>
            <a:endParaRPr lang="en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EC41AB-47DF-FB00-7753-288665975B42}"/>
              </a:ext>
            </a:extLst>
          </p:cNvPr>
          <p:cNvSpPr txBox="1"/>
          <p:nvPr/>
        </p:nvSpPr>
        <p:spPr>
          <a:xfrm>
            <a:off x="3915137" y="2272697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MODULE_E</a:t>
            </a:r>
            <a:endParaRPr lang="en-DE" sz="2800" dirty="0"/>
          </a:p>
        </p:txBody>
      </p:sp>
    </p:spTree>
    <p:extLst>
      <p:ext uri="{BB962C8B-B14F-4D97-AF65-F5344CB8AC3E}">
        <p14:creationId xmlns:p14="http://schemas.microsoft.com/office/powerpoint/2010/main" val="30018083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B95BD-A1DB-BD41-643E-6312F5891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C3075A-C30A-DB8A-B484-FD3D96734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FC715A1-C5B7-A091-056C-E8FC72324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090922"/>
              </p:ext>
            </p:extLst>
          </p:nvPr>
        </p:nvGraphicFramePr>
        <p:xfrm>
          <a:off x="682905" y="3140138"/>
          <a:ext cx="11296891" cy="1387878"/>
        </p:xfrm>
        <a:graphic>
          <a:graphicData uri="http://schemas.openxmlformats.org/drawingml/2006/table">
            <a:tbl>
              <a:tblPr/>
              <a:tblGrid>
                <a:gridCol w="1400538">
                  <a:extLst>
                    <a:ext uri="{9D8B030D-6E8A-4147-A177-3AD203B41FA5}">
                      <a16:colId xmlns:a16="http://schemas.microsoft.com/office/drawing/2014/main" val="3177200126"/>
                    </a:ext>
                  </a:extLst>
                </a:gridCol>
                <a:gridCol w="3715473">
                  <a:extLst>
                    <a:ext uri="{9D8B030D-6E8A-4147-A177-3AD203B41FA5}">
                      <a16:colId xmlns:a16="http://schemas.microsoft.com/office/drawing/2014/main" val="2096947159"/>
                    </a:ext>
                  </a:extLst>
                </a:gridCol>
                <a:gridCol w="2650603">
                  <a:extLst>
                    <a:ext uri="{9D8B030D-6E8A-4147-A177-3AD203B41FA5}">
                      <a16:colId xmlns:a16="http://schemas.microsoft.com/office/drawing/2014/main" val="4114496521"/>
                    </a:ext>
                  </a:extLst>
                </a:gridCol>
                <a:gridCol w="2731625">
                  <a:extLst>
                    <a:ext uri="{9D8B030D-6E8A-4147-A177-3AD203B41FA5}">
                      <a16:colId xmlns:a16="http://schemas.microsoft.com/office/drawing/2014/main" val="527892462"/>
                    </a:ext>
                  </a:extLst>
                </a:gridCol>
                <a:gridCol w="798652">
                  <a:extLst>
                    <a:ext uri="{9D8B030D-6E8A-4147-A177-3AD203B41FA5}">
                      <a16:colId xmlns:a16="http://schemas.microsoft.com/office/drawing/2014/main" val="3756000448"/>
                    </a:ext>
                  </a:extLst>
                </a:gridCol>
              </a:tblGrid>
              <a:tr h="656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st_id</a:t>
                      </a:r>
                      <a:r>
                        <a:rPr lang="en-US" sz="16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 year</a:t>
                      </a:r>
                      <a:endParaRPr lang="en-DE" sz="1600" dirty="0">
                        <a:solidFill>
                          <a:schemeClr val="bg2">
                            <a:lumMod val="75000"/>
                          </a:schemeClr>
                        </a:solidFill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 </a:t>
                      </a:r>
                      <a:r>
                        <a:rPr lang="en-DE" sz="1600" dirty="0" err="1">
                          <a:solidFill>
                            <a:schemeClr val="tx1"/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reg_agricultural_farms_count</a:t>
                      </a:r>
                      <a:r>
                        <a:rPr lang="en-DE" sz="1600" dirty="0">
                          <a:solidFill>
                            <a:schemeClr val="tx1"/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 </a:t>
                      </a:r>
                      <a:r>
                        <a:rPr lang="en-DE" sz="1600" dirty="0" err="1">
                          <a:solidFill>
                            <a:schemeClr val="tx1"/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reg_organic_area_ha</a:t>
                      </a:r>
                      <a:r>
                        <a:rPr lang="en-DE" sz="1600" dirty="0">
                          <a:solidFill>
                            <a:schemeClr val="tx1"/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 </a:t>
                      </a:r>
                      <a:r>
                        <a:rPr lang="en-DE" sz="1600" dirty="0" err="1">
                          <a:solidFill>
                            <a:schemeClr val="tx1"/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reg_livestock_units</a:t>
                      </a:r>
                      <a:r>
                        <a:rPr lang="en-DE" sz="1600" dirty="0">
                          <a:solidFill>
                            <a:schemeClr val="tx1"/>
                          </a:solidFill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9330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689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600" dirty="0">
                        <a:latin typeface="Cascadia Code Light" panose="020B0609020000020004" pitchFamily="49" charset="0"/>
                        <a:ea typeface="Cascadia Code Light" panose="020B0609020000020004" pitchFamily="49" charset="0"/>
                        <a:cs typeface="Cascadia Code Light" panose="020B06090200000200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0030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9B2C47C7-7BA5-A243-7FA0-EDD3472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Panel Data Set</a:t>
            </a:r>
            <a:endParaRPr lang="en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530A1C-80A0-3EE4-FFAF-A504ABDD3D76}"/>
              </a:ext>
            </a:extLst>
          </p:cNvPr>
          <p:cNvSpPr txBox="1"/>
          <p:nvPr/>
        </p:nvSpPr>
        <p:spPr>
          <a:xfrm>
            <a:off x="3915137" y="2272697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MODULE_F</a:t>
            </a:r>
            <a:endParaRPr lang="en-DE" sz="2800" dirty="0"/>
          </a:p>
        </p:txBody>
      </p:sp>
    </p:spTree>
    <p:extLst>
      <p:ext uri="{BB962C8B-B14F-4D97-AF65-F5344CB8AC3E}">
        <p14:creationId xmlns:p14="http://schemas.microsoft.com/office/powerpoint/2010/main" val="3627085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2CBA72-5168-478F-6B35-38024BC21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Alexander Sommer &amp; Sophia Marangou, June 16th 2026, AEER seminar at TU Berlin</a:t>
            </a:r>
            <a:endParaRPr lang="en-DE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253D83E-07D3-077A-5B85-04E220757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846" y="1253331"/>
            <a:ext cx="10515600" cy="3153416"/>
          </a:xfrm>
        </p:spPr>
        <p:txBody>
          <a:bodyPr/>
          <a:lstStyle/>
          <a:p>
            <a:r>
              <a:rPr lang="en-US" dirty="0"/>
              <a:t>Research question</a:t>
            </a:r>
          </a:p>
          <a:p>
            <a:r>
              <a:rPr lang="en-US" dirty="0"/>
              <a:t>Data sources</a:t>
            </a:r>
          </a:p>
          <a:p>
            <a:r>
              <a:rPr lang="en-US" dirty="0"/>
              <a:t>Workflow for creating a reproducible panel set</a:t>
            </a:r>
          </a:p>
          <a:p>
            <a:r>
              <a:rPr lang="en-US" dirty="0"/>
              <a:t>Next steps: Econometric / </a:t>
            </a:r>
            <a:r>
              <a:rPr lang="en-US" dirty="0" err="1"/>
              <a:t>DiD</a:t>
            </a:r>
            <a:r>
              <a:rPr lang="en-US" dirty="0"/>
              <a:t> models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122589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1163</Words>
  <Application>Microsoft Office PowerPoint</Application>
  <PresentationFormat>Widescreen</PresentationFormat>
  <Paragraphs>255</Paragraphs>
  <Slides>21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Cascadia Code Light</vt:lpstr>
      <vt:lpstr>Office Theme</vt:lpstr>
      <vt:lpstr>A Causal Analysis of Organic Farming on Water Nitrate Levels</vt:lpstr>
      <vt:lpstr>PowerPoint Presentation</vt:lpstr>
      <vt:lpstr>Research question</vt:lpstr>
      <vt:lpstr>PowerPoint Presentation</vt:lpstr>
      <vt:lpstr>Data Sources - UBA nitrate data</vt:lpstr>
      <vt:lpstr>Data Sources – Google Dynamic World</vt:lpstr>
      <vt:lpstr>Data Sources – Regionalstatistik</vt:lpstr>
      <vt:lpstr>Data Sources – Alternative: CORINE</vt:lpstr>
      <vt:lpstr>PowerPoint Presentation</vt:lpstr>
      <vt:lpstr>PowerPoint Presentation</vt:lpstr>
      <vt:lpstr>PowerPoint Presentation</vt:lpstr>
      <vt:lpstr>PowerPoint Presentation</vt:lpstr>
      <vt:lpstr>Panel Data Set</vt:lpstr>
      <vt:lpstr>Panel Data Set</vt:lpstr>
      <vt:lpstr>Panel Data Set</vt:lpstr>
      <vt:lpstr>Panel Data Set</vt:lpstr>
      <vt:lpstr>Panel Data Set</vt:lpstr>
      <vt:lpstr>Panel Data Set</vt:lpstr>
      <vt:lpstr>Panel Data Set</vt:lpstr>
      <vt:lpstr>Panel Data Set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5669684904547661</dc:creator>
  <cp:lastModifiedBy>TU-Pseudonym 5669684904547661</cp:lastModifiedBy>
  <cp:revision>13</cp:revision>
  <dcterms:created xsi:type="dcterms:W3CDTF">2026-06-04T11:17:59Z</dcterms:created>
  <dcterms:modified xsi:type="dcterms:W3CDTF">2026-07-14T23:15:24Z</dcterms:modified>
</cp:coreProperties>
</file>