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72"/>
  </p:notesMasterIdLst>
  <p:sldIdLst>
    <p:sldId id="359" r:id="rId3"/>
    <p:sldId id="354" r:id="rId4"/>
    <p:sldId id="400" r:id="rId5"/>
    <p:sldId id="401" r:id="rId6"/>
    <p:sldId id="402" r:id="rId7"/>
    <p:sldId id="368" r:id="rId8"/>
    <p:sldId id="372" r:id="rId9"/>
    <p:sldId id="403" r:id="rId10"/>
    <p:sldId id="388" r:id="rId11"/>
    <p:sldId id="382" r:id="rId12"/>
    <p:sldId id="404" r:id="rId13"/>
    <p:sldId id="389" r:id="rId14"/>
    <p:sldId id="383" r:id="rId15"/>
    <p:sldId id="384" r:id="rId16"/>
    <p:sldId id="405" r:id="rId17"/>
    <p:sldId id="391" r:id="rId18"/>
    <p:sldId id="392" r:id="rId19"/>
    <p:sldId id="393" r:id="rId20"/>
    <p:sldId id="385" r:id="rId21"/>
    <p:sldId id="406" r:id="rId22"/>
    <p:sldId id="379" r:id="rId23"/>
    <p:sldId id="394" r:id="rId24"/>
    <p:sldId id="396" r:id="rId25"/>
    <p:sldId id="397" r:id="rId26"/>
    <p:sldId id="398" r:id="rId27"/>
    <p:sldId id="399" r:id="rId28"/>
    <p:sldId id="395" r:id="rId29"/>
    <p:sldId id="381" r:id="rId30"/>
    <p:sldId id="420" r:id="rId31"/>
    <p:sldId id="421" r:id="rId32"/>
    <p:sldId id="422" r:id="rId33"/>
    <p:sldId id="423" r:id="rId34"/>
    <p:sldId id="419" r:id="rId35"/>
    <p:sldId id="417" r:id="rId36"/>
    <p:sldId id="364" r:id="rId37"/>
    <p:sldId id="371" r:id="rId38"/>
    <p:sldId id="367" r:id="rId39"/>
    <p:sldId id="374" r:id="rId40"/>
    <p:sldId id="378" r:id="rId41"/>
    <p:sldId id="380" r:id="rId42"/>
    <p:sldId id="424" r:id="rId43"/>
    <p:sldId id="438" r:id="rId44"/>
    <p:sldId id="425" r:id="rId45"/>
    <p:sldId id="426" r:id="rId46"/>
    <p:sldId id="427" r:id="rId47"/>
    <p:sldId id="428" r:id="rId48"/>
    <p:sldId id="439" r:id="rId49"/>
    <p:sldId id="429" r:id="rId50"/>
    <p:sldId id="440" r:id="rId51"/>
    <p:sldId id="370" r:id="rId52"/>
    <p:sldId id="437" r:id="rId53"/>
    <p:sldId id="362" r:id="rId54"/>
    <p:sldId id="363" r:id="rId55"/>
    <p:sldId id="414" r:id="rId56"/>
    <p:sldId id="416" r:id="rId57"/>
    <p:sldId id="407" r:id="rId58"/>
    <p:sldId id="408" r:id="rId59"/>
    <p:sldId id="409" r:id="rId60"/>
    <p:sldId id="410" r:id="rId61"/>
    <p:sldId id="411" r:id="rId62"/>
    <p:sldId id="412" r:id="rId63"/>
    <p:sldId id="413" r:id="rId64"/>
    <p:sldId id="430" r:id="rId65"/>
    <p:sldId id="431" r:id="rId66"/>
    <p:sldId id="432" r:id="rId67"/>
    <p:sldId id="433" r:id="rId68"/>
    <p:sldId id="434" r:id="rId69"/>
    <p:sldId id="435" r:id="rId70"/>
    <p:sldId id="436" r:id="rId7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343"/>
    <a:srgbClr val="49CB40"/>
    <a:srgbClr val="1F90CC"/>
    <a:srgbClr val="9013FE"/>
    <a:srgbClr val="C40D1E"/>
    <a:srgbClr val="C40E02"/>
    <a:srgbClr val="FFFFFF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7BFB8-0508-991F-5191-A16AB76EA9D8}" v="7" dt="2026-07-16T07:32:48.076"/>
    <p1510:client id="{B82F9F63-B429-6D43-91C8-E0DC73B553B6}" v="58" dt="2026-07-15T21:28:43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64957" autoAdjust="0"/>
  </p:normalViewPr>
  <p:slideViewPr>
    <p:cSldViewPr snapToGrid="0" snapToObjects="1">
      <p:cViewPr varScale="1">
        <p:scale>
          <a:sx n="41" d="100"/>
          <a:sy n="41" d="100"/>
        </p:scale>
        <p:origin x="1596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According to the NLKWN </a:t>
            </a:r>
            <a:r>
              <a:rPr lang="en-US" dirty="0" err="1"/>
              <a:t>Landesbetrieb</a:t>
            </a:r>
            <a:r>
              <a:rPr lang="en-US" dirty="0"/>
              <a:t> für </a:t>
            </a:r>
            <a:r>
              <a:rPr lang="en-US" dirty="0" err="1"/>
              <a:t>Wasserwirtschaft</a:t>
            </a:r>
            <a:r>
              <a:rPr lang="en-US" dirty="0"/>
              <a:t>, </a:t>
            </a:r>
            <a:r>
              <a:rPr lang="en-US" dirty="0" err="1"/>
              <a:t>Küsten</a:t>
            </a:r>
            <a:r>
              <a:rPr lang="en-US" dirty="0"/>
              <a:t>- und </a:t>
            </a:r>
            <a:r>
              <a:rPr lang="en-US" dirty="0" err="1"/>
              <a:t>Naturschutz</a:t>
            </a:r>
            <a:r>
              <a:rPr lang="en-US" dirty="0"/>
              <a:t>, lower saxony exhibits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974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5FD03-7E2B-C3C5-93CA-9D56A7A5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A681D-3348-1B2A-F0BB-9FBE5911D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BF41A-33BA-907C-AAD7-373535AA5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….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91441-E27B-CBA4-C479-F95D74E6B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101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F8E6A-5587-947A-803D-253815EC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80419-3CC7-9DAF-0749-4C1A13492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DD455-EB09-ECBA-A515-217699566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… as we also saw on the ALKIS dataset </a:t>
            </a:r>
            <a:r>
              <a:rPr lang="en-US" dirty="0" err="1"/>
              <a:t>cartographable</a:t>
            </a:r>
            <a:r>
              <a:rPr lang="en-US" dirty="0"/>
              <a:t> visualization last time…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EBC07-4990-F35A-1A81-9DC765D78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867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92D-569B-B0C0-B106-594F4D3A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BB410-E7A0-3EDE-ED5A-A1101B990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E707A-5B54-84DA-DA92-E26CCAC37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and still the matter of fact, also studied beyond this here, ….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5F8E7-15ED-A42C-0707-9E8615A31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914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our research question remains  -------------------</a:t>
            </a:r>
          </a:p>
          <a:p>
            <a:endParaRPr lang="en-US" dirty="0"/>
          </a:p>
          <a:p>
            <a:r>
              <a:rPr lang="en-US" dirty="0"/>
              <a:t>which we will tackle with the following backbone data ingredients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0566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THE UBA GROUNDWATER REPORT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2832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4F0E7-718A-6291-5241-79D702D3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D9E45-41BC-B182-2AD7-58F598E4B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798D2-DB8B-23C7-3458-247CAB517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it p</a:t>
            </a:r>
            <a:r>
              <a:rPr lang="en-DE" sz="1200" dirty="0" err="1"/>
              <a:t>rovides</a:t>
            </a:r>
            <a:r>
              <a:rPr lang="en-US" sz="1200" dirty="0"/>
              <a:t>:</a:t>
            </a:r>
            <a:endParaRPr lang="en-DE" sz="1200" dirty="0"/>
          </a:p>
          <a:p>
            <a:r>
              <a:rPr lang="en-DE" sz="1200" dirty="0"/>
              <a:t>groundwater monitoring stations</a:t>
            </a:r>
            <a:r>
              <a:rPr lang="en-US" sz="1200" dirty="0"/>
              <a:t> data,</a:t>
            </a:r>
            <a:r>
              <a:rPr lang="en-DE" sz="1200" dirty="0"/>
              <a:t> </a:t>
            </a:r>
            <a:br>
              <a:rPr lang="en-US" sz="1200" dirty="0"/>
            </a:br>
            <a:r>
              <a:rPr lang="en-US" sz="1200" dirty="0"/>
              <a:t>and their </a:t>
            </a:r>
            <a:r>
              <a:rPr lang="en-DE" sz="1200" dirty="0"/>
              <a:t>coordinates</a:t>
            </a:r>
            <a:r>
              <a:rPr lang="en-US" sz="1200" dirty="0"/>
              <a:t>,</a:t>
            </a:r>
            <a:endParaRPr lang="en-DE" sz="1200" dirty="0"/>
          </a:p>
          <a:p>
            <a:r>
              <a:rPr lang="en-DE" sz="1200" dirty="0"/>
              <a:t>nitrate measurements</a:t>
            </a:r>
            <a:r>
              <a:rPr lang="en-US" sz="1200" dirty="0"/>
              <a:t>,</a:t>
            </a:r>
            <a:r>
              <a:rPr lang="en-DE" sz="1200" dirty="0"/>
              <a:t> </a:t>
            </a:r>
          </a:p>
          <a:p>
            <a:r>
              <a:rPr lang="en-DE" sz="1200" dirty="0"/>
              <a:t>year</a:t>
            </a:r>
            <a:r>
              <a:rPr lang="en-US" sz="1200" dirty="0" err="1"/>
              <a:t>ly</a:t>
            </a:r>
            <a:r>
              <a:rPr lang="en-US" sz="1200" dirty="0"/>
              <a:t>-</a:t>
            </a:r>
            <a:endParaRPr lang="en-DE" sz="1200" dirty="0"/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CF29D-3725-96E8-A940-E702A4900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399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deal with the missing stations and missing years later after an EDA,</a:t>
            </a:r>
          </a:p>
          <a:p>
            <a:endParaRPr lang="en-US" dirty="0"/>
          </a:p>
          <a:p>
            <a:r>
              <a:rPr lang="en-US" dirty="0"/>
              <a:t>but this is kind of the master data set we use, indexed/keyed by (</a:t>
            </a:r>
            <a:r>
              <a:rPr lang="en-US" dirty="0" err="1"/>
              <a:t>station,year</a:t>
            </a:r>
            <a:r>
              <a:rPr lang="en-US" dirty="0"/>
              <a:t>) pairs to augment it with other data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509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then: pictures from Google Dynamic World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60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3E68-E47A-5859-0F11-4AA1A551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0AAEC-799C-1494-670B-0A70D97F5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34F28-8EB8-FACC-B126-4A9C36268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works on remote sensing queries: so</a:t>
            </a:r>
            <a:endParaRPr lang="en-DE" dirty="0"/>
          </a:p>
          <a:p>
            <a:r>
              <a:rPr lang="en-US" dirty="0"/>
              <a:t>L</a:t>
            </a:r>
            <a:r>
              <a:rPr lang="en-DE" dirty="0"/>
              <a:t>and</a:t>
            </a:r>
            <a:r>
              <a:rPr lang="en-US" dirty="0"/>
              <a:t>-cover characteristics a</a:t>
            </a:r>
            <a:r>
              <a:rPr lang="en-DE" dirty="0"/>
              <a:t>round </a:t>
            </a:r>
            <a:r>
              <a:rPr lang="en-US" dirty="0"/>
              <a:t>a given point,</a:t>
            </a:r>
            <a:br>
              <a:rPr lang="en-US" dirty="0"/>
            </a:br>
            <a:r>
              <a:rPr lang="en-US" dirty="0"/>
              <a:t>for us:</a:t>
            </a:r>
            <a:r>
              <a:rPr lang="en-DE" dirty="0"/>
              <a:t> </a:t>
            </a:r>
            <a:r>
              <a:rPr lang="en-US" dirty="0"/>
              <a:t>each water </a:t>
            </a:r>
            <a:r>
              <a:rPr lang="en-DE" dirty="0"/>
              <a:t>monitoring station</a:t>
            </a:r>
            <a:endParaRPr lang="en-US" dirty="0"/>
          </a:p>
          <a:p>
            <a:pPr lvl="1"/>
            <a:r>
              <a:rPr lang="en-US" dirty="0"/>
              <a:t>crops  vs.  trees  vs.  grass</a:t>
            </a:r>
          </a:p>
          <a:p>
            <a:pPr lvl="1"/>
            <a:r>
              <a:rPr lang="en-US" dirty="0"/>
              <a:t>buildings   vs.   settlements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213EC-9201-23C4-72C1-ED5FA786C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935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queried every year from 2016 (where the collection was started) to 2022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189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data source we can include is CORINE </a:t>
            </a:r>
          </a:p>
          <a:p>
            <a:endParaRPr lang="en-US" dirty="0"/>
          </a:p>
          <a:p>
            <a:r>
              <a:rPr lang="en-US" dirty="0"/>
              <a:t>essentially the same,</a:t>
            </a:r>
          </a:p>
          <a:p>
            <a:r>
              <a:rPr lang="en-US" dirty="0"/>
              <a:t>so remote-sensing data,</a:t>
            </a:r>
          </a:p>
          <a:p>
            <a:r>
              <a:rPr lang="en-US" dirty="0"/>
              <a:t>but less fine that Google’s collection,</a:t>
            </a:r>
          </a:p>
          <a:p>
            <a:endParaRPr lang="en-US" dirty="0"/>
          </a:p>
          <a:p>
            <a:r>
              <a:rPr lang="en-US" dirty="0"/>
              <a:t>limited to snapshots on three years, so we have to interpolate for coverage of the rest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7635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and  of course the missing ingredient for our causal design is:</a:t>
            </a:r>
          </a:p>
          <a:p>
            <a:pPr marL="0" indent="0">
              <a:buNone/>
            </a:pPr>
            <a:r>
              <a:rPr lang="en-US" dirty="0"/>
              <a:t>some socio-economic data of  the district, where water station lies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4855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1339-0964-4DBC-6758-2E57A902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7713A-821B-2B0A-3AE5-0B7531B46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0E70C-E4A9-3ECD-B8FB-F6AF4FFA7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namely:</a:t>
            </a:r>
            <a:endParaRPr lang="en-DE" dirty="0"/>
          </a:p>
          <a:p>
            <a:r>
              <a:rPr lang="en-US" dirty="0"/>
              <a:t>- </a:t>
            </a:r>
            <a:r>
              <a:rPr lang="en-DE" dirty="0"/>
              <a:t>organic farms</a:t>
            </a:r>
            <a:r>
              <a:rPr lang="en-US" dirty="0"/>
              <a:t> presence and count,</a:t>
            </a:r>
          </a:p>
          <a:p>
            <a:pPr marL="0" indent="0">
              <a:buFontTx/>
              <a:buNone/>
            </a:pPr>
            <a:r>
              <a:rPr lang="en-US" dirty="0"/>
              <a:t>- </a:t>
            </a:r>
            <a:r>
              <a:rPr lang="en-DE" dirty="0"/>
              <a:t>agricultural area </a:t>
            </a:r>
            <a:r>
              <a:rPr lang="en-US" dirty="0"/>
              <a:t>(vs populated area),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72F9C-29E3-BFE8-EFAE-C334C528B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619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6F91-9919-C7E5-8549-8BF1B69D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11C4B-48C5-BC28-F8F1-6F4B40420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56996-699C-C755-D265-F46A1356C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… so this is a big </a:t>
            </a:r>
            <a:r>
              <a:rPr lang="en-US" dirty="0" err="1"/>
              <a:t>clean&amp;merge</a:t>
            </a:r>
            <a:r>
              <a:rPr lang="en-US" dirty="0"/>
              <a:t> to be done,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with again some missing lines in need of augmentation or continuation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025AC-F9BC-7E69-69D0-DC51B6AB1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325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… and we needed to consult the </a:t>
            </a:r>
            <a:r>
              <a:rPr lang="en-US" dirty="0" err="1"/>
              <a:t>Bundesamt</a:t>
            </a:r>
            <a:r>
              <a:rPr lang="en-US" dirty="0"/>
              <a:t> für </a:t>
            </a:r>
            <a:r>
              <a:rPr lang="en-US" dirty="0" err="1"/>
              <a:t>Kartographie</a:t>
            </a:r>
            <a:r>
              <a:rPr lang="en-US" dirty="0"/>
              <a:t> und </a:t>
            </a:r>
            <a:r>
              <a:rPr lang="en-US" dirty="0" err="1"/>
              <a:t>Geodäsie</a:t>
            </a:r>
            <a:endParaRPr lang="en-DE" dirty="0"/>
          </a:p>
          <a:p>
            <a:endParaRPr lang="en-US" dirty="0"/>
          </a:p>
          <a:p>
            <a:r>
              <a:rPr lang="en-US" dirty="0"/>
              <a:t>not only gain back some cartographic visuals</a:t>
            </a:r>
          </a:p>
          <a:p>
            <a:endParaRPr lang="en-US" dirty="0"/>
          </a:p>
          <a:p>
            <a:r>
              <a:rPr lang="en-US" dirty="0"/>
              <a:t>but also to  be able to assign temporal causal impact to local boundaries / classifications on the ground,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870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8C7F-A03A-0108-1FD5-FEE12B93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9D4C7-6DDF-C269-CCF3-B8D2D3724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B54B5-11BD-2EBF-21AB-5F0B367F6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cause those change over the years,</a:t>
            </a:r>
          </a:p>
          <a:p>
            <a:endParaRPr lang="en-US" dirty="0"/>
          </a:p>
          <a:p>
            <a:r>
              <a:rPr lang="en-US" dirty="0"/>
              <a:t>and if we key/index  our data   on   (station x year),</a:t>
            </a:r>
          </a:p>
          <a:p>
            <a:r>
              <a:rPr lang="en-US" dirty="0"/>
              <a:t>we need to take into account that those districts, a station belongs to, might change over time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C0F8-7DD1-5968-2960-C4C9EF91C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092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this is the raw data we used,</a:t>
            </a:r>
          </a:p>
          <a:p>
            <a:endParaRPr lang="en-US" dirty="0"/>
          </a:p>
          <a:p>
            <a:r>
              <a:rPr lang="en-US" dirty="0"/>
              <a:t>and we can further explain the pipeline to create the panel and variables</a:t>
            </a:r>
          </a:p>
          <a:p>
            <a:endParaRPr lang="en-US" dirty="0"/>
          </a:p>
          <a:p>
            <a:r>
              <a:rPr lang="en-US" dirty="0"/>
              <a:t>from this raw data, in the discussion,</a:t>
            </a:r>
          </a:p>
          <a:p>
            <a:endParaRPr lang="en-US" dirty="0"/>
          </a:p>
          <a:p>
            <a:r>
              <a:rPr lang="en-US" dirty="0"/>
              <a:t>So you, can later just enjoy reading the econometric / did / causal design analysis and results in the final report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4530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to maybe get ahead of  maybe  some of your flashbacks,</a:t>
            </a:r>
          </a:p>
          <a:p>
            <a:r>
              <a:rPr lang="en-US" dirty="0"/>
              <a:t>YES we ended up discarding some of the initial raw data sources,</a:t>
            </a:r>
          </a:p>
          <a:p>
            <a:endParaRPr lang="en-US" dirty="0"/>
          </a:p>
          <a:p>
            <a:r>
              <a:rPr lang="en-US" dirty="0"/>
              <a:t>let us know if </a:t>
            </a:r>
            <a:r>
              <a:rPr lang="en-US" dirty="0" err="1"/>
              <a:t>youre</a:t>
            </a:r>
            <a:r>
              <a:rPr lang="en-US" dirty="0"/>
              <a:t> curious as of why,</a:t>
            </a:r>
          </a:p>
          <a:p>
            <a:r>
              <a:rPr lang="en-US" dirty="0"/>
              <a:t>  again in the discussion…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840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more importantly we now want to show you the final panel, so I omit that irritation here,</a:t>
            </a:r>
          </a:p>
          <a:p>
            <a:r>
              <a:rPr lang="en-US" dirty="0"/>
              <a:t>please ask in the end if you want to know what happened</a:t>
            </a:r>
            <a:endParaRPr lang="en-DE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first, to maybe get ahead of  maybe  some of your flashbacks,</a:t>
            </a:r>
          </a:p>
          <a:p>
            <a:r>
              <a:rPr lang="en-US" dirty="0"/>
              <a:t>here is why we ended up discarding some of the initial raw data sources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49677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CD65-AFD7-6FA7-F1D5-BEFF72D89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4BF1E-E8C8-B5D4-E357-9A2D6E67E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FB475-7A83-753C-2FB9-F103A5F6A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the UBA dataset, we once viewed geodata from NUMIS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6F65F-2C4E-9FB7-5455-15697436A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4318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407A5-B6C6-4422-E472-F2CC3785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C9061-247F-7666-6FE6-814ACA472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36A95-C6E4-515A-9A8C-CB1DD2AEA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this was : ….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C827B-9F01-4A9F-1CD0-61E4D962B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50399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4E8D-417C-7F6B-4542-F69F649F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C54C3-04CC-2F7F-46E2-57054CC1B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23A5A-167D-F1B9-D9D9-B8E0DAB3D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also used the ALKIS (---), mainly to identify Lower Saxony as a good place to focus our research question on,</a:t>
            </a:r>
          </a:p>
          <a:p>
            <a:endParaRPr lang="en-US" dirty="0"/>
          </a:p>
          <a:p>
            <a:r>
              <a:rPr lang="en-US" dirty="0"/>
              <a:t>and initially also thought to use the land-use/land-value data from there, but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E6B7F-7F0B-D3E6-DE8C-60C18334A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71997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932F-CE78-5C12-D792-87997869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25DF9-53D9-36E8-C0A3-7B9A006D8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B3B15-D4F7-EB38-CC55-53C3DD653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it was…..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92A09-D7FF-932E-BF81-396989460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7658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34CE-A643-C7B9-6EB5-5BDCB337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C4162-AEFD-1F53-B010-EAC0F692D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B262E-FD36-8EDE-D886-50C7D5206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BORIS could be tossed entirely because it logs “land value” in a different sense namely valuation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84B49-2DAE-AC8D-FF09-F05BCF995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159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6038-A0A5-683B-15A8-C37ECA310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B3D14-F7B2-197B-DAD9-598A27E1D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07F9F-BE31-31F3-136B-7C00B600D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census dataset is one we kept, the other one is new to gain spatial data back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ADD66-C685-9990-A254-FA4484A9A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45015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far, this is our workflow on how the pre-processed full panel dataset we will use got created</a:t>
            </a:r>
          </a:p>
          <a:p>
            <a:endParaRPr lang="en-US" dirty="0"/>
          </a:p>
          <a:p>
            <a:r>
              <a:rPr lang="en-US" dirty="0"/>
              <a:t>and the code’s pipeline is also structured like this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9569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8708-1F90-6750-1AF1-2859710B3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93FED-27D8-A543-38DD-35E5BF72D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58797-033B-4C5C-FB1F-F6AFCB539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 panel dataset is a huge long table, with columns-MODULES after processing all data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8A3EE-34F1-42EC-E5F9-26C8A7C3A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75394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93F17-00CB-A6F0-5328-E90D3648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849F3-2D88-7C41-7211-2243AF323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9CE94-1FC3-A5A3-C39B-4CE70412D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for you to get an idea, one module deals with nitrate measurements</a:t>
            </a:r>
          </a:p>
          <a:p>
            <a:endParaRPr lang="en-US" dirty="0"/>
          </a:p>
          <a:p>
            <a:r>
              <a:rPr lang="en-US" dirty="0"/>
              <a:t>per station per year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CF6A8-EF0F-3B01-F9D6-9B16F5243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3400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7589-B3B3-15FD-00FB-83B06054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A9AA0-49EF-ED2B-65B8-A2AB4B196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8D498-BC99-A9B6-4C72-E6636A4E5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module with data for the water station data</a:t>
            </a:r>
          </a:p>
          <a:p>
            <a:endParaRPr lang="en-US" dirty="0"/>
          </a:p>
          <a:p>
            <a:r>
              <a:rPr lang="en-US" dirty="0"/>
              <a:t>its name, id, coordinates, water parcel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58771-AE3A-F627-BB91-E4EE654AC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1844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3451A-2839-B0CB-4459-9F071848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3C263-FAEA-8956-B150-30E1B885B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AA56C-9905-C82C-A078-FDE3EC50C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module for having created buffers around a point/water station</a:t>
            </a:r>
          </a:p>
          <a:p>
            <a:endParaRPr lang="en-US" dirty="0"/>
          </a:p>
          <a:p>
            <a:r>
              <a:rPr lang="en-US" dirty="0"/>
              <a:t>and collecting the shares of land use</a:t>
            </a:r>
          </a:p>
          <a:p>
            <a:endParaRPr lang="en-US" dirty="0"/>
          </a:p>
          <a:p>
            <a:r>
              <a:rPr lang="en-US" dirty="0"/>
              <a:t>once for a </a:t>
            </a:r>
            <a:r>
              <a:rPr lang="en-US" dirty="0" err="1"/>
              <a:t>ringbuffer</a:t>
            </a:r>
            <a:r>
              <a:rPr lang="en-US" dirty="0"/>
              <a:t> of 500m once of 100m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47E6A-B642-DD05-7BB8-6F1D7A963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1035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85873-5960-3D67-DDD0-F86F73D9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C96E0-A287-2EDE-DEA9-9F4F14137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28761-7EDF-C142-AEB4-84C678A45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so on..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 before we come to some ideas for the causal design, I  now hand over to Alex for some EDA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896FE-C7A1-AADF-9BA1-5757AAE20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33740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D4CD-6457-82AE-3996-69FD418F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C2A10-885F-7C08-0156-FCE9A59DF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23DFD-BFA7-764D-E4AF-2E38F4974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for  now let’s hand over to Alex for some </a:t>
            </a:r>
            <a:r>
              <a:rPr lang="en-US" dirty="0" err="1"/>
              <a:t>importand</a:t>
            </a:r>
            <a:r>
              <a:rPr lang="en-US" dirty="0"/>
              <a:t> EDA  </a:t>
            </a:r>
          </a:p>
          <a:p>
            <a:endParaRPr lang="en-US" dirty="0"/>
          </a:p>
          <a:p>
            <a:r>
              <a:rPr lang="en-US" dirty="0"/>
              <a:t>before we get into causal design and did </a:t>
            </a:r>
            <a:r>
              <a:rPr lang="en-US" dirty="0" err="1"/>
              <a:t>methodolgy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02F75-561A-459F-50FE-363B89727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311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great, coming to methods for causal analysis of this research question,</a:t>
            </a:r>
          </a:p>
          <a:p>
            <a:endParaRPr lang="en-US" dirty="0"/>
          </a:p>
          <a:p>
            <a:r>
              <a:rPr lang="en-US" dirty="0"/>
              <a:t>whose exploration is the current status of our project. we would like to test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12348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887BD-6606-6116-C265-A0D740B0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6C3A5-131E-3A68-ECBC-CAA6867AF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7B714-BB9B-971F-7E44-BACACE6C3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fixed effects,</a:t>
            </a:r>
          </a:p>
          <a:p>
            <a:endParaRPr lang="en-US" dirty="0"/>
          </a:p>
          <a:p>
            <a:r>
              <a:rPr lang="en-US" dirty="0"/>
              <a:t>as really natural to our panel, station FE and year FE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1D2C5-A59A-92FC-8DD1-64D0C5A22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488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Event study:</a:t>
            </a:r>
          </a:p>
          <a:p>
            <a:endParaRPr lang="en-US" dirty="0"/>
          </a:p>
          <a:p>
            <a:r>
              <a:rPr lang="en-US" dirty="0"/>
              <a:t>not with the treatment being “farm converted” </a:t>
            </a:r>
          </a:p>
          <a:p>
            <a:endParaRPr lang="en-US" dirty="0"/>
          </a:p>
          <a:p>
            <a:r>
              <a:rPr lang="en-US" dirty="0"/>
              <a:t>but with the treatment being “district experienced a large increase in organic share”, </a:t>
            </a:r>
            <a:r>
              <a:rPr lang="en-US" dirty="0" err="1"/>
              <a:t>eg</a:t>
            </a:r>
            <a:r>
              <a:rPr lang="en-US" dirty="0"/>
              <a:t> +5-10-30% within four years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05671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5475-FB10-64D5-BC23-31540702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948F0-C9EB-2182-B2FB-3DF8E3A92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E8E96-05D0-E6DF-37F4-BAD169CF9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is, because as Alex already mentioned, a classic binary treatment-untreated </a:t>
            </a:r>
            <a:r>
              <a:rPr lang="en-US" dirty="0" err="1"/>
              <a:t>DiD</a:t>
            </a:r>
            <a:r>
              <a:rPr lang="en-US" dirty="0"/>
              <a:t> is not set up anymore,</a:t>
            </a:r>
          </a:p>
          <a:p>
            <a:endParaRPr lang="en-US" dirty="0"/>
          </a:p>
          <a:p>
            <a:r>
              <a:rPr lang="en-US" dirty="0"/>
              <a:t>cause our panel logs gradual changes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4717F-681D-3317-3DD1-1273318A1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87326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E90D-764B-77C5-01F0-A2AA873A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147BF-9D3E-B35C-E705-34B031D12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905-FF53-F417-478F-1DA8EC896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we may still be able to construct a treatment variable in the sense of: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“district where organic area increased by 30%”  and “everything else”</a:t>
            </a:r>
          </a:p>
          <a:p>
            <a:endParaRPr lang="en-US" dirty="0"/>
          </a:p>
          <a:p>
            <a:r>
              <a:rPr lang="en-US" dirty="0"/>
              <a:t>which is called Staggered Adoption </a:t>
            </a:r>
            <a:r>
              <a:rPr lang="en-US" dirty="0" err="1"/>
              <a:t>DiD</a:t>
            </a:r>
            <a:r>
              <a:rPr lang="en-US" dirty="0"/>
              <a:t>, which is what we are currently reading into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C5331-C5FD-9586-E1A0-53388DDE7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0115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C2AF-525B-3DAE-C51F-450A4361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34A5C-49CB-FA53-DD1A-F04BDD99B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9184C-9AA5-B788-4737-247E61617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our panel data set might  actually also really well suited for some fancy </a:t>
            </a:r>
            <a:r>
              <a:rPr lang="en-US" dirty="0" err="1"/>
              <a:t>DiD</a:t>
            </a:r>
            <a:r>
              <a:rPr lang="en-US" dirty="0"/>
              <a:t> mods</a:t>
            </a:r>
          </a:p>
          <a:p>
            <a:endParaRPr lang="en-US" dirty="0"/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Callaway &amp; Sant'Anna Difference-in-Differences (CSDID)</a:t>
            </a:r>
          </a:p>
          <a:p>
            <a:pPr marL="171450" indent="-171450">
              <a:buFontTx/>
              <a:buChar char="-"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Doubly Robust Difference-in-Differences (DRDID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C3892-754E-346E-5F60-B3A5597AC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1875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470EC-BBE8-06C9-509B-F7EA2AEF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5E0A9-5234-E6C1-9720-9E2B8B8AF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9D683-964C-975F-F5BD-2E4983010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..which are some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packeges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found for STATA so maybe they also exist for python or R,</a:t>
            </a:r>
          </a:p>
          <a:p>
            <a:pPr marL="0" indent="0">
              <a:buFontTx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would just throw them on our panel</a:t>
            </a:r>
          </a:p>
          <a:p>
            <a:pPr marL="0" indent="0">
              <a:buFontTx/>
              <a:buNone/>
            </a:pP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16821-BDFB-7F1D-8BF0-73C04C676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0247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A2E3-6984-A924-208C-3C842F76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313C7-BD76-66F9-E730-C64A9EB89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C4F62-7A9B-8C36-2AE3-A0A2194CC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 Lag DID which works on some sort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moving averages sliding window technique</a:t>
            </a:r>
          </a:p>
          <a:p>
            <a:pPr marL="0" indent="0">
              <a:buFontTx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if anyone already spots the right method, let us now, elsewise this goes to testing phase</a:t>
            </a: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695D3-28F8-BCB9-CDC8-24068706F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6440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6EE2-53A0-8E1A-6503-B8FEAC1A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56ABD-F3FF-9159-8974-B0A17C2E1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C7BFE-CA3F-B66F-104B-9A7084D3E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if anyone already spots the right method, let us now, </a:t>
            </a:r>
          </a:p>
          <a:p>
            <a:pPr marL="0" indent="0">
              <a:buFontTx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elsewise this goes to testing phase</a:t>
            </a: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045E9-91D5-A887-114C-26117334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20778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about it, so the next steps are -------------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0625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B7500-B7F5-09C2-2BC6-AEEE4FE7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76F72-52F2-7F62-21B3-B582D3955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DD0D9-D02A-42DC-2E77-819060EFF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since we actually have the data and only filtered for lower saxony ------- extend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A76CB-A736-A878-2B6A-AFD664D66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634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completion sake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9289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B16FF-70A4-1DDA-A233-EB900818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AE48C-45E7-61CB-D8E5-B6E47094D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B6CC2-E7BD-959C-6E4D-335D7A775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first, to maybe get ahead of  maybe  some of your flashbacks,</a:t>
            </a:r>
          </a:p>
          <a:p>
            <a:r>
              <a:rPr lang="en-US" dirty="0"/>
              <a:t>here is why we ended up discarding some of the initial raw data sources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FB742-D61E-6DE2-8A57-6E13347D9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99499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A3F3-E6A5-9114-C423-2B3C9977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AC34C-01DC-2613-800A-384D075B6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A7173-15E3-A035-904D-6EDE7AF5B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the UBA dataset, we once viewed geodata from NUMIS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7A9B9-665B-D42A-2CAE-735F6AB4F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3032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B451-0F77-D925-BE10-E63B1336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1EA90-3746-72AD-CB14-CCCBA46B8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D7DEA-F31C-E276-37B4-9935B4F06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this was : ….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7AACB-8613-3700-0586-6DBC49C93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3132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D20BC-BB2F-4CCA-FD02-DD2C57AD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C2233-3488-EC12-35D1-FE696A9D2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52FD1-8640-B7E9-46D4-9BF98BA62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also used the ALKIS (---), mainly to identify Lower Saxony as a good place to focus our research question on,</a:t>
            </a:r>
          </a:p>
          <a:p>
            <a:endParaRPr lang="en-US" dirty="0"/>
          </a:p>
          <a:p>
            <a:r>
              <a:rPr lang="en-US" dirty="0"/>
              <a:t>and initially also thought to use the land-use/land-value data from there, but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A9BF0-E0EA-253D-CB16-4D5D90D05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17062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66A4-CE1F-3266-9DE2-E3DE22C4B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ACB22-A6B4-341E-3C1D-81A43D11F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CF069-FE04-E7E4-CCF5-3B9AB5738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it was…..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2FE5C-967D-26F1-DEF8-2267FA7D3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6017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BFD16-82F5-F249-E2FD-EF54D7868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1F704-B4FF-A311-EB29-95D57E834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E52BD-EBCC-14D3-194E-A8FAE4199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BORIS could be tossed entirely because it logs “land value” in a different sense namely valuation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DFB9-3433-80F0-24E5-D797AEB40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3346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EC016-26DB-4E17-CDA2-C65FD49A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A9008-5744-287B-6BAE-C2477359B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C9AEF-BB07-46DE-9835-9053A72D0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census dataset is one we kept, the other one is new to gain spatial data back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CC3BB-F83A-B112-FCEE-5DAD4D720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6449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33DB-C328-3788-FB99-292F27DD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404F3-7AFB-3F0D-89E7-A200BED95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04A81-0674-084D-9524-3C6B1B5D6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raw data to panel</a:t>
            </a:r>
          </a:p>
          <a:p>
            <a:endParaRPr lang="en-US" dirty="0"/>
          </a:p>
          <a:p>
            <a:r>
              <a:rPr lang="en-US" dirty="0"/>
              <a:t>So far, this is our workflow on how the pre-processed full panel dataset we will use got created</a:t>
            </a:r>
          </a:p>
          <a:p>
            <a:endParaRPr lang="en-US" dirty="0"/>
          </a:p>
          <a:p>
            <a:r>
              <a:rPr lang="en-US" dirty="0"/>
              <a:t>and the code’s pipeline is also structured like this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43611-9ED0-91F4-2835-F7F39D210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75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07D9-6ACE-AA9D-23DF-851FC3DDA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B7F08-6BFC-4B6B-90FF-C696716A8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69144-1650-4CA7-6CFB-431400811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 panel dataset is a huge long table, with columns-MODULES after processing all data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BDD14-8578-860F-AC75-EC7F2254C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2894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8D25-0525-0B43-FF01-1983E796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2D90F-62BC-3567-E950-E784CB1DD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318CB-7487-E74A-D7B7-26517EB73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for you to get an idea, one module deals with nitrate measurements</a:t>
            </a:r>
          </a:p>
          <a:p>
            <a:endParaRPr lang="en-US" dirty="0"/>
          </a:p>
          <a:p>
            <a:r>
              <a:rPr lang="en-US" dirty="0"/>
              <a:t>per station per year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47AA2-2ED7-224C-6585-0D26BE18D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41578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4644-15E0-5D18-EB88-A5E292B6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DA0D0-B8D0-B83B-9D08-A65E91FA5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6D91A-4CEF-7019-8B8A-D4FAAFB96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module with data for the water station data</a:t>
            </a:r>
          </a:p>
          <a:p>
            <a:endParaRPr lang="en-US" dirty="0"/>
          </a:p>
          <a:p>
            <a:r>
              <a:rPr lang="en-US" dirty="0"/>
              <a:t>its name, id, coordinates, water parcel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7C930-71DC-CACA-9DE6-EB02316E4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42920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409D-0EC6-DA75-283A-A7F923CE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367F3-1F2C-676E-3FB9-99BFE3BB3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E6869-B692-6F8E-6C27-393863303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module for having created buffers around a point/water station</a:t>
            </a:r>
          </a:p>
          <a:p>
            <a:endParaRPr lang="en-US" dirty="0"/>
          </a:p>
          <a:p>
            <a:r>
              <a:rPr lang="en-US" dirty="0"/>
              <a:t>and collecting the shares of land use</a:t>
            </a:r>
          </a:p>
          <a:p>
            <a:endParaRPr lang="en-US" dirty="0"/>
          </a:p>
          <a:p>
            <a:r>
              <a:rPr lang="en-US" dirty="0"/>
              <a:t>once for a </a:t>
            </a:r>
            <a:r>
              <a:rPr lang="en-US" dirty="0" err="1"/>
              <a:t>ringbuffer</a:t>
            </a:r>
            <a:r>
              <a:rPr lang="en-US" dirty="0"/>
              <a:t> of 500m once of 100m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888B-6547-CE94-EBC1-27F61B80C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59967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9A34B-C288-0B7B-4ABC-009EB787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9E97F-A56A-E1D8-1741-4CC48CD7F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1378E-7F31-ACC3-B67F-2D587F529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so on..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 before we come to some ideas for the causal design, I  now hand over to Alex for some EDA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DA659-43B8-9E18-26C9-A76F2FAAF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426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</a:t>
            </a:r>
            <a:r>
              <a:rPr lang="de-DE"/>
              <a:t>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sv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gradFill>
            <a:gsLst>
              <a:gs pos="0">
                <a:srgbClr val="1F90CC"/>
              </a:gs>
              <a:gs pos="100000">
                <a:srgbClr val="49CB40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gradFill>
            <a:gsLst>
              <a:gs pos="0">
                <a:srgbClr val="1F90CC"/>
              </a:gs>
              <a:gs pos="100000">
                <a:srgbClr val="49CB40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59336"/>
            <a:ext cx="7615318" cy="2658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Alexander D. J. Sommer &amp; Sophia N. K.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Marangou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 Applied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Enviromental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Economics Seminar | 16.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July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91E010B-877E-604A-96C7-32EFC5B57054}"/>
              </a:ext>
            </a:extLst>
          </p:cNvPr>
          <p:cNvSpPr txBox="1"/>
          <p:nvPr/>
        </p:nvSpPr>
        <p:spPr>
          <a:xfrm>
            <a:off x="550801" y="4973943"/>
            <a:ext cx="832807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Causal Analysis of Organic Farming</a:t>
            </a:r>
          </a:p>
          <a:p>
            <a:pPr>
              <a:lnSpc>
                <a:spcPts val="3600"/>
              </a:lnSpc>
            </a:pPr>
            <a:r>
              <a:rPr lang="en-US" sz="3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Ground Water Nitrate Levels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FB4931-3EF5-3045-BA3B-F8959781C0D1}"/>
              </a:ext>
            </a:extLst>
          </p:cNvPr>
          <p:cNvSpPr txBox="1"/>
          <p:nvPr/>
        </p:nvSpPr>
        <p:spPr>
          <a:xfrm>
            <a:off x="550801" y="6085778"/>
            <a:ext cx="11231896" cy="28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noProof="0" dirty="0">
                <a:solidFill>
                  <a:schemeClr val="bg1"/>
                </a:solidFill>
                <a:latin typeface="Arial"/>
                <a:cs typeface="Arial"/>
              </a:rPr>
              <a:t>Alexander D. J. Sommer &amp; Sophia N. K. Marangou</a:t>
            </a:r>
            <a:r>
              <a:rPr lang="en-US" noProof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800" noProof="0" dirty="0">
                <a:solidFill>
                  <a:schemeClr val="bg1"/>
                </a:solidFill>
                <a:latin typeface="Arial"/>
                <a:cs typeface="Arial"/>
              </a:rPr>
              <a:t>| Applied </a:t>
            </a: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Environmental</a:t>
            </a:r>
            <a:r>
              <a:rPr lang="en-US" sz="1800" noProof="0" dirty="0">
                <a:solidFill>
                  <a:schemeClr val="bg1"/>
                </a:solidFill>
                <a:latin typeface="Arial"/>
                <a:cs typeface="Arial"/>
              </a:rPr>
              <a:t> Economics Seminar | 16.July 2026</a:t>
            </a:r>
          </a:p>
        </p:txBody>
      </p:sp>
    </p:spTree>
    <p:extLst>
      <p:ext uri="{BB962C8B-B14F-4D97-AF65-F5344CB8AC3E}">
        <p14:creationId xmlns:p14="http://schemas.microsoft.com/office/powerpoint/2010/main" val="3533876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7EAA7F0-EF62-502C-7A8E-2ABF228607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19600" y="1364399"/>
            <a:ext cx="3981600" cy="3534172"/>
          </a:xfrm>
        </p:spPr>
        <p:txBody>
          <a:bodyPr/>
          <a:lstStyle/>
          <a:p>
            <a:r>
              <a:rPr lang="en-US" dirty="0"/>
              <a:t>Lower Saxony exhibits some of the highest groundwater nitrate concentrations in Germany</a:t>
            </a:r>
          </a:p>
          <a:p>
            <a:r>
              <a:rPr lang="en-US" dirty="0">
                <a:solidFill>
                  <a:schemeClr val="bg1"/>
                </a:solidFill>
              </a:rPr>
              <a:t>Many monitoring stations exceed the EU threshold of 50 mg/L </a:t>
            </a:r>
          </a:p>
          <a:p>
            <a:r>
              <a:rPr lang="en-US" dirty="0">
                <a:solidFill>
                  <a:schemeClr val="bg1"/>
                </a:solidFill>
              </a:rPr>
              <a:t>The region is characterized by intensive agricultural activity</a:t>
            </a:r>
          </a:p>
          <a:p>
            <a:r>
              <a:rPr lang="en-US" dirty="0">
                <a:solidFill>
                  <a:schemeClr val="bg1"/>
                </a:solidFill>
              </a:rPr>
              <a:t>Around 90% of nitrate pollution originates from agricultural fertilizer application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89AD0-DEE7-EDC4-E9F1-6EC73CF6E1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79"/>
          <a:stretch>
            <a:fillRect/>
          </a:stretch>
        </p:blipFill>
        <p:spPr>
          <a:xfrm>
            <a:off x="550861" y="1381405"/>
            <a:ext cx="5545139" cy="4093589"/>
          </a:xfrm>
          <a:prstGeom prst="rect">
            <a:avLst/>
          </a:prstGeom>
          <a:noFill/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DBDE21-4AC1-EB4D-9875-252AE5A899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FAB2D1-C06A-9390-37E1-7C99ACC03B23}"/>
              </a:ext>
            </a:extLst>
          </p:cNvPr>
          <p:cNvSpPr txBox="1"/>
          <p:nvPr/>
        </p:nvSpPr>
        <p:spPr>
          <a:xfrm>
            <a:off x="550861" y="5450029"/>
            <a:ext cx="5383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Quelle: NLWKN (2020),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Grundwasserbericht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 Niedersachsen –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Parameterblatt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Nitrat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202609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FB62F-07B1-922A-9CF9-530C14D8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1C715A2-1229-B8AD-7904-78D5E4A837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19600" y="1364399"/>
            <a:ext cx="3981600" cy="3534172"/>
          </a:xfrm>
        </p:spPr>
        <p:txBody>
          <a:bodyPr/>
          <a:lstStyle/>
          <a:p>
            <a:r>
              <a:rPr lang="en-US" dirty="0"/>
              <a:t>Lower Saxony exhibits some of the highest groundwater nitrate concentrations in Germany</a:t>
            </a:r>
          </a:p>
          <a:p>
            <a:r>
              <a:rPr lang="en-US" dirty="0"/>
              <a:t>Many monitoring stations exceed the EU threshold of 50 mg/L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region is characterized by intensive agricultural activity</a:t>
            </a:r>
          </a:p>
          <a:p>
            <a:r>
              <a:rPr lang="en-US" dirty="0">
                <a:solidFill>
                  <a:schemeClr val="bg1"/>
                </a:solidFill>
              </a:rPr>
              <a:t>Around 90% of nitrate pollution originates from agricultural fertilizer application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91AD74-5B71-2D1D-856A-D9F7F69F4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79"/>
          <a:stretch>
            <a:fillRect/>
          </a:stretch>
        </p:blipFill>
        <p:spPr>
          <a:xfrm>
            <a:off x="550861" y="1381405"/>
            <a:ext cx="5545139" cy="4093589"/>
          </a:xfrm>
          <a:prstGeom prst="rect">
            <a:avLst/>
          </a:prstGeom>
          <a:noFill/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363322-D75C-D077-0787-BB2D2B900C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6F9784-1D02-7C34-2E50-05F00BC6480B}"/>
              </a:ext>
            </a:extLst>
          </p:cNvPr>
          <p:cNvSpPr txBox="1"/>
          <p:nvPr/>
        </p:nvSpPr>
        <p:spPr>
          <a:xfrm>
            <a:off x="550861" y="5450029"/>
            <a:ext cx="5383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Quelle: NLWKN (2020),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Grundwasserbericht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 Niedersachsen –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Parameterblatt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Nitrat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140679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DE571-EF99-21CC-BFFF-03F5CC8B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B423C2D-3A4C-C6E3-ED85-D7764350E2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19600" y="1364399"/>
            <a:ext cx="3981600" cy="3534172"/>
          </a:xfrm>
        </p:spPr>
        <p:txBody>
          <a:bodyPr/>
          <a:lstStyle/>
          <a:p>
            <a:r>
              <a:rPr lang="en-US" dirty="0"/>
              <a:t>Lower Saxony exhibits some of the highest groundwater nitrate concentrations in Germany</a:t>
            </a:r>
          </a:p>
          <a:p>
            <a:r>
              <a:rPr lang="en-US" dirty="0"/>
              <a:t>Many monitoring stations exceed the EU threshold of 50 mg/L </a:t>
            </a:r>
          </a:p>
          <a:p>
            <a:r>
              <a:rPr lang="en-US" dirty="0"/>
              <a:t>The region is characterized by intensive agricultural activity</a:t>
            </a:r>
          </a:p>
          <a:p>
            <a:r>
              <a:rPr lang="en-US" dirty="0">
                <a:solidFill>
                  <a:schemeClr val="bg1"/>
                </a:solidFill>
              </a:rPr>
              <a:t>Around 90% of nitrate pollution originates from agricultural fertilizer application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992FD0-F071-4E7D-EE28-14D480F2D2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79"/>
          <a:stretch>
            <a:fillRect/>
          </a:stretch>
        </p:blipFill>
        <p:spPr>
          <a:xfrm>
            <a:off x="550861" y="1381405"/>
            <a:ext cx="5545139" cy="4093589"/>
          </a:xfrm>
          <a:prstGeom prst="rect">
            <a:avLst/>
          </a:prstGeom>
          <a:noFill/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3B8AC9-2B52-5539-CD5F-347824B8C4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8DC24-1BB0-9D2E-B05C-52ED4CCDD6D7}"/>
              </a:ext>
            </a:extLst>
          </p:cNvPr>
          <p:cNvSpPr txBox="1"/>
          <p:nvPr/>
        </p:nvSpPr>
        <p:spPr>
          <a:xfrm>
            <a:off x="550861" y="5450029"/>
            <a:ext cx="5383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Quelle: NLWKN (2020),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Grundwasserbericht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 Niedersachsen –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Parameterblatt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Nitrat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78212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84D0-6CD5-EDB2-7566-F9CAF796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C513264-3136-1519-4161-D50AF64566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19600" y="1364399"/>
            <a:ext cx="3981600" cy="3534172"/>
          </a:xfrm>
        </p:spPr>
        <p:txBody>
          <a:bodyPr/>
          <a:lstStyle/>
          <a:p>
            <a:r>
              <a:rPr lang="en-US" dirty="0"/>
              <a:t>Lower Saxony exhibits some of the highest groundwater nitrate concentrations in Germany</a:t>
            </a:r>
          </a:p>
          <a:p>
            <a:r>
              <a:rPr lang="en-US" dirty="0"/>
              <a:t>Many monitoring stations exceed the EU threshold of 50 mg/L </a:t>
            </a:r>
          </a:p>
          <a:p>
            <a:r>
              <a:rPr lang="en-US" dirty="0"/>
              <a:t>The region is characterized by intensive agricultural activity</a:t>
            </a:r>
          </a:p>
          <a:p>
            <a:r>
              <a:rPr lang="en-US" dirty="0"/>
              <a:t>Around 90% of nitrate pollution originates from agricultural fertilizer application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C6203-1F34-300C-4663-6086F6A89A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79"/>
          <a:stretch>
            <a:fillRect/>
          </a:stretch>
        </p:blipFill>
        <p:spPr>
          <a:xfrm>
            <a:off x="550861" y="1381405"/>
            <a:ext cx="5545139" cy="4093589"/>
          </a:xfrm>
          <a:prstGeom prst="rect">
            <a:avLst/>
          </a:prstGeom>
          <a:noFill/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C39B85-1F44-AFBB-E9D9-5EB2CB0CFB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065901-3D75-0F49-6107-95460CE1073F}"/>
              </a:ext>
            </a:extLst>
          </p:cNvPr>
          <p:cNvSpPr txBox="1"/>
          <p:nvPr/>
        </p:nvSpPr>
        <p:spPr>
          <a:xfrm>
            <a:off x="550861" y="5450029"/>
            <a:ext cx="5383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Quelle: NLWKN (2020),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Grundwasserbericht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 Niedersachsen –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Parameterblatt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</a:rPr>
              <a:t>Nitrat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4096380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815D-C22C-A700-2182-95779C35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01218F-5F59-77CF-7146-D7349D93CD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Research Question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5D7FCF-7A19-6699-9A4D-30D8D3312C62}"/>
              </a:ext>
            </a:extLst>
          </p:cNvPr>
          <p:cNvSpPr txBox="1">
            <a:spLocks/>
          </p:cNvSpPr>
          <p:nvPr/>
        </p:nvSpPr>
        <p:spPr>
          <a:xfrm>
            <a:off x="838200" y="2190750"/>
            <a:ext cx="10515600" cy="35681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i="1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“Does organic farming affect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i="1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groundwater nitrate pollution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i="1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Lower Saxony?”</a:t>
            </a:r>
          </a:p>
        </p:txBody>
      </p:sp>
    </p:spTree>
    <p:extLst>
      <p:ext uri="{BB962C8B-B14F-4D97-AF65-F5344CB8AC3E}">
        <p14:creationId xmlns:p14="http://schemas.microsoft.com/office/powerpoint/2010/main" val="1912628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7B87-686A-3A75-915B-0CD69531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2524EA-7FB7-487D-2A91-957EFF635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868165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4C1E91-4157-B004-B596-6D15221ED0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188414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00422-CCA5-1761-DAB5-445D258E6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BB5793-66CE-3E5C-CC6E-4B14F2FA630F}"/>
              </a:ext>
            </a:extLst>
          </p:cNvPr>
          <p:cNvGraphicFramePr>
            <a:graphicFrameLocks noGrp="1"/>
          </p:cNvGraphicFramePr>
          <p:nvPr/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087755-3AEF-81F7-7224-E92F3ABE60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1674473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F10B0-4100-1487-59EC-C344F6B6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CE5845-C60B-C281-510D-EF219456A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259423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63EED8-E08A-38C3-A0F0-08405BA964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177087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C764E-E776-68CC-A97B-2B8A5C14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A776B7-6ABA-CC26-46C6-65E841129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595802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E2BE2F-B05C-D9A0-58BD-F48BD36F9D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2212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3167-ACB5-5B1A-1E86-90715EA48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CDD796-2BC9-C81B-14D8-9A1A3BF30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062580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8398A1-4FF1-D802-13A9-A3AD80F7C1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1622845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B0DD-69B1-6A82-C8FA-21A5AFE7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D82F93-B05F-87FE-EF60-95AD1A72D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5773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B4EA1B-25FA-8115-717A-F019B0414A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4073634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1C91-7D2D-F0E2-D30A-54BF0474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3D8083-1655-D779-9E10-7F5BF5353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822677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34DC57-B0F3-7BCB-2980-D58A736BE7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2721575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84369-9D34-0855-9588-12DF2B35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554BA0-A4D7-0E83-F52E-0D43097B7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08007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0B534F-9276-219E-0019-B0B510AE6A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298724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9F64-15A4-B68A-350F-4DDD46D1C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5D8E2A-CBA5-7393-5A0A-7D3F5B5EC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174849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97ED79-7DF9-DAA4-4D00-55EAE17D8E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218210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15490-3275-9D6B-F630-897231B4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773DB9-1D1C-91EC-F34E-EC50465CB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175546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rgbClr val="43434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F2C76D-7FDC-2EE0-52C4-1481F31213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623263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19EA-2B30-4820-8B54-C238AD6A5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B9782E-AA96-4E03-9F57-0E3B08660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975923"/>
              </p:ext>
            </p:extLst>
          </p:nvPr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B460AB-23F4-6837-DD55-49E00FDA61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1060779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C16A-E801-4C69-1670-9E587729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18DF2A-8348-26BF-4E7A-C0484030A3E7}"/>
              </a:ext>
            </a:extLst>
          </p:cNvPr>
          <p:cNvGraphicFramePr>
            <a:graphicFrameLocks noGrp="1"/>
          </p:cNvGraphicFramePr>
          <p:nvPr/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BCE6D1-3C24-AC42-8FC8-52DD224BCA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978477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773C-6118-BDD4-7E6B-C7B62BB9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5F9289-95E5-2742-3D78-BF1AEC5563C0}"/>
              </a:ext>
            </a:extLst>
          </p:cNvPr>
          <p:cNvGraphicFramePr>
            <a:graphicFrameLocks noGrp="1"/>
          </p:cNvGraphicFramePr>
          <p:nvPr/>
        </p:nvGraphicFramePr>
        <p:xfrm>
          <a:off x="550799" y="1371600"/>
          <a:ext cx="10056241" cy="4139942"/>
        </p:xfrm>
        <a:graphic>
          <a:graphicData uri="http://schemas.openxmlformats.org/drawingml/2006/table">
            <a:tbl>
              <a:tblPr/>
              <a:tblGrid>
                <a:gridCol w="353787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3187337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nitrate concentration at groundwater monitoring stations (2012–2022)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Unbalanced panel (missing station-years); limited to 2012–2022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597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 land-cover classes (cropland, trees, built-up, water, grass, etc.); 10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 only from 2016 onward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9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land-cover classes (agriculture, forest, urban, water, etc.); 100 m resolution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(2006, 2012, 2018)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35317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(Agricultural Census)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Organic farming area/share, agricultural area, farm counts, livestock variables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Snapshot years only (2010, 2016, 2020); district-level only; livestock variables only available for 2020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District (Landkreis)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boundary changes require harmonization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F7D16A-829F-5E1B-1346-230C62B46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3013926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499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9323E-5478-DD17-74E0-D199B87AAE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E250D-B97E-2DB6-316C-521881A0F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037562"/>
              </p:ext>
            </p:extLst>
          </p:nvPr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400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30607B-DD9A-A1C9-5FB9-9C804A6F6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46426-A51F-E119-6BBB-DDF7BAB3C3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02ABD6-9BA7-DA86-B62B-FA4C87E12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12043"/>
              </p:ext>
            </p:extLst>
          </p:nvPr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56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855BC8A-90B2-445E-6CF3-5A833CE4A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60D52-0220-8513-E574-FACC461E07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B6138C-97F5-22D3-9818-F2387667B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216120"/>
              </p:ext>
            </p:extLst>
          </p:nvPr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878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5766B6-DABE-5F29-746D-3023C2B8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6843C-A4C1-0C57-78C4-B3AFB5BCE5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0207E9-3361-D4D8-CBBE-93AAC5B1B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614699"/>
              </p:ext>
            </p:extLst>
          </p:nvPr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754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03714B-EC4B-8EEA-D494-679318A3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127A7-A130-B209-75A9-9A314FB338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A815DC-4B8F-50D5-94A1-EAA9AEA47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592997"/>
              </p:ext>
            </p:extLst>
          </p:nvPr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293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E77C80-0F36-BD46-02B4-2B154AE2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E1528-C6F9-468E-819C-DD2ED8BD4B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131E8A-968E-57B0-A29E-9ADBF0174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538501"/>
              </p:ext>
            </p:extLst>
          </p:nvPr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019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C52E71-CB09-2C8B-457F-70D5C9B6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602AC-8977-549E-2242-595D6FA82E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45711D-B128-E555-1D9B-69E8016EE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074554"/>
              </p:ext>
            </p:extLst>
          </p:nvPr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657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DF0CD5C5-E884-CF5A-A378-57687A9041DE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23A51-2C4C-79C3-660C-7B6AAF5C4EF7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				      </a:t>
            </a:r>
            <a:r>
              <a:rPr lang="en-DE" i="1" dirty="0"/>
              <a:t>UBA</a:t>
            </a:r>
            <a:br>
              <a:rPr lang="en-US" i="1" dirty="0"/>
            </a:br>
            <a:r>
              <a:rPr lang="en-US" i="1" dirty="0"/>
              <a:t>		      </a:t>
            </a:r>
            <a:r>
              <a:rPr lang="en-DE" dirty="0"/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</a:t>
            </a:r>
            <a:r>
              <a:rPr lang="en-US" dirty="0"/>
              <a:t>		          </a:t>
            </a:r>
            <a:r>
              <a:rPr lang="en-US" b="1" dirty="0"/>
              <a:t>master table</a:t>
            </a:r>
            <a:r>
              <a:rPr lang="en-US" dirty="0"/>
              <a:t>:</a:t>
            </a:r>
            <a:r>
              <a:rPr lang="en-DE" dirty="0"/>
              <a:t> </a:t>
            </a:r>
            <a:r>
              <a:rPr lang="en-US" u="sng" dirty="0"/>
              <a:t>s</a:t>
            </a:r>
            <a:r>
              <a:rPr lang="en-DE" u="sng" dirty="0" err="1"/>
              <a:t>tation</a:t>
            </a:r>
            <a:r>
              <a:rPr lang="en-DE" u="sng" dirty="0"/>
              <a:t>-year </a:t>
            </a:r>
            <a:r>
              <a:rPr lang="en-DE" dirty="0"/>
              <a:t>base</a:t>
            </a:r>
            <a:r>
              <a:rPr lang="en-US" dirty="0"/>
              <a:t>d</a:t>
            </a:r>
            <a:r>
              <a:rPr lang="en-DE" dirty="0"/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/>
              <a:t>   </a:t>
            </a:r>
            <a:r>
              <a:rPr lang="en-US" i="1" dirty="0"/>
              <a:t>	</a:t>
            </a:r>
            <a:r>
              <a:rPr lang="en-DE" i="1" dirty="0"/>
              <a:t>Dynamic World              </a:t>
            </a:r>
            <a:r>
              <a:rPr lang="en-US" i="1" dirty="0"/>
              <a:t>	</a:t>
            </a:r>
            <a:r>
              <a:rPr lang="en-DE" i="1" dirty="0"/>
              <a:t>CORINE buffers            </a:t>
            </a:r>
            <a:r>
              <a:rPr lang="en-US" i="1" dirty="0"/>
              <a:t>      	 </a:t>
            </a:r>
            <a:r>
              <a:rPr lang="en-DE" i="1" dirty="0" err="1"/>
              <a:t>Regionalstatistik</a:t>
            </a:r>
            <a:endParaRPr lang="en-DE" i="1" dirty="0"/>
          </a:p>
          <a:p>
            <a:r>
              <a:rPr lang="en-DE" dirty="0"/>
              <a:t>  </a:t>
            </a:r>
            <a:r>
              <a:rPr lang="en-US" dirty="0"/>
              <a:t>	</a:t>
            </a:r>
            <a:r>
              <a:rPr lang="en-DE" dirty="0"/>
              <a:t>Annual land cover          </a:t>
            </a:r>
            <a:r>
              <a:rPr lang="en-US" dirty="0"/>
              <a:t>	</a:t>
            </a:r>
            <a:r>
              <a:rPr lang="en-DE" dirty="0"/>
              <a:t>500/1000 m shares        </a:t>
            </a:r>
            <a:r>
              <a:rPr lang="en-US" dirty="0"/>
              <a:t>	</a:t>
            </a:r>
            <a:r>
              <a:rPr lang="en-DE" dirty="0"/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EC8A13-8CB6-A38C-762D-5CB751565DCE}"/>
              </a:ext>
            </a:extLst>
          </p:cNvPr>
          <p:cNvCxnSpPr/>
          <p:nvPr/>
        </p:nvCxnSpPr>
        <p:spPr>
          <a:xfrm>
            <a:off x="5863771" y="1785257"/>
            <a:ext cx="0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9619D9-B03E-8F6B-F497-B60120D04F1B}"/>
              </a:ext>
            </a:extLst>
          </p:cNvPr>
          <p:cNvCxnSpPr/>
          <p:nvPr/>
        </p:nvCxnSpPr>
        <p:spPr>
          <a:xfrm>
            <a:off x="5863771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0A8CB2-25E5-2DE9-C15B-BFB799F9A1D0}"/>
              </a:ext>
            </a:extLst>
          </p:cNvPr>
          <p:cNvCxnSpPr>
            <a:cxnSpLocks/>
          </p:cNvCxnSpPr>
          <p:nvPr/>
        </p:nvCxnSpPr>
        <p:spPr>
          <a:xfrm>
            <a:off x="5863771" y="4165600"/>
            <a:ext cx="0" cy="31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2BF4BC-6549-8748-BCB2-4192D597DF9F}"/>
              </a:ext>
            </a:extLst>
          </p:cNvPr>
          <p:cNvCxnSpPr>
            <a:cxnSpLocks/>
          </p:cNvCxnSpPr>
          <p:nvPr/>
        </p:nvCxnSpPr>
        <p:spPr>
          <a:xfrm>
            <a:off x="3178629" y="2815771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5F39D9-D111-C82F-8905-513A1660DDDE}"/>
              </a:ext>
            </a:extLst>
          </p:cNvPr>
          <p:cNvCxnSpPr>
            <a:cxnSpLocks/>
          </p:cNvCxnSpPr>
          <p:nvPr/>
        </p:nvCxnSpPr>
        <p:spPr>
          <a:xfrm>
            <a:off x="3178629" y="4165600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CC44BB-1D94-72DB-4E74-27ED8CCDBA7F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75829DC-7C5C-79CE-9D4A-678CFF44FC15}"/>
              </a:ext>
            </a:extLst>
          </p:cNvPr>
          <p:cNvCxnSpPr/>
          <p:nvPr/>
        </p:nvCxnSpPr>
        <p:spPr>
          <a:xfrm>
            <a:off x="3178629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62F199-74EC-F028-6386-9EB61E07A2E0}"/>
              </a:ext>
            </a:extLst>
          </p:cNvPr>
          <p:cNvCxnSpPr/>
          <p:nvPr/>
        </p:nvCxnSpPr>
        <p:spPr>
          <a:xfrm>
            <a:off x="8969829" y="2823027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F0B3CE-6B02-3512-C836-F1E7DA260132}"/>
              </a:ext>
            </a:extLst>
          </p:cNvPr>
          <p:cNvCxnSpPr/>
          <p:nvPr/>
        </p:nvCxnSpPr>
        <p:spPr>
          <a:xfrm>
            <a:off x="3178629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F21B42-65B1-D1D3-2409-532870268C89}"/>
              </a:ext>
            </a:extLst>
          </p:cNvPr>
          <p:cNvCxnSpPr/>
          <p:nvPr/>
        </p:nvCxnSpPr>
        <p:spPr>
          <a:xfrm>
            <a:off x="5863771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8F250E-6309-F1A9-E39B-D1A5371A5973}"/>
              </a:ext>
            </a:extLst>
          </p:cNvPr>
          <p:cNvCxnSpPr/>
          <p:nvPr/>
        </p:nvCxnSpPr>
        <p:spPr>
          <a:xfrm>
            <a:off x="8969829" y="3955143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8E1F9CF-8D5A-6E5B-5B52-7DA2CCB5275C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368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18712A-7AAA-D817-0FD6-8DF7DD4F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B8733E94-AFCB-D87C-BF4C-05CE7C7D5EF7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93EE0F-9055-DB77-F8A4-8A06A7F8C075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				      </a:t>
            </a:r>
            <a:r>
              <a:rPr lang="en-DE" i="1" dirty="0"/>
              <a:t>UBA</a:t>
            </a:r>
            <a:br>
              <a:rPr lang="en-US" i="1" dirty="0"/>
            </a:br>
            <a:r>
              <a:rPr lang="en-US" i="1" dirty="0"/>
              <a:t>		      </a:t>
            </a:r>
            <a:r>
              <a:rPr lang="en-DE" dirty="0"/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</a:t>
            </a:r>
            <a:r>
              <a:rPr lang="en-US" dirty="0"/>
              <a:t>		          </a:t>
            </a:r>
            <a:r>
              <a:rPr lang="en-US" b="1" dirty="0"/>
              <a:t>master table</a:t>
            </a:r>
            <a:r>
              <a:rPr lang="en-US" dirty="0"/>
              <a:t>:</a:t>
            </a:r>
            <a:r>
              <a:rPr lang="en-DE" dirty="0"/>
              <a:t> </a:t>
            </a:r>
            <a:r>
              <a:rPr lang="en-US" u="sng" dirty="0"/>
              <a:t>s</a:t>
            </a:r>
            <a:r>
              <a:rPr lang="en-DE" u="sng" dirty="0" err="1"/>
              <a:t>tation</a:t>
            </a:r>
            <a:r>
              <a:rPr lang="en-DE" u="sng" dirty="0"/>
              <a:t>-year </a:t>
            </a:r>
            <a:r>
              <a:rPr lang="en-DE" dirty="0"/>
              <a:t>base</a:t>
            </a:r>
            <a:r>
              <a:rPr lang="en-US" dirty="0"/>
              <a:t>d</a:t>
            </a:r>
            <a:r>
              <a:rPr lang="en-DE" dirty="0"/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/>
              <a:t>   </a:t>
            </a:r>
            <a:r>
              <a:rPr lang="en-US" i="1" dirty="0"/>
              <a:t>	</a:t>
            </a:r>
            <a:r>
              <a:rPr lang="en-DE" i="1" dirty="0"/>
              <a:t>Dynamic World              </a:t>
            </a:r>
            <a:r>
              <a:rPr lang="en-US" i="1" dirty="0"/>
              <a:t>	</a:t>
            </a:r>
            <a:r>
              <a:rPr lang="en-DE" i="1" dirty="0"/>
              <a:t>CORINE buffers            </a:t>
            </a:r>
            <a:r>
              <a:rPr lang="en-US" i="1" dirty="0"/>
              <a:t>      	 </a:t>
            </a:r>
            <a:r>
              <a:rPr lang="en-DE" i="1" dirty="0" err="1"/>
              <a:t>Regionalstatistik</a:t>
            </a:r>
            <a:endParaRPr lang="en-DE" i="1" dirty="0"/>
          </a:p>
          <a:p>
            <a:r>
              <a:rPr lang="en-DE" dirty="0"/>
              <a:t>  </a:t>
            </a:r>
            <a:r>
              <a:rPr lang="en-US" dirty="0"/>
              <a:t>	</a:t>
            </a:r>
            <a:r>
              <a:rPr lang="en-DE" dirty="0"/>
              <a:t>Annual land cover          </a:t>
            </a:r>
            <a:r>
              <a:rPr lang="en-US" dirty="0"/>
              <a:t>	</a:t>
            </a:r>
            <a:r>
              <a:rPr lang="en-DE" dirty="0"/>
              <a:t>500/1000 m shares        </a:t>
            </a:r>
            <a:r>
              <a:rPr lang="en-US" dirty="0"/>
              <a:t>	</a:t>
            </a:r>
            <a:r>
              <a:rPr lang="en-DE" dirty="0"/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31B992-FE45-39E3-EEA4-294229F514FF}"/>
              </a:ext>
            </a:extLst>
          </p:cNvPr>
          <p:cNvCxnSpPr/>
          <p:nvPr/>
        </p:nvCxnSpPr>
        <p:spPr>
          <a:xfrm>
            <a:off x="5863771" y="1785257"/>
            <a:ext cx="0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ACFD34-F59D-07B5-834B-D6A521AF7453}"/>
              </a:ext>
            </a:extLst>
          </p:cNvPr>
          <p:cNvCxnSpPr/>
          <p:nvPr/>
        </p:nvCxnSpPr>
        <p:spPr>
          <a:xfrm>
            <a:off x="5863771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3A8129-9AA5-4C07-291D-570344B3C740}"/>
              </a:ext>
            </a:extLst>
          </p:cNvPr>
          <p:cNvCxnSpPr>
            <a:cxnSpLocks/>
          </p:cNvCxnSpPr>
          <p:nvPr/>
        </p:nvCxnSpPr>
        <p:spPr>
          <a:xfrm>
            <a:off x="5863771" y="4165600"/>
            <a:ext cx="0" cy="31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E15F7C-B547-A3BA-D8B1-5E587FB0073D}"/>
              </a:ext>
            </a:extLst>
          </p:cNvPr>
          <p:cNvCxnSpPr>
            <a:cxnSpLocks/>
          </p:cNvCxnSpPr>
          <p:nvPr/>
        </p:nvCxnSpPr>
        <p:spPr>
          <a:xfrm>
            <a:off x="3178629" y="2815771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E66335-C8F1-4F24-9A37-D63AFE30E458}"/>
              </a:ext>
            </a:extLst>
          </p:cNvPr>
          <p:cNvCxnSpPr>
            <a:cxnSpLocks/>
          </p:cNvCxnSpPr>
          <p:nvPr/>
        </p:nvCxnSpPr>
        <p:spPr>
          <a:xfrm>
            <a:off x="3178629" y="4165600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03196A9-5B67-2AB6-DA3F-14A8B83CEBBE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4C354A-AFD0-AA04-88BF-7E97C9337BF4}"/>
              </a:ext>
            </a:extLst>
          </p:cNvPr>
          <p:cNvCxnSpPr/>
          <p:nvPr/>
        </p:nvCxnSpPr>
        <p:spPr>
          <a:xfrm>
            <a:off x="3178629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EFD355-DBAD-640C-2C11-3BBD68A2B14D}"/>
              </a:ext>
            </a:extLst>
          </p:cNvPr>
          <p:cNvCxnSpPr/>
          <p:nvPr/>
        </p:nvCxnSpPr>
        <p:spPr>
          <a:xfrm>
            <a:off x="8969829" y="2823027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61E56D0-6053-4C90-EAF8-57016B38F5A3}"/>
              </a:ext>
            </a:extLst>
          </p:cNvPr>
          <p:cNvCxnSpPr/>
          <p:nvPr/>
        </p:nvCxnSpPr>
        <p:spPr>
          <a:xfrm>
            <a:off x="3178629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67373D8-872F-4A5E-78F5-C12E1BDE5A2E}"/>
              </a:ext>
            </a:extLst>
          </p:cNvPr>
          <p:cNvCxnSpPr/>
          <p:nvPr/>
        </p:nvCxnSpPr>
        <p:spPr>
          <a:xfrm>
            <a:off x="5863771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39C4D0-0667-4F69-58C2-BD7A2CA032AF}"/>
              </a:ext>
            </a:extLst>
          </p:cNvPr>
          <p:cNvCxnSpPr/>
          <p:nvPr/>
        </p:nvCxnSpPr>
        <p:spPr>
          <a:xfrm>
            <a:off x="8969829" y="3955143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EFF40F-0E31-994F-74D8-0308990B8632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B2A50A-7D73-2F31-DBD6-7D459C68D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642808"/>
              </p:ext>
            </p:extLst>
          </p:nvPr>
        </p:nvGraphicFramePr>
        <p:xfrm>
          <a:off x="1210794" y="4999807"/>
          <a:ext cx="9885992" cy="1173480"/>
        </p:xfrm>
        <a:graphic>
          <a:graphicData uri="http://schemas.openxmlformats.org/drawingml/2006/table">
            <a:tbl>
              <a:tblPr/>
              <a:tblGrid>
                <a:gridCol w="150551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524973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4837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1123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621143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57992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65944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7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64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1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0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2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32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77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736B0C-0B12-468B-DDFC-A74474CE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4CD024AD-EB72-D720-293C-DA467F1A68DF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31C27-5F64-6152-2818-21A3594D9B34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				      </a:t>
            </a:r>
            <a:r>
              <a:rPr lang="en-DE" i="1" dirty="0">
                <a:solidFill>
                  <a:schemeClr val="bg1"/>
                </a:solidFill>
              </a:rPr>
              <a:t>UBA</a:t>
            </a: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		      </a:t>
            </a:r>
            <a:r>
              <a:rPr lang="en-DE" dirty="0">
                <a:solidFill>
                  <a:schemeClr val="bg1"/>
                </a:solidFill>
              </a:rPr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>
                <a:solidFill>
                  <a:schemeClr val="bg1"/>
                </a:solidFill>
              </a:rPr>
              <a:t>         </a:t>
            </a:r>
            <a:r>
              <a:rPr lang="en-US" dirty="0">
                <a:solidFill>
                  <a:schemeClr val="bg1"/>
                </a:solidFill>
              </a:rPr>
              <a:t>		          </a:t>
            </a:r>
            <a:r>
              <a:rPr lang="en-US" b="1" dirty="0">
                <a:solidFill>
                  <a:schemeClr val="bg1"/>
                </a:solidFill>
              </a:rPr>
              <a:t>master table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u="sng" dirty="0">
                <a:solidFill>
                  <a:schemeClr val="bg1"/>
                </a:solidFill>
              </a:rPr>
              <a:t>s</a:t>
            </a:r>
            <a:r>
              <a:rPr lang="en-DE" u="sng" dirty="0" err="1">
                <a:solidFill>
                  <a:schemeClr val="bg1"/>
                </a:solidFill>
              </a:rPr>
              <a:t>tation</a:t>
            </a:r>
            <a:r>
              <a:rPr lang="en-DE" u="sng" dirty="0">
                <a:solidFill>
                  <a:schemeClr val="bg1"/>
                </a:solidFill>
              </a:rPr>
              <a:t>-year </a:t>
            </a:r>
            <a:r>
              <a:rPr lang="en-DE" dirty="0">
                <a:solidFill>
                  <a:schemeClr val="bg1"/>
                </a:solidFill>
              </a:rPr>
              <a:t>base</a:t>
            </a:r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DE" dirty="0">
                <a:solidFill>
                  <a:schemeClr val="bg1"/>
                </a:solidFill>
              </a:rPr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>
                <a:solidFill>
                  <a:schemeClr val="bg1"/>
                </a:solidFill>
              </a:rPr>
              <a:t>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Dynamic World           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CORINE buffers            </a:t>
            </a:r>
            <a:r>
              <a:rPr lang="en-US" i="1" dirty="0">
                <a:solidFill>
                  <a:schemeClr val="bg1"/>
                </a:solidFill>
              </a:rPr>
              <a:t>      	 </a:t>
            </a:r>
            <a:r>
              <a:rPr lang="en-DE" i="1" dirty="0" err="1">
                <a:solidFill>
                  <a:schemeClr val="bg1"/>
                </a:solidFill>
              </a:rPr>
              <a:t>Regionalstatistik</a:t>
            </a:r>
            <a:endParaRPr lang="en-DE" i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Annual land cover  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500/1000 m shares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F7E12C-684B-D2D8-911B-CE86FBD02571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CC23317-6786-2CDD-85BF-3364CFB17DF2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FBD631-19B2-EBAE-F31E-F3965F62F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233794"/>
              </p:ext>
            </p:extLst>
          </p:nvPr>
        </p:nvGraphicFramePr>
        <p:xfrm>
          <a:off x="1210794" y="4999807"/>
          <a:ext cx="9885992" cy="1173480"/>
        </p:xfrm>
        <a:graphic>
          <a:graphicData uri="http://schemas.openxmlformats.org/drawingml/2006/table">
            <a:tbl>
              <a:tblPr/>
              <a:tblGrid>
                <a:gridCol w="150551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524973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4837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1123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621143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57992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65944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7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64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3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1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0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2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32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A1F79F-147C-A776-423D-DD0BC08D4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552189"/>
              </p:ext>
            </p:extLst>
          </p:nvPr>
        </p:nvGraphicFramePr>
        <p:xfrm>
          <a:off x="1210794" y="1788966"/>
          <a:ext cx="7547647" cy="1901415"/>
        </p:xfrm>
        <a:graphic>
          <a:graphicData uri="http://schemas.openxmlformats.org/drawingml/2006/table">
            <a:tbl>
              <a:tblPr/>
              <a:tblGrid>
                <a:gridCol w="1592432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844225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222640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063173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821410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460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station_id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n_measurements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nitrate_mg_l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1072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  <a:b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2012</a:t>
                      </a:r>
                    </a:p>
                    <a:p>
                      <a:pPr>
                        <a:buNone/>
                      </a:pPr>
                      <a:r>
                        <a:rPr lang="fi-FI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DE" sz="160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48.7 </a:t>
                      </a:r>
                      <a:r>
                        <a:rPr lang="en-US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  <a:r>
                        <a:rPr lang="en-DE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mg/L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62 </a:t>
                      </a:r>
                      <a:r>
                        <a:rPr lang="en-US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  </a:t>
                      </a:r>
                      <a:r>
                        <a:rPr lang="en-DE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mg/L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2012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924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026E8C-2D09-40E0-9962-59B7F40C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6A56F737-D28C-817A-DFC6-FC28E01DF84E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D11A8-F98B-F7A5-B25E-E97CDE547E5A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				      </a:t>
            </a:r>
            <a:r>
              <a:rPr lang="en-DE" i="1" dirty="0">
                <a:solidFill>
                  <a:schemeClr val="bg1"/>
                </a:solidFill>
              </a:rPr>
              <a:t>UBA</a:t>
            </a: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		      </a:t>
            </a:r>
            <a:r>
              <a:rPr lang="en-DE" dirty="0">
                <a:solidFill>
                  <a:schemeClr val="bg1"/>
                </a:solidFill>
              </a:rPr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>
                <a:solidFill>
                  <a:schemeClr val="bg1"/>
                </a:solidFill>
              </a:rPr>
              <a:t>         </a:t>
            </a:r>
            <a:r>
              <a:rPr lang="en-US" dirty="0">
                <a:solidFill>
                  <a:schemeClr val="bg1"/>
                </a:solidFill>
              </a:rPr>
              <a:t>		          </a:t>
            </a:r>
            <a:r>
              <a:rPr lang="en-US" b="1" dirty="0">
                <a:solidFill>
                  <a:schemeClr val="bg1"/>
                </a:solidFill>
              </a:rPr>
              <a:t>master table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u="sng" dirty="0">
                <a:solidFill>
                  <a:schemeClr val="bg1"/>
                </a:solidFill>
              </a:rPr>
              <a:t>s</a:t>
            </a:r>
            <a:r>
              <a:rPr lang="en-DE" u="sng" dirty="0" err="1">
                <a:solidFill>
                  <a:schemeClr val="bg1"/>
                </a:solidFill>
              </a:rPr>
              <a:t>tation</a:t>
            </a:r>
            <a:r>
              <a:rPr lang="en-DE" u="sng" dirty="0">
                <a:solidFill>
                  <a:schemeClr val="bg1"/>
                </a:solidFill>
              </a:rPr>
              <a:t>-year </a:t>
            </a:r>
            <a:r>
              <a:rPr lang="en-DE" dirty="0">
                <a:solidFill>
                  <a:schemeClr val="bg1"/>
                </a:solidFill>
              </a:rPr>
              <a:t>base</a:t>
            </a:r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DE" dirty="0">
                <a:solidFill>
                  <a:schemeClr val="bg1"/>
                </a:solidFill>
              </a:rPr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>
                <a:solidFill>
                  <a:schemeClr val="bg1"/>
                </a:solidFill>
              </a:rPr>
              <a:t>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Dynamic World           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CORINE buffers            </a:t>
            </a:r>
            <a:r>
              <a:rPr lang="en-US" i="1" dirty="0">
                <a:solidFill>
                  <a:schemeClr val="bg1"/>
                </a:solidFill>
              </a:rPr>
              <a:t>      	 </a:t>
            </a:r>
            <a:r>
              <a:rPr lang="en-DE" i="1" dirty="0" err="1">
                <a:solidFill>
                  <a:schemeClr val="bg1"/>
                </a:solidFill>
              </a:rPr>
              <a:t>Regionalstatistik</a:t>
            </a:r>
            <a:endParaRPr lang="en-DE" i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Annual land cover  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500/1000 m shares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C96294-1A54-C49D-F573-B7F4D5A203E9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79AF426-F402-EFFB-7C1D-D50FD21EDD96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A15729-C782-59F4-EEFC-D5812D54C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155272"/>
              </p:ext>
            </p:extLst>
          </p:nvPr>
        </p:nvGraphicFramePr>
        <p:xfrm>
          <a:off x="1210794" y="4999807"/>
          <a:ext cx="9885992" cy="1173480"/>
        </p:xfrm>
        <a:graphic>
          <a:graphicData uri="http://schemas.openxmlformats.org/drawingml/2006/table">
            <a:tbl>
              <a:tblPr/>
              <a:tblGrid>
                <a:gridCol w="150551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524973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4837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1123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621143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57992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65944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7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64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36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1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0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2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32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142403-E567-4448-122A-C7B4DFF90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63991"/>
              </p:ext>
            </p:extLst>
          </p:nvPr>
        </p:nvGraphicFramePr>
        <p:xfrm>
          <a:off x="445541" y="2548634"/>
          <a:ext cx="11416497" cy="1731647"/>
        </p:xfrm>
        <a:graphic>
          <a:graphicData uri="http://schemas.openxmlformats.org/drawingml/2006/table">
            <a:tbl>
              <a:tblPr/>
              <a:tblGrid>
                <a:gridCol w="1522744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813301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983783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355743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421098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605568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714260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451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st_id</a:t>
                      </a:r>
                      <a:r>
                        <a:rPr lang="en-US" sz="18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year</a:t>
                      </a:r>
                      <a:endParaRPr lang="en-DE" sz="1800" dirty="0">
                        <a:solidFill>
                          <a:schemeClr val="bg2">
                            <a:lumMod val="75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station_name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water_body_id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water_body_name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sampling_depth_m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lon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lat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Emmen I</a:t>
                      </a:r>
                      <a:endParaRPr lang="en-DE" sz="1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DEGB_DENI_4_2103</a:t>
                      </a:r>
                      <a:endParaRPr lang="en-DE" sz="1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Ise </a:t>
                      </a:r>
                      <a:r>
                        <a:rPr lang="en-US" sz="14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Lockergestein</a:t>
                      </a: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re</a:t>
                      </a:r>
                      <a:endParaRPr lang="en-DE" sz="1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9.3</a:t>
                      </a:r>
                      <a:endParaRPr lang="en-DE" sz="1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106228076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527052441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683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F5F3E8-14A1-582B-533C-79B4D1A2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7D335564-2F16-95C0-0832-B6591DF312FA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891F9-3E22-0394-80FC-9C3AA7754031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				      </a:t>
            </a:r>
            <a:r>
              <a:rPr lang="en-DE" i="1" dirty="0">
                <a:solidFill>
                  <a:schemeClr val="bg1"/>
                </a:solidFill>
              </a:rPr>
              <a:t>UBA</a:t>
            </a: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		      </a:t>
            </a:r>
            <a:r>
              <a:rPr lang="en-DE" dirty="0">
                <a:solidFill>
                  <a:schemeClr val="bg1"/>
                </a:solidFill>
              </a:rPr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>
                <a:solidFill>
                  <a:schemeClr val="bg1"/>
                </a:solidFill>
              </a:rPr>
              <a:t>         </a:t>
            </a:r>
            <a:r>
              <a:rPr lang="en-US" dirty="0">
                <a:solidFill>
                  <a:schemeClr val="bg1"/>
                </a:solidFill>
              </a:rPr>
              <a:t>		          </a:t>
            </a:r>
            <a:r>
              <a:rPr lang="en-US" b="1" dirty="0">
                <a:solidFill>
                  <a:schemeClr val="bg1"/>
                </a:solidFill>
              </a:rPr>
              <a:t>master table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u="sng" dirty="0">
                <a:solidFill>
                  <a:schemeClr val="bg1"/>
                </a:solidFill>
              </a:rPr>
              <a:t>s</a:t>
            </a:r>
            <a:r>
              <a:rPr lang="en-DE" u="sng" dirty="0" err="1">
                <a:solidFill>
                  <a:schemeClr val="bg1"/>
                </a:solidFill>
              </a:rPr>
              <a:t>tation</a:t>
            </a:r>
            <a:r>
              <a:rPr lang="en-DE" u="sng" dirty="0">
                <a:solidFill>
                  <a:schemeClr val="bg1"/>
                </a:solidFill>
              </a:rPr>
              <a:t>-year </a:t>
            </a:r>
            <a:r>
              <a:rPr lang="en-DE" dirty="0">
                <a:solidFill>
                  <a:schemeClr val="bg1"/>
                </a:solidFill>
              </a:rPr>
              <a:t>base</a:t>
            </a:r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DE" dirty="0">
                <a:solidFill>
                  <a:schemeClr val="bg1"/>
                </a:solidFill>
              </a:rPr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>
                <a:solidFill>
                  <a:schemeClr val="bg1"/>
                </a:solidFill>
              </a:rPr>
              <a:t>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Dynamic World           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CORINE buffers            </a:t>
            </a:r>
            <a:r>
              <a:rPr lang="en-US" i="1" dirty="0">
                <a:solidFill>
                  <a:schemeClr val="bg1"/>
                </a:solidFill>
              </a:rPr>
              <a:t>      	 </a:t>
            </a:r>
            <a:r>
              <a:rPr lang="en-DE" i="1" dirty="0" err="1">
                <a:solidFill>
                  <a:schemeClr val="bg1"/>
                </a:solidFill>
              </a:rPr>
              <a:t>Regionalstatistik</a:t>
            </a:r>
            <a:endParaRPr lang="en-DE" i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Annual land cover  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500/1000 m shares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A7C6D75-B8B4-97B0-0C04-9950C5AC2200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072985-FF84-DD13-920C-6772230B1A7C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2E4111-5304-D52C-C20D-E52755081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451993"/>
              </p:ext>
            </p:extLst>
          </p:nvPr>
        </p:nvGraphicFramePr>
        <p:xfrm>
          <a:off x="1210794" y="4999807"/>
          <a:ext cx="9885992" cy="1173480"/>
        </p:xfrm>
        <a:graphic>
          <a:graphicData uri="http://schemas.openxmlformats.org/drawingml/2006/table">
            <a:tbl>
              <a:tblPr/>
              <a:tblGrid>
                <a:gridCol w="150551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524973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4837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1123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621143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57992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65944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7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64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36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1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2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32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F2C7FE-50E5-BD95-8CBB-948856741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979038"/>
              </p:ext>
            </p:extLst>
          </p:nvPr>
        </p:nvGraphicFramePr>
        <p:xfrm>
          <a:off x="173619" y="3171134"/>
          <a:ext cx="11806178" cy="1245584"/>
        </p:xfrm>
        <a:graphic>
          <a:graphicData uri="http://schemas.openxmlformats.org/drawingml/2006/table">
            <a:tbl>
              <a:tblPr/>
              <a:tblGrid>
                <a:gridCol w="1655181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24885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511706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569580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2581154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514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st_id</a:t>
                      </a:r>
                      <a:r>
                        <a:rPr lang="en-US" sz="16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 year</a:t>
                      </a:r>
                      <a:endParaRPr lang="en-DE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dw_crops_share_500m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dw_trees_share_500m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dw_crops_share_1000m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dw_trees_share</a:t>
                      </a: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_</a:t>
                      </a: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10</a:t>
                      </a: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0.9858760148435586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0.00856644125052586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0.9701641039035896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0.010202338932703019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494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51242A-0F98-9519-1BE7-B7C0A9C9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779D0C5-81AF-3AE8-60B1-24AF0B71821E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19575-6301-88C3-A0EF-FFF5077B84A3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				      </a:t>
            </a:r>
            <a:r>
              <a:rPr lang="en-DE" i="1" dirty="0"/>
              <a:t>UBA</a:t>
            </a:r>
            <a:br>
              <a:rPr lang="en-US" i="1" dirty="0"/>
            </a:br>
            <a:r>
              <a:rPr lang="en-US" i="1" dirty="0"/>
              <a:t>		      </a:t>
            </a:r>
            <a:r>
              <a:rPr lang="en-DE" dirty="0"/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</a:t>
            </a:r>
            <a:r>
              <a:rPr lang="en-US" dirty="0"/>
              <a:t>		          </a:t>
            </a:r>
            <a:r>
              <a:rPr lang="en-US" b="1" dirty="0"/>
              <a:t>master table</a:t>
            </a:r>
            <a:r>
              <a:rPr lang="en-US" dirty="0"/>
              <a:t>:</a:t>
            </a:r>
            <a:r>
              <a:rPr lang="en-DE" dirty="0"/>
              <a:t> </a:t>
            </a:r>
            <a:r>
              <a:rPr lang="en-US" u="sng" dirty="0"/>
              <a:t>s</a:t>
            </a:r>
            <a:r>
              <a:rPr lang="en-DE" u="sng" dirty="0" err="1"/>
              <a:t>tation</a:t>
            </a:r>
            <a:r>
              <a:rPr lang="en-DE" u="sng" dirty="0"/>
              <a:t>-year </a:t>
            </a:r>
            <a:r>
              <a:rPr lang="en-DE" dirty="0"/>
              <a:t>base</a:t>
            </a:r>
            <a:r>
              <a:rPr lang="en-US" dirty="0"/>
              <a:t>d</a:t>
            </a:r>
            <a:r>
              <a:rPr lang="en-DE" dirty="0"/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/>
              <a:t>   </a:t>
            </a:r>
            <a:r>
              <a:rPr lang="en-US" i="1" dirty="0"/>
              <a:t>	</a:t>
            </a:r>
            <a:r>
              <a:rPr lang="en-DE" i="1" dirty="0"/>
              <a:t>Dynamic World              </a:t>
            </a:r>
            <a:r>
              <a:rPr lang="en-US" i="1" dirty="0"/>
              <a:t>	</a:t>
            </a:r>
            <a:r>
              <a:rPr lang="en-DE" i="1" dirty="0"/>
              <a:t>CORINE buffers            </a:t>
            </a:r>
            <a:r>
              <a:rPr lang="en-US" i="1" dirty="0"/>
              <a:t>      	 </a:t>
            </a:r>
            <a:r>
              <a:rPr lang="en-DE" i="1" dirty="0" err="1"/>
              <a:t>Regionalstatistik</a:t>
            </a:r>
            <a:endParaRPr lang="en-DE" i="1" dirty="0"/>
          </a:p>
          <a:p>
            <a:r>
              <a:rPr lang="en-DE" dirty="0"/>
              <a:t>  </a:t>
            </a:r>
            <a:r>
              <a:rPr lang="en-US" dirty="0"/>
              <a:t>	</a:t>
            </a:r>
            <a:r>
              <a:rPr lang="en-DE" dirty="0"/>
              <a:t>Annual land cover          </a:t>
            </a:r>
            <a:r>
              <a:rPr lang="en-US" dirty="0"/>
              <a:t>	</a:t>
            </a:r>
            <a:r>
              <a:rPr lang="en-DE" dirty="0"/>
              <a:t>500/1000 m shares        </a:t>
            </a:r>
            <a:r>
              <a:rPr lang="en-US" dirty="0"/>
              <a:t>	</a:t>
            </a:r>
            <a:r>
              <a:rPr lang="en-DE" dirty="0"/>
              <a:t>Agricultural structure</a:t>
            </a:r>
          </a:p>
          <a:p>
            <a:r>
              <a:rPr lang="en-DE" sz="1600" dirty="0"/>
              <a:t>│</a:t>
            </a:r>
          </a:p>
          <a:p>
            <a:r>
              <a:rPr lang="en-DE" sz="1200" dirty="0">
                <a:solidFill>
                  <a:schemeClr val="bg1"/>
                </a:solidFill>
              </a:rPr>
              <a:t>▼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</a:p>
          <a:p>
            <a:r>
              <a:rPr lang="en-DE" dirty="0"/>
              <a:t>               </a:t>
            </a:r>
            <a:r>
              <a:rPr lang="en-US" dirty="0"/>
              <a:t>                          </a:t>
            </a:r>
            <a:r>
              <a:rPr lang="en-DE" b="1" dirty="0"/>
              <a:t>Fixed Effects </a:t>
            </a:r>
            <a:r>
              <a:rPr lang="en-DE" dirty="0"/>
              <a:t>• Event Study • </a:t>
            </a:r>
            <a:r>
              <a:rPr lang="en-DE" b="1" dirty="0" err="1"/>
              <a:t>DiD</a:t>
            </a:r>
            <a:r>
              <a:rPr lang="en-DE" dirty="0"/>
              <a:t> </a:t>
            </a:r>
            <a:r>
              <a:rPr lang="en-DE" dirty="0">
                <a:solidFill>
                  <a:schemeClr val="bg1">
                    <a:lumMod val="65000"/>
                  </a:schemeClr>
                </a:solidFill>
              </a:rPr>
              <a:t>• ML Models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FD90AD-D161-797F-8440-41155DA6EE46}"/>
              </a:ext>
            </a:extLst>
          </p:cNvPr>
          <p:cNvCxnSpPr/>
          <p:nvPr/>
        </p:nvCxnSpPr>
        <p:spPr>
          <a:xfrm>
            <a:off x="5863771" y="1785257"/>
            <a:ext cx="0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7F4B40-8422-7BBC-727F-DF79AB3DA5CE}"/>
              </a:ext>
            </a:extLst>
          </p:cNvPr>
          <p:cNvCxnSpPr/>
          <p:nvPr/>
        </p:nvCxnSpPr>
        <p:spPr>
          <a:xfrm>
            <a:off x="5863771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97A680-3E9A-17CB-B01D-2302B8D2F186}"/>
              </a:ext>
            </a:extLst>
          </p:cNvPr>
          <p:cNvCxnSpPr>
            <a:cxnSpLocks/>
          </p:cNvCxnSpPr>
          <p:nvPr/>
        </p:nvCxnSpPr>
        <p:spPr>
          <a:xfrm>
            <a:off x="5863771" y="4165600"/>
            <a:ext cx="0" cy="31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075BD2-9639-573A-6F14-A00665BFAE17}"/>
              </a:ext>
            </a:extLst>
          </p:cNvPr>
          <p:cNvCxnSpPr>
            <a:cxnSpLocks/>
          </p:cNvCxnSpPr>
          <p:nvPr/>
        </p:nvCxnSpPr>
        <p:spPr>
          <a:xfrm>
            <a:off x="3178629" y="2815771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10E239-6C4E-4B0C-9BB2-88B8568F10F5}"/>
              </a:ext>
            </a:extLst>
          </p:cNvPr>
          <p:cNvCxnSpPr>
            <a:cxnSpLocks/>
          </p:cNvCxnSpPr>
          <p:nvPr/>
        </p:nvCxnSpPr>
        <p:spPr>
          <a:xfrm>
            <a:off x="3178629" y="4165600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E41492-1912-1399-EE1E-A50DE7DE5A18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98D28C-A0E5-5071-C84B-24F67BB996DF}"/>
              </a:ext>
            </a:extLst>
          </p:cNvPr>
          <p:cNvCxnSpPr/>
          <p:nvPr/>
        </p:nvCxnSpPr>
        <p:spPr>
          <a:xfrm>
            <a:off x="3178629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F5EC0D-23FF-2581-BDC4-1FDF8E2CFBE7}"/>
              </a:ext>
            </a:extLst>
          </p:cNvPr>
          <p:cNvCxnSpPr/>
          <p:nvPr/>
        </p:nvCxnSpPr>
        <p:spPr>
          <a:xfrm>
            <a:off x="8969829" y="2823027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68371C-1345-EFF5-860E-6B0C3BF7A9A3}"/>
              </a:ext>
            </a:extLst>
          </p:cNvPr>
          <p:cNvCxnSpPr/>
          <p:nvPr/>
        </p:nvCxnSpPr>
        <p:spPr>
          <a:xfrm>
            <a:off x="3178629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F8D75B-1BDE-078F-3220-A4A7063A36FF}"/>
              </a:ext>
            </a:extLst>
          </p:cNvPr>
          <p:cNvCxnSpPr/>
          <p:nvPr/>
        </p:nvCxnSpPr>
        <p:spPr>
          <a:xfrm>
            <a:off x="5863771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A6763F-ED69-B4FB-55AF-E4ECBEF157E7}"/>
              </a:ext>
            </a:extLst>
          </p:cNvPr>
          <p:cNvCxnSpPr/>
          <p:nvPr/>
        </p:nvCxnSpPr>
        <p:spPr>
          <a:xfrm>
            <a:off x="8969829" y="3955143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13319D-13AB-1B5B-3031-938B6C954208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80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7110-5B0E-0B02-9BDC-37874F51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580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C256-EBE8-7EA7-2CF5-9487B0F3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B42D4B0-2D10-3D93-5EF3-6E15B45D0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2" y="1480351"/>
            <a:ext cx="8311908" cy="4342438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276F9C-4642-EF08-ED50-29F9DFCA0F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Data Availability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A3031-2D46-5074-6B6A-5F2607C31FD2}"/>
              </a:ext>
            </a:extLst>
          </p:cNvPr>
          <p:cNvSpPr txBox="1"/>
          <p:nvPr/>
        </p:nvSpPr>
        <p:spPr>
          <a:xfrm>
            <a:off x="5625193" y="1595854"/>
            <a:ext cx="324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Main study window</a:t>
            </a:r>
          </a:p>
        </p:txBody>
      </p:sp>
    </p:spTree>
    <p:extLst>
      <p:ext uri="{BB962C8B-B14F-4D97-AF65-F5344CB8AC3E}">
        <p14:creationId xmlns:p14="http://schemas.microsoft.com/office/powerpoint/2010/main" val="23320374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2362-EA35-DD9D-4C56-28409B55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6691FDA-C555-ACE9-E102-67D41D846C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799" y="2163536"/>
            <a:ext cx="3163951" cy="1347107"/>
          </a:xfrm>
        </p:spPr>
        <p:txBody>
          <a:bodyPr/>
          <a:lstStyle/>
          <a:p>
            <a:pPr marL="0" indent="0">
              <a:buNone/>
            </a:pPr>
            <a:r>
              <a:rPr lang="en-DE" dirty="0"/>
              <a:t>Groundwater stations nitrate measurements</a:t>
            </a:r>
          </a:p>
          <a:p>
            <a:pPr marL="0" indent="0">
              <a:buNone/>
            </a:pPr>
            <a:endParaRPr lang="en-DE" dirty="0"/>
          </a:p>
          <a:p>
            <a:endParaRPr lang="en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1DBDAA-ADE3-E9D3-4E3B-FDD7669ED6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Panel Data Set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3C51B643-6D85-C6F0-506F-0DC1647C7B13}"/>
              </a:ext>
            </a:extLst>
          </p:cNvPr>
          <p:cNvSpPr txBox="1">
            <a:spLocks/>
          </p:cNvSpPr>
          <p:nvPr/>
        </p:nvSpPr>
        <p:spPr>
          <a:xfrm>
            <a:off x="7929500" y="2163415"/>
            <a:ext cx="3355521" cy="522514"/>
          </a:xfrm>
          <a:prstGeom prst="rect">
            <a:avLst/>
          </a:prstGeom>
        </p:spPr>
        <p:txBody>
          <a:bodyPr lIns="0" t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DE" dirty="0"/>
              <a:t>+ Land Cover Data</a:t>
            </a:r>
          </a:p>
          <a:p>
            <a:endParaRPr lang="en-DE" dirty="0"/>
          </a:p>
        </p:txBody>
      </p:sp>
      <p:sp>
        <p:nvSpPr>
          <p:cNvPr id="5" name="Textplatzhalter 1">
            <a:extLst>
              <a:ext uri="{FF2B5EF4-FFF2-40B4-BE49-F238E27FC236}">
                <a16:creationId xmlns:a16="http://schemas.microsoft.com/office/drawing/2014/main" id="{C46A7D2C-5921-B113-94B6-3A0932D9B22D}"/>
              </a:ext>
            </a:extLst>
          </p:cNvPr>
          <p:cNvSpPr txBox="1">
            <a:spLocks/>
          </p:cNvSpPr>
          <p:nvPr/>
        </p:nvSpPr>
        <p:spPr>
          <a:xfrm>
            <a:off x="4128036" y="2163415"/>
            <a:ext cx="4008664" cy="889907"/>
          </a:xfrm>
          <a:prstGeom prst="rect">
            <a:avLst/>
          </a:prstGeom>
        </p:spPr>
        <p:txBody>
          <a:bodyPr lIns="0" t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DE" dirty="0"/>
              <a:t>+ Regionalstatistik data </a:t>
            </a:r>
          </a:p>
          <a:p>
            <a:pPr marL="0" indent="0">
              <a:buNone/>
            </a:pPr>
            <a:r>
              <a:rPr lang="en-DE" dirty="0"/>
              <a:t>(esp. Organic Farming Share)</a:t>
            </a:r>
          </a:p>
          <a:p>
            <a:pPr marL="0" indent="0">
              <a:buNone/>
            </a:pPr>
            <a:endParaRPr lang="en-DE" dirty="0"/>
          </a:p>
          <a:p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56C1C-FD70-4A0B-5530-0B454085BBD1}"/>
              </a:ext>
            </a:extLst>
          </p:cNvPr>
          <p:cNvSpPr txBox="1"/>
          <p:nvPr/>
        </p:nvSpPr>
        <p:spPr>
          <a:xfrm>
            <a:off x="550799" y="3429000"/>
            <a:ext cx="2543465" cy="369332"/>
          </a:xfrm>
          <a:prstGeom prst="rect">
            <a:avLst/>
          </a:prstGeom>
        </p:spPr>
        <p:txBody>
          <a:bodyPr lIns="0" tIns="0"/>
          <a:lstStyle>
            <a:lvl1pPr indent="0">
              <a:lnSpc>
                <a:spcPts val="2400"/>
              </a:lnSpc>
              <a:spcBef>
                <a:spcPts val="1000"/>
              </a:spcBef>
              <a:buFont typeface="Symbol" pitchFamily="2" charset="2"/>
              <a:buNone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baseline: </a:t>
            </a:r>
            <a:r>
              <a:rPr lang="en-DE" dirty="0"/>
              <a:t>station-year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C1C78-FCF4-4800-5424-DDB4580BCBF8}"/>
              </a:ext>
            </a:extLst>
          </p:cNvPr>
          <p:cNvSpPr txBox="1"/>
          <p:nvPr/>
        </p:nvSpPr>
        <p:spPr>
          <a:xfrm>
            <a:off x="4128036" y="3428879"/>
            <a:ext cx="3180978" cy="375680"/>
          </a:xfrm>
          <a:prstGeom prst="rect">
            <a:avLst/>
          </a:prstGeom>
        </p:spPr>
        <p:txBody>
          <a:bodyPr lIns="0" tIns="0"/>
          <a:lstStyle>
            <a:lvl1pPr indent="0">
              <a:lnSpc>
                <a:spcPts val="2400"/>
              </a:lnSpc>
              <a:spcBef>
                <a:spcPts val="1000"/>
              </a:spcBef>
              <a:buFont typeface="Symbol" pitchFamily="2" charset="2"/>
              <a:buNone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/>
              <a:t>Station-D</a:t>
            </a:r>
            <a:r>
              <a:rPr lang="en-DE" dirty="0"/>
              <a:t>istrict level mapping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49C5F-64E3-47DC-C4AB-99563031870E}"/>
              </a:ext>
            </a:extLst>
          </p:cNvPr>
          <p:cNvSpPr txBox="1"/>
          <p:nvPr/>
        </p:nvSpPr>
        <p:spPr>
          <a:xfrm>
            <a:off x="7929500" y="3428878"/>
            <a:ext cx="3296330" cy="375680"/>
          </a:xfrm>
          <a:prstGeom prst="rect">
            <a:avLst/>
          </a:prstGeom>
        </p:spPr>
        <p:txBody>
          <a:bodyPr lIns="0" tIns="0"/>
          <a:lstStyle>
            <a:lvl1pPr indent="0">
              <a:lnSpc>
                <a:spcPts val="2400"/>
              </a:lnSpc>
              <a:spcBef>
                <a:spcPts val="1000"/>
              </a:spcBef>
              <a:buFont typeface="Symbol" pitchFamily="2" charset="2"/>
              <a:buNone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DE" dirty="0"/>
              <a:t>500m buffer around stations</a:t>
            </a:r>
          </a:p>
        </p:txBody>
      </p:sp>
    </p:spTree>
    <p:extLst>
      <p:ext uri="{BB962C8B-B14F-4D97-AF65-F5344CB8AC3E}">
        <p14:creationId xmlns:p14="http://schemas.microsoft.com/office/powerpoint/2010/main" val="833249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11D5-C7E2-B835-1191-4B42F5FE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BD59F0-E016-D466-D132-53232C828D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Exploratory Data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D3AF74-7763-736C-C072-EDFD3EC7C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54" y="2385503"/>
            <a:ext cx="5633114" cy="3107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9DF8F1-D22B-FD26-FF09-A11AF5F6C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87" y="2287439"/>
            <a:ext cx="5810899" cy="32052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88E2BA-4699-280C-5612-E61920CD3355}"/>
              </a:ext>
            </a:extLst>
          </p:cNvPr>
          <p:cNvSpPr txBox="1"/>
          <p:nvPr/>
        </p:nvSpPr>
        <p:spPr>
          <a:xfrm>
            <a:off x="1738993" y="1979662"/>
            <a:ext cx="373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Trend of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noProof="0" dirty="0" err="1">
                <a:latin typeface="Arial" panose="020B0604020202020204" pitchFamily="34" charset="0"/>
                <a:cs typeface="Arial" panose="020B0604020202020204" pitchFamily="34" charset="0"/>
              </a:rPr>
              <a:t>rganic</a:t>
            </a:r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 farming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hare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23DFC6-0D00-7C57-8A88-9967B7012CA5}"/>
              </a:ext>
            </a:extLst>
          </p:cNvPr>
          <p:cNvSpPr txBox="1"/>
          <p:nvPr/>
        </p:nvSpPr>
        <p:spPr>
          <a:xfrm>
            <a:off x="7345135" y="1979662"/>
            <a:ext cx="373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Trend of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nitrate concentration</a:t>
            </a:r>
            <a:endParaRPr lang="en-US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896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6697E-105C-FF00-6EDC-CE90FC1B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069EF1-4A7D-994F-E0BB-330884EC6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Exploratory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1B8A5B-4CEF-CEBB-04E7-5ED378A61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67" y="2192118"/>
            <a:ext cx="5314173" cy="3256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6D3959-5DBB-C38B-51EE-0FABEA17A9AF}"/>
              </a:ext>
            </a:extLst>
          </p:cNvPr>
          <p:cNvSpPr txBox="1"/>
          <p:nvPr/>
        </p:nvSpPr>
        <p:spPr>
          <a:xfrm>
            <a:off x="987879" y="1731819"/>
            <a:ext cx="4694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Organic share level vs nitrate level (2020)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497C6-9AAF-F998-F139-1181D3721BBA}"/>
              </a:ext>
            </a:extLst>
          </p:cNvPr>
          <p:cNvSpPr txBox="1"/>
          <p:nvPr/>
        </p:nvSpPr>
        <p:spPr>
          <a:xfrm>
            <a:off x="6580414" y="1721533"/>
            <a:ext cx="50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Organic growth vs nitrate change (2016 – 2020)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4237CA-19AF-4F8A-8349-5CD688B7C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959" y="2192118"/>
            <a:ext cx="5314173" cy="325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49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E674CE-94E6-FAF0-1A63-FBE2F3050E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742932"/>
            <a:ext cx="3376221" cy="3556343"/>
          </a:xfrm>
        </p:spPr>
        <p:txBody>
          <a:bodyPr/>
          <a:lstStyle/>
          <a:p>
            <a:pPr marL="0" indent="0">
              <a:buNone/>
            </a:pPr>
            <a:r>
              <a:rPr lang="en-DE" dirty="0"/>
              <a:t>Organic growth in 2020:</a:t>
            </a:r>
          </a:p>
          <a:p>
            <a:r>
              <a:rPr lang="en-GB" dirty="0"/>
              <a:t>Low-growth districts = bottom 25% of districts by organic farming share increase</a:t>
            </a:r>
          </a:p>
          <a:p>
            <a:r>
              <a:rPr lang="en-GB" dirty="0"/>
              <a:t>High-growth districts = top 25% of districts by organic farming share increase</a:t>
            </a:r>
          </a:p>
          <a:p>
            <a:endParaRPr lang="en-GB" dirty="0"/>
          </a:p>
          <a:p>
            <a:r>
              <a:rPr lang="en-DE" b="1" dirty="0"/>
              <a:t>Parallel trends are not clean</a:t>
            </a:r>
          </a:p>
          <a:p>
            <a:endParaRPr lang="en-GB" dirty="0"/>
          </a:p>
          <a:p>
            <a:endParaRPr lang="en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ED1F4-9E97-07C4-7C12-46C8E34AAA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3D859-7C0C-D894-6604-51573481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406" y="1742932"/>
            <a:ext cx="6683794" cy="38264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29227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408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8069F-09E0-6C14-A8F6-1BA7334220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Current status of our project:</a:t>
            </a:r>
          </a:p>
          <a:p>
            <a:r>
              <a:rPr lang="en-US" dirty="0"/>
              <a:t>Exploring and Testing Econometric and </a:t>
            </a:r>
            <a:r>
              <a:rPr lang="en-US" dirty="0" err="1"/>
              <a:t>DiD</a:t>
            </a:r>
            <a:r>
              <a:rPr lang="en-US" dirty="0"/>
              <a:t> Setups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681274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8742-043F-5D3A-44C2-422EB5CD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F6D84-73AC-0896-BA1E-BB228BCB4F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Current status of our project:</a:t>
            </a:r>
          </a:p>
          <a:p>
            <a:r>
              <a:rPr lang="en-US" dirty="0"/>
              <a:t>Exploring and Testing Econometric and </a:t>
            </a:r>
            <a:r>
              <a:rPr lang="en-US" dirty="0" err="1"/>
              <a:t>DiD</a:t>
            </a:r>
            <a:r>
              <a:rPr lang="en-US" dirty="0"/>
              <a:t> Setups</a:t>
            </a:r>
            <a:endParaRPr lang="en-DE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FAD04AA8-4573-A2BB-0D62-632DD41AFD88}"/>
              </a:ext>
            </a:extLst>
          </p:cNvPr>
          <p:cNvSpPr txBox="1">
            <a:spLocks/>
          </p:cNvSpPr>
          <p:nvPr/>
        </p:nvSpPr>
        <p:spPr>
          <a:xfrm>
            <a:off x="555867" y="1912394"/>
            <a:ext cx="9946678" cy="40935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800" dirty="0"/>
              <a:t>Fixed-effects panel regression,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33404074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50575-1EBF-6075-1B5C-DE8C46E9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80C2703-4E91-1476-6950-C5501D54DEBF}"/>
              </a:ext>
            </a:extLst>
          </p:cNvPr>
          <p:cNvSpPr txBox="1">
            <a:spLocks/>
          </p:cNvSpPr>
          <p:nvPr/>
        </p:nvSpPr>
        <p:spPr>
          <a:xfrm>
            <a:off x="555867" y="1912394"/>
            <a:ext cx="9946678" cy="40935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800" dirty="0"/>
              <a:t>Fixed-effects panel regression,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Event study,</a:t>
            </a:r>
            <a:endParaRPr lang="en-DE" sz="28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E6C202E-B930-4B15-640D-7B495B17E7BA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Current status of our project:</a:t>
            </a:r>
          </a:p>
          <a:p>
            <a:r>
              <a:rPr lang="en-US"/>
              <a:t>Exploring and Testing Econometric and DiD Setups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076098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4152E-09B0-2ACC-BE0E-0966A043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5D541E-1719-B9E4-2F8D-0965CF13312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5867" y="1912394"/>
            <a:ext cx="9946678" cy="40935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Fixed-effects panel regression,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Event study,</a:t>
            </a:r>
            <a:endParaRPr lang="en-DE" sz="2800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ABDF03F-D4A0-7EEF-F4CD-48E173AC82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625" y="396875"/>
            <a:ext cx="8312150" cy="717550"/>
          </a:xfrm>
        </p:spPr>
        <p:txBody>
          <a:bodyPr/>
          <a:lstStyle/>
          <a:p>
            <a:r>
              <a:rPr lang="en-US" dirty="0"/>
              <a:t>Current status of our project:</a:t>
            </a:r>
          </a:p>
          <a:p>
            <a:r>
              <a:rPr lang="en-US" dirty="0"/>
              <a:t>Exploring and Testing Econometric and </a:t>
            </a:r>
            <a:r>
              <a:rPr lang="en-US" dirty="0" err="1"/>
              <a:t>DiD</a:t>
            </a:r>
            <a:r>
              <a:rPr lang="en-US" dirty="0"/>
              <a:t> Setups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795293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44E0A-CAC5-808C-667A-E40ADF9B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A73A23-C7B9-3115-CF8C-E1E7D3B49C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5867" y="1946198"/>
            <a:ext cx="9946678" cy="40935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Fixed-effects panel regression,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Event study,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Staggered Adoption,</a:t>
            </a:r>
            <a:endParaRPr lang="en-DE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68294-C443-CEB7-B7BF-ABB514BAE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Current status of our project:</a:t>
            </a:r>
          </a:p>
          <a:p>
            <a:r>
              <a:rPr lang="en-US" dirty="0"/>
              <a:t>Exploring and Testing Econometric and </a:t>
            </a:r>
            <a:r>
              <a:rPr lang="en-US" dirty="0" err="1"/>
              <a:t>DiD</a:t>
            </a:r>
            <a:r>
              <a:rPr lang="en-US" dirty="0"/>
              <a:t> Setups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362020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F7F0-6744-D268-0A99-D6388397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E09993-BF45-7DD6-D46F-840C9EFD220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5867" y="1989885"/>
            <a:ext cx="9946678" cy="40935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Fixed-effects panel regression,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Event study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Staggered Adoption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Advanced </a:t>
            </a:r>
            <a:r>
              <a:rPr lang="en-US" sz="2800" dirty="0" err="1"/>
              <a:t>DiD</a:t>
            </a:r>
            <a:r>
              <a:rPr lang="en-US" sz="2800" dirty="0"/>
              <a:t> methods: 	- CSDID,</a:t>
            </a:r>
            <a:br>
              <a:rPr lang="en-US" sz="2800" dirty="0"/>
            </a:br>
            <a:r>
              <a:rPr lang="en-US" sz="2800" dirty="0"/>
              <a:t>					- DRDID,</a:t>
            </a:r>
            <a:br>
              <a:rPr lang="en-US" sz="2800" dirty="0"/>
            </a:br>
            <a:r>
              <a:rPr lang="en-US" sz="2800" dirty="0"/>
              <a:t>					- </a:t>
            </a:r>
            <a:r>
              <a:rPr lang="en-US" sz="2800" dirty="0">
                <a:solidFill>
                  <a:schemeClr val="bg1"/>
                </a:solidFill>
              </a:rPr>
              <a:t>Distributed-Lag DID,</a:t>
            </a:r>
          </a:p>
          <a:p>
            <a:pPr marL="342900" indent="-342900">
              <a:buFont typeface="+mj-lt"/>
              <a:buAutoNum type="arabicPeriod"/>
            </a:pPr>
            <a:endParaRPr lang="en-DE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E7864-DD3C-ADE1-3879-DC55C54CE4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Current status of our project:</a:t>
            </a:r>
          </a:p>
          <a:p>
            <a:r>
              <a:rPr lang="en-US" dirty="0"/>
              <a:t>Exploring and Testing Econometric and </a:t>
            </a:r>
            <a:r>
              <a:rPr lang="en-US" dirty="0" err="1"/>
              <a:t>DiD</a:t>
            </a:r>
            <a:r>
              <a:rPr lang="en-US" dirty="0"/>
              <a:t> Setups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520949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1118-8AEA-DF97-BD34-F3B2D055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0401D6-8C20-5021-32FC-FE7629BBF7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5867" y="1989885"/>
            <a:ext cx="9946678" cy="40935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Fixed-effects panel regression,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Event study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Staggered Adoption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Advanced </a:t>
            </a:r>
            <a:r>
              <a:rPr lang="en-US" sz="2800" dirty="0" err="1"/>
              <a:t>DiD</a:t>
            </a:r>
            <a:r>
              <a:rPr lang="en-US" sz="2800" dirty="0"/>
              <a:t> methods: 	- CSDID,</a:t>
            </a:r>
            <a:br>
              <a:rPr lang="en-US" sz="2800" dirty="0"/>
            </a:br>
            <a:r>
              <a:rPr lang="en-US" sz="2800" dirty="0"/>
              <a:t>					- DRDID,</a:t>
            </a:r>
            <a:br>
              <a:rPr lang="en-US" sz="2800" dirty="0"/>
            </a:br>
            <a:r>
              <a:rPr lang="en-US" sz="2800" dirty="0"/>
              <a:t>					- </a:t>
            </a:r>
            <a:r>
              <a:rPr lang="en-US" sz="2800" dirty="0">
                <a:solidFill>
                  <a:schemeClr val="bg1"/>
                </a:solidFill>
              </a:rPr>
              <a:t>Distributed-Lag DID,</a:t>
            </a:r>
          </a:p>
          <a:p>
            <a:pPr marL="342900" indent="-342900">
              <a:buFont typeface="+mj-lt"/>
              <a:buAutoNum type="arabicPeriod"/>
            </a:pPr>
            <a:endParaRPr lang="en-DE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B722E-DE42-4AB6-2E0D-D78A54392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Current status of our project:</a:t>
            </a:r>
          </a:p>
          <a:p>
            <a:r>
              <a:rPr lang="en-US" dirty="0"/>
              <a:t>Exploring and Testing Econometric and </a:t>
            </a:r>
            <a:r>
              <a:rPr lang="en-US" dirty="0" err="1"/>
              <a:t>DiD</a:t>
            </a:r>
            <a:r>
              <a:rPr lang="en-US" dirty="0"/>
              <a:t> Setups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628911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1BB8-3E3A-1609-0011-7DA2914CF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71F1DA-1BC7-C548-6453-9FDC739917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5867" y="1940339"/>
            <a:ext cx="9946678" cy="40935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Fixed-effects panel regression,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Event study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Staggered Adoption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Advanced </a:t>
            </a:r>
            <a:r>
              <a:rPr lang="en-US" sz="2800" dirty="0" err="1"/>
              <a:t>DiD</a:t>
            </a:r>
            <a:r>
              <a:rPr lang="en-US" sz="2800" dirty="0"/>
              <a:t> methods: 	- CSDID,</a:t>
            </a:r>
            <a:br>
              <a:rPr lang="en-US" sz="2800" dirty="0"/>
            </a:br>
            <a:r>
              <a:rPr lang="en-US" sz="2800" dirty="0"/>
              <a:t>					- DRDID,</a:t>
            </a:r>
            <a:br>
              <a:rPr lang="en-US" sz="2800" dirty="0"/>
            </a:br>
            <a:r>
              <a:rPr lang="en-US" sz="2800" dirty="0"/>
              <a:t>					- Distributed-Lag DID</a:t>
            </a:r>
          </a:p>
          <a:p>
            <a:pPr marL="342900" indent="-342900">
              <a:buFont typeface="+mj-lt"/>
              <a:buAutoNum type="arabicPeriod"/>
            </a:pPr>
            <a:endParaRPr lang="en-DE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79191-2B4C-B13B-53C6-D5FF29C57E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Current status of our project:</a:t>
            </a:r>
          </a:p>
          <a:p>
            <a:r>
              <a:rPr lang="en-US" dirty="0"/>
              <a:t>Exploring and Testing Econometric and </a:t>
            </a:r>
            <a:r>
              <a:rPr lang="en-US" dirty="0" err="1"/>
              <a:t>DiD</a:t>
            </a:r>
            <a:r>
              <a:rPr lang="en-US" dirty="0"/>
              <a:t> Setups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958688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07F1-09DB-62F0-9902-404FD0BF0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C81B75-274C-938C-AF5A-6775DB8614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5867" y="1955837"/>
            <a:ext cx="9946678" cy="40935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Fixed-effects panel regression,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Event study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Staggered Adoption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Advanced </a:t>
            </a:r>
            <a:r>
              <a:rPr lang="en-US" sz="2800" dirty="0" err="1"/>
              <a:t>DiD</a:t>
            </a:r>
            <a:r>
              <a:rPr lang="en-US" sz="2800" dirty="0"/>
              <a:t> methods: 	- CSDID,</a:t>
            </a:r>
            <a:br>
              <a:rPr lang="en-US" sz="2800" dirty="0"/>
            </a:br>
            <a:r>
              <a:rPr lang="en-US" sz="2800" dirty="0"/>
              <a:t>					- DRDID,</a:t>
            </a:r>
            <a:br>
              <a:rPr lang="en-US" sz="2800" dirty="0"/>
            </a:br>
            <a:r>
              <a:rPr lang="en-US" sz="2800" dirty="0"/>
              <a:t>					- Distributed-Lag DID</a:t>
            </a:r>
          </a:p>
          <a:p>
            <a:pPr marL="342900" indent="-342900">
              <a:buFont typeface="+mj-lt"/>
              <a:buAutoNum type="arabicPeriod"/>
            </a:pPr>
            <a:endParaRPr lang="en-DE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F709F-2B85-C8CF-5646-C96683326A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Current status of our project:</a:t>
            </a:r>
          </a:p>
          <a:p>
            <a:r>
              <a:rPr lang="en-US" dirty="0"/>
              <a:t>Exploring and Testing Econometric and </a:t>
            </a:r>
            <a:r>
              <a:rPr lang="en-US" dirty="0" err="1"/>
              <a:t>DiD</a:t>
            </a:r>
            <a:r>
              <a:rPr lang="en-US" dirty="0"/>
              <a:t> Setups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967521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CD40-7992-DF3E-C5E0-C81A967C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4A66489-1553-B653-B9D5-8B770280B4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910443"/>
            <a:ext cx="9721850" cy="3388832"/>
          </a:xfrm>
        </p:spPr>
        <p:txBody>
          <a:bodyPr/>
          <a:lstStyle/>
          <a:p>
            <a:r>
              <a:rPr lang="en-US" sz="2000" noProof="0" dirty="0"/>
              <a:t>Identify Econometric Setup, preferably and if possible: a </a:t>
            </a:r>
            <a:r>
              <a:rPr lang="en-US" sz="2000" noProof="0" dirty="0" err="1"/>
              <a:t>DiD</a:t>
            </a:r>
            <a:r>
              <a:rPr lang="en-US" sz="2000" noProof="0" dirty="0"/>
              <a:t>-Setup</a:t>
            </a:r>
          </a:p>
          <a:p>
            <a:r>
              <a:rPr lang="en-US" sz="2000" dirty="0"/>
              <a:t>If enough time: add </a:t>
            </a:r>
            <a:r>
              <a:rPr lang="en-US" sz="2000" noProof="0" dirty="0"/>
              <a:t>cofounders (soil type, industrial activity, traffic)</a:t>
            </a:r>
          </a:p>
          <a:p>
            <a:endParaRPr lang="en-US" sz="2000" dirty="0"/>
          </a:p>
          <a:p>
            <a:pPr marL="0" indent="0">
              <a:buNone/>
            </a:pPr>
            <a:br>
              <a:rPr lang="en-US" sz="2000" noProof="0" dirty="0"/>
            </a:br>
            <a:br>
              <a:rPr lang="en-US" sz="2000" noProof="0" dirty="0"/>
            </a:b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r>
              <a:rPr lang="en-US" sz="2000" dirty="0">
                <a:solidFill>
                  <a:schemeClr val="bg1"/>
                </a:solidFill>
              </a:rPr>
              <a:t>Potential extension to whole of Germany</a:t>
            </a:r>
            <a:endParaRPr lang="en-US" sz="2000" noProof="0" dirty="0">
              <a:solidFill>
                <a:schemeClr val="bg1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C95A8A-24F1-0139-3E25-8291F19757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0204243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3C0A1-01C9-32C4-6F2E-512B8B4D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5B1CC1B-BAAD-EC90-65E1-541881C470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910443"/>
            <a:ext cx="9721850" cy="3388832"/>
          </a:xfrm>
        </p:spPr>
        <p:txBody>
          <a:bodyPr/>
          <a:lstStyle/>
          <a:p>
            <a:r>
              <a:rPr lang="en-US" sz="2000" noProof="0" dirty="0"/>
              <a:t>Identify Econometric Setup, preferably and if possible: a </a:t>
            </a:r>
            <a:r>
              <a:rPr lang="en-US" sz="2000" noProof="0" dirty="0" err="1"/>
              <a:t>DiD</a:t>
            </a:r>
            <a:r>
              <a:rPr lang="en-US" sz="2000" noProof="0" dirty="0"/>
              <a:t>-Setup</a:t>
            </a:r>
          </a:p>
          <a:p>
            <a:r>
              <a:rPr lang="en-US" sz="2000" dirty="0"/>
              <a:t>If enough time: add </a:t>
            </a:r>
            <a:r>
              <a:rPr lang="en-US" sz="2000" noProof="0" dirty="0"/>
              <a:t>cofounders (soil type, industrial activity, traffic)</a:t>
            </a:r>
          </a:p>
          <a:p>
            <a:endParaRPr lang="en-US" sz="2000" dirty="0"/>
          </a:p>
          <a:p>
            <a:pPr marL="0" indent="0">
              <a:buNone/>
            </a:pPr>
            <a:br>
              <a:rPr lang="en-US" sz="2000" noProof="0" dirty="0"/>
            </a:br>
            <a:br>
              <a:rPr lang="en-US" sz="2000" noProof="0" dirty="0"/>
            </a:b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r>
              <a:rPr lang="en-US" sz="2000" dirty="0"/>
              <a:t>Potential extension to whole of Germany</a:t>
            </a:r>
            <a:endParaRPr lang="en-US" sz="2000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388ACA-02AC-5E10-EA6F-29F0066CC5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Next Steps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1C762239-3DAA-01C2-4C09-B557F1EFD8F6}"/>
              </a:ext>
            </a:extLst>
          </p:cNvPr>
          <p:cNvSpPr txBox="1">
            <a:spLocks/>
          </p:cNvSpPr>
          <p:nvPr/>
        </p:nvSpPr>
        <p:spPr>
          <a:xfrm>
            <a:off x="550800" y="3246140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Future Research Beyond Seminar</a:t>
            </a:r>
          </a:p>
        </p:txBody>
      </p:sp>
    </p:spTree>
    <p:extLst>
      <p:ext uri="{BB962C8B-B14F-4D97-AF65-F5344CB8AC3E}">
        <p14:creationId xmlns:p14="http://schemas.microsoft.com/office/powerpoint/2010/main" val="3304455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DA98D69-0671-8699-DA49-27057AAAF3D6}"/>
              </a:ext>
            </a:extLst>
          </p:cNvPr>
          <p:cNvSpPr txBox="1">
            <a:spLocks/>
          </p:cNvSpPr>
          <p:nvPr/>
        </p:nvSpPr>
        <p:spPr>
          <a:xfrm>
            <a:off x="838200" y="2190750"/>
            <a:ext cx="10515600" cy="356817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29905474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C397-E910-0285-4E54-2123C6E5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03B1BD-F4FD-8C3B-0643-D493DBD0E9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800" y="1371599"/>
            <a:ext cx="9721850" cy="39276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noProof="0" dirty="0"/>
              <a:t>NLWKN (2020), </a:t>
            </a:r>
            <a:r>
              <a:rPr lang="en-US" noProof="0" dirty="0" err="1"/>
              <a:t>Grundwasserbericht</a:t>
            </a:r>
            <a:r>
              <a:rPr lang="en-US" noProof="0" dirty="0"/>
              <a:t> Niedersachsen – </a:t>
            </a:r>
            <a:r>
              <a:rPr lang="en-US" noProof="0" dirty="0" err="1"/>
              <a:t>Parameterblatt</a:t>
            </a:r>
            <a:r>
              <a:rPr lang="en-US" noProof="0" dirty="0"/>
              <a:t> </a:t>
            </a:r>
            <a:r>
              <a:rPr lang="en-US" noProof="0" dirty="0" err="1"/>
              <a:t>Nitrat</a:t>
            </a:r>
            <a:r>
              <a:rPr lang="en-US" noProof="0" dirty="0"/>
              <a:t>.</a:t>
            </a:r>
          </a:p>
          <a:p>
            <a:pPr>
              <a:lnSpc>
                <a:spcPct val="100000"/>
              </a:lnSpc>
            </a:pPr>
            <a:endParaRPr lang="en-US" noProof="0" dirty="0"/>
          </a:p>
          <a:p>
            <a:pPr>
              <a:lnSpc>
                <a:spcPct val="100000"/>
              </a:lnSpc>
            </a:pPr>
            <a:r>
              <a:rPr lang="en-US" noProof="0" dirty="0" err="1"/>
              <a:t>Umweltbundesamt</a:t>
            </a:r>
            <a:r>
              <a:rPr lang="en-US" noProof="0" dirty="0"/>
              <a:t> (2024), </a:t>
            </a:r>
            <a:r>
              <a:rPr lang="en-US" noProof="0" dirty="0" err="1"/>
              <a:t>Daten</a:t>
            </a:r>
            <a:r>
              <a:rPr lang="en-US" noProof="0" dirty="0"/>
              <a:t> der </a:t>
            </a:r>
            <a:r>
              <a:rPr lang="en-US" noProof="0" dirty="0" err="1"/>
              <a:t>Auswertungen</a:t>
            </a:r>
            <a:r>
              <a:rPr lang="en-US" noProof="0" dirty="0"/>
              <a:t> des </a:t>
            </a:r>
            <a:r>
              <a:rPr lang="en-US" noProof="0" dirty="0" err="1"/>
              <a:t>Nitratberichts</a:t>
            </a:r>
            <a:r>
              <a:rPr lang="en-US" noProof="0" dirty="0"/>
              <a:t> 2024.</a:t>
            </a:r>
          </a:p>
          <a:p>
            <a:pPr>
              <a:lnSpc>
                <a:spcPct val="100000"/>
              </a:lnSpc>
            </a:pPr>
            <a:endParaRPr lang="en-US" noProof="0" dirty="0"/>
          </a:p>
          <a:p>
            <a:pPr>
              <a:lnSpc>
                <a:spcPct val="100000"/>
              </a:lnSpc>
            </a:pPr>
            <a:r>
              <a:rPr lang="en-US" noProof="0" dirty="0" err="1"/>
              <a:t>Statistische</a:t>
            </a:r>
            <a:r>
              <a:rPr lang="en-US" noProof="0" dirty="0"/>
              <a:t> </a:t>
            </a:r>
            <a:r>
              <a:rPr lang="en-US" noProof="0" dirty="0" err="1"/>
              <a:t>Ämter</a:t>
            </a:r>
            <a:r>
              <a:rPr lang="en-US" noProof="0" dirty="0"/>
              <a:t> des </a:t>
            </a:r>
            <a:r>
              <a:rPr lang="en-US" noProof="0" dirty="0" err="1"/>
              <a:t>Bundes</a:t>
            </a:r>
            <a:r>
              <a:rPr lang="en-US" noProof="0" dirty="0"/>
              <a:t> und der Länder (2010/2016/2020), </a:t>
            </a:r>
            <a:r>
              <a:rPr lang="en-US" noProof="0" dirty="0" err="1"/>
              <a:t>Regionalstatistik</a:t>
            </a:r>
            <a:r>
              <a:rPr lang="en-US" noProof="0" dirty="0"/>
              <a:t> </a:t>
            </a:r>
            <a:r>
              <a:rPr lang="en-US" noProof="0" dirty="0" err="1"/>
              <a:t>Tabelle</a:t>
            </a:r>
            <a:r>
              <a:rPr lang="en-US" noProof="0" dirty="0"/>
              <a:t> 41141-04-02-4: </a:t>
            </a:r>
            <a:r>
              <a:rPr lang="en-US" noProof="0" dirty="0" err="1"/>
              <a:t>Landwirtschaftliche</a:t>
            </a:r>
            <a:r>
              <a:rPr lang="en-US" noProof="0" dirty="0"/>
              <a:t> Betriebe </a:t>
            </a:r>
            <a:r>
              <a:rPr lang="en-US" noProof="0" dirty="0" err="1"/>
              <a:t>insgesamt</a:t>
            </a:r>
            <a:r>
              <a:rPr lang="en-US" noProof="0" dirty="0"/>
              <a:t> </a:t>
            </a:r>
            <a:r>
              <a:rPr lang="en-US" noProof="0" dirty="0" err="1"/>
              <a:t>sowie</a:t>
            </a:r>
            <a:r>
              <a:rPr lang="en-US" noProof="0" dirty="0"/>
              <a:t> </a:t>
            </a:r>
            <a:r>
              <a:rPr lang="en-US" noProof="0" dirty="0" err="1"/>
              <a:t>mit</a:t>
            </a:r>
            <a:r>
              <a:rPr lang="en-US" noProof="0" dirty="0"/>
              <a:t> </a:t>
            </a:r>
            <a:r>
              <a:rPr lang="en-US" noProof="0" dirty="0" err="1"/>
              <a:t>ökologischem</a:t>
            </a:r>
            <a:r>
              <a:rPr lang="en-US" noProof="0" dirty="0"/>
              <a:t> </a:t>
            </a:r>
            <a:r>
              <a:rPr lang="en-US" noProof="0" dirty="0" err="1"/>
              <a:t>Landbau</a:t>
            </a:r>
            <a:r>
              <a:rPr lang="en-US" noProof="0" dirty="0"/>
              <a:t> und </a:t>
            </a:r>
            <a:r>
              <a:rPr lang="en-US" noProof="0" dirty="0" err="1"/>
              <a:t>deren</a:t>
            </a:r>
            <a:r>
              <a:rPr lang="en-US" noProof="0" dirty="0"/>
              <a:t> </a:t>
            </a:r>
            <a:r>
              <a:rPr lang="en-US" noProof="0" dirty="0" err="1"/>
              <a:t>landwirtschaftlich</a:t>
            </a:r>
            <a:r>
              <a:rPr lang="en-US" noProof="0" dirty="0"/>
              <a:t> </a:t>
            </a:r>
            <a:r>
              <a:rPr lang="en-US" noProof="0" dirty="0" err="1"/>
              <a:t>genutzte</a:t>
            </a:r>
            <a:r>
              <a:rPr lang="en-US" noProof="0" dirty="0"/>
              <a:t> </a:t>
            </a:r>
            <a:r>
              <a:rPr lang="en-US" noProof="0" dirty="0" err="1"/>
              <a:t>Fläche</a:t>
            </a:r>
            <a:r>
              <a:rPr lang="en-US" noProof="0" dirty="0"/>
              <a:t> (LF) und </a:t>
            </a:r>
            <a:r>
              <a:rPr lang="en-US" noProof="0" dirty="0" err="1"/>
              <a:t>Viehbestand</a:t>
            </a:r>
            <a:r>
              <a:rPr lang="en-US" noProof="0" dirty="0"/>
              <a:t>.</a:t>
            </a:r>
          </a:p>
          <a:p>
            <a:pPr>
              <a:lnSpc>
                <a:spcPct val="100000"/>
              </a:lnSpc>
            </a:pPr>
            <a:endParaRPr lang="en-US" noProof="0" dirty="0"/>
          </a:p>
          <a:p>
            <a:pPr>
              <a:lnSpc>
                <a:spcPct val="100000"/>
              </a:lnSpc>
            </a:pPr>
            <a:r>
              <a:rPr lang="en-US" noProof="0" dirty="0"/>
              <a:t>Google, World Resources Institute und National Geographic Society (2022), Dynamic World V1: Near real-time global 10 m land use/land cover mapping.</a:t>
            </a:r>
          </a:p>
          <a:p>
            <a:pPr>
              <a:lnSpc>
                <a:spcPct val="100000"/>
              </a:lnSpc>
            </a:pPr>
            <a:endParaRPr lang="en-US" noProof="0" dirty="0"/>
          </a:p>
          <a:p>
            <a:pPr>
              <a:lnSpc>
                <a:spcPct val="100000"/>
              </a:lnSpc>
            </a:pPr>
            <a:r>
              <a:rPr lang="en-US" noProof="0" dirty="0"/>
              <a:t>European Environment Agency / Copernicus (2012/2018), CORINE Land Cover.</a:t>
            </a:r>
          </a:p>
          <a:p>
            <a:pPr>
              <a:lnSpc>
                <a:spcPct val="100000"/>
              </a:lnSpc>
            </a:pPr>
            <a:endParaRPr lang="en-US" noProof="0" dirty="0"/>
          </a:p>
          <a:p>
            <a:pPr>
              <a:lnSpc>
                <a:spcPct val="100000"/>
              </a:lnSpc>
            </a:pPr>
            <a:r>
              <a:rPr lang="en-US" noProof="0" dirty="0" err="1"/>
              <a:t>GeoBasis</a:t>
            </a:r>
            <a:r>
              <a:rPr lang="en-US" noProof="0" dirty="0"/>
              <a:t>-DE / </a:t>
            </a:r>
            <a:r>
              <a:rPr lang="en-US" noProof="0" dirty="0" err="1"/>
              <a:t>Bundesamt</a:t>
            </a:r>
            <a:r>
              <a:rPr lang="en-US" noProof="0" dirty="0"/>
              <a:t> für </a:t>
            </a:r>
            <a:r>
              <a:rPr lang="en-US" noProof="0" dirty="0" err="1"/>
              <a:t>Kartographie</a:t>
            </a:r>
            <a:r>
              <a:rPr lang="en-US" noProof="0" dirty="0"/>
              <a:t> und </a:t>
            </a:r>
            <a:r>
              <a:rPr lang="en-US" noProof="0" dirty="0" err="1"/>
              <a:t>Geodäsie</a:t>
            </a:r>
            <a:r>
              <a:rPr lang="en-US" noProof="0" dirty="0"/>
              <a:t> (2026), </a:t>
            </a:r>
            <a:r>
              <a:rPr lang="en-US" noProof="0" dirty="0" err="1"/>
              <a:t>Verwaltungsgebiete</a:t>
            </a:r>
            <a:r>
              <a:rPr lang="en-US" noProof="0" dirty="0"/>
              <a:t> 1:250 000 (VG250), </a:t>
            </a:r>
            <a:r>
              <a:rPr lang="en-US" noProof="0" dirty="0" err="1"/>
              <a:t>Kreisgrenzen</a:t>
            </a:r>
            <a:r>
              <a:rPr lang="en-US" noProof="0" dirty="0"/>
              <a:t> Niedersachsen.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EA517C-8131-7EF5-9696-BB52A05F5C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2377334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7CEE9-1854-9281-5D36-82DCAFE7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EA6C46-9117-DAB9-05B8-EFBA813821FC}"/>
              </a:ext>
            </a:extLst>
          </p:cNvPr>
          <p:cNvSpPr txBox="1">
            <a:spLocks/>
          </p:cNvSpPr>
          <p:nvPr/>
        </p:nvSpPr>
        <p:spPr>
          <a:xfrm>
            <a:off x="838200" y="2190750"/>
            <a:ext cx="10515600" cy="356817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  <a:r>
              <a:rPr lang="en-US" sz="48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stions?</a:t>
            </a:r>
            <a:endParaRPr lang="en-US" sz="48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0219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888A4-0E20-BA00-A746-9A0E1E6A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9938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FDE6-19A0-E945-B342-A6F0AF19B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83CD4-4020-A051-4F55-E9761ABC2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C1AA7B-1818-97C7-7C79-410F91C4101D}"/>
              </a:ext>
            </a:extLst>
          </p:cNvPr>
          <p:cNvGraphicFramePr>
            <a:graphicFrameLocks noGrp="1"/>
          </p:cNvGraphicFramePr>
          <p:nvPr/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3192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030B-805D-73FE-ECE3-9F109CA1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494A0-D63D-9D2C-5540-6B5B8277BA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0EF11F-8910-E824-ACB5-B34B2E1C2C3C}"/>
              </a:ext>
            </a:extLst>
          </p:cNvPr>
          <p:cNvGraphicFramePr>
            <a:graphicFrameLocks noGrp="1"/>
          </p:cNvGraphicFramePr>
          <p:nvPr/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0897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7400-4A15-1481-304D-C8FCCD9C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FE03D-2606-2E00-6EE9-D966F6A6A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3E14B3-A72E-2EA6-D8D4-B389129E4592}"/>
              </a:ext>
            </a:extLst>
          </p:cNvPr>
          <p:cNvGraphicFramePr>
            <a:graphicFrameLocks noGrp="1"/>
          </p:cNvGraphicFramePr>
          <p:nvPr/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8347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9E96-13D3-B6E9-6DC3-7CC49BBC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829C7-B3F1-E6FC-A374-0E71319E5F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43D215-6E07-75CF-C90C-0AB4977DE18E}"/>
              </a:ext>
            </a:extLst>
          </p:cNvPr>
          <p:cNvGraphicFramePr>
            <a:graphicFrameLocks noGrp="1"/>
          </p:cNvGraphicFramePr>
          <p:nvPr/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9631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ACBC-2A72-C789-0954-AEF8AD5E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F4677-E313-1EE6-AB25-7B5E9BC0C8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498C7D-F5A5-192C-73B5-A18A4B13A4D3}"/>
              </a:ext>
            </a:extLst>
          </p:cNvPr>
          <p:cNvGraphicFramePr>
            <a:graphicFrameLocks noGrp="1"/>
          </p:cNvGraphicFramePr>
          <p:nvPr/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6354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7342-C0BF-723F-3C4A-5D6B29C8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CC766-7FFC-6ABC-A8D5-A4B7578D89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124D28-37E5-F2B0-2297-C3624DD6BD02}"/>
              </a:ext>
            </a:extLst>
          </p:cNvPr>
          <p:cNvGraphicFramePr>
            <a:graphicFrameLocks noGrp="1"/>
          </p:cNvGraphicFramePr>
          <p:nvPr/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5412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EC20-3E3D-8D43-B1C7-6351C4D8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B29AE-7E47-EBDB-B3A3-496BF0AB57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22757B-8C60-29CF-63FC-13852B24DF18}"/>
              </a:ext>
            </a:extLst>
          </p:cNvPr>
          <p:cNvGraphicFramePr>
            <a:graphicFrameLocks noGrp="1"/>
          </p:cNvGraphicFramePr>
          <p:nvPr/>
        </p:nvGraphicFramePr>
        <p:xfrm>
          <a:off x="550798" y="1371600"/>
          <a:ext cx="11427842" cy="4722678"/>
        </p:xfrm>
        <a:graphic>
          <a:graphicData uri="http://schemas.openxmlformats.org/drawingml/2006/table">
            <a:tbl>
              <a:tblPr/>
              <a:tblGrid>
                <a:gridCol w="3577065">
                  <a:extLst>
                    <a:ext uri="{9D8B030D-6E8A-4147-A177-3AD203B41FA5}">
                      <a16:colId xmlns:a16="http://schemas.microsoft.com/office/drawing/2014/main" val="2839672384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1824701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91129"/>
                    </a:ext>
                  </a:extLst>
                </a:gridCol>
              </a:tblGrid>
              <a:tr h="18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0" u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Chosen Source</a:t>
                      </a:r>
                      <a:endParaRPr lang="en-DE" sz="1800" b="1" i="0" u="non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</a:t>
                      </a:r>
                      <a:endParaRPr lang="en-DE" sz="12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/ Criteria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9788"/>
                  </a:ext>
                </a:extLst>
              </a:tr>
              <a:tr h="70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 Groundwater Report (2024)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Geodaten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Niedersächsisches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Umweltportals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short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has longer panel wit more complete metadata,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unofficial</a:t>
                      </a: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UBA is harmonized &amp; reported by national guidelines.</a:t>
                      </a:r>
                      <a:endParaRPr lang="en-DE" sz="1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75187"/>
                  </a:ext>
                </a:extLst>
              </a:tr>
              <a:tr h="153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Dynamic World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+</a:t>
                      </a:r>
                      <a:endParaRPr lang="en-DE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CORINE Land Cover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ALKIS</a:t>
                      </a: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Amtliches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Liegenschaftskataster-Informationssystem</a:t>
                      </a:r>
                      <a:r>
                        <a:rPr lang="en-US" sz="14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b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BORIS</a:t>
                      </a:r>
                      <a:r>
                        <a:rPr lang="en-US" sz="12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i="1" strike="sng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Bodenrichtwerte</a:t>
                      </a:r>
                      <a:r>
                        <a:rPr lang="en-US" sz="1400" b="0" i="1" strike="sng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0" i="1" strike="sng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fine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cadastral / parcel-level -&gt; aggregation steps,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inconsistent</a:t>
                      </a:r>
                      <a:r>
                        <a:rPr lang="en-US" sz="14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historical snapshot maintenance,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unstandardized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tricky abbreviations and licensing.</a:t>
                      </a: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•  out of scope: valuation of land </a:t>
                      </a:r>
                      <a:r>
                        <a:rPr lang="en-US" sz="14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wrt</a:t>
                      </a:r>
                      <a:r>
                        <a:rPr lang="en-US" sz="14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property tax and ownership ) </a:t>
                      </a:r>
                      <a:endParaRPr lang="en-DE" sz="14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97610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Regionalstatistik</a:t>
                      </a:r>
                      <a:r>
                        <a:rPr lang="en-DE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(Agricultural Census)</a:t>
                      </a:r>
                      <a:endParaRPr lang="en-DE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 </a:t>
                      </a:r>
                      <a: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829519"/>
                  </a:ext>
                </a:extLst>
              </a:tr>
              <a:tr h="8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BKG VG250 Administrative Boundaries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2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</a:t>
                      </a:r>
                      <a:r>
                        <a:rPr lang="en-US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DE" sz="1200" b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5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0391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2056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B9F5A-15F1-EBE3-8DAB-4B119D0C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0C309B6B-21B5-568D-7DC1-28576E640EF6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51500-B717-0307-D9FD-9034BEA931F2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				      </a:t>
            </a:r>
            <a:r>
              <a:rPr lang="en-DE" i="1" dirty="0"/>
              <a:t>UBA</a:t>
            </a:r>
            <a:br>
              <a:rPr lang="en-US" i="1" dirty="0"/>
            </a:br>
            <a:r>
              <a:rPr lang="en-US" i="1" dirty="0"/>
              <a:t>		      </a:t>
            </a:r>
            <a:r>
              <a:rPr lang="en-DE" dirty="0"/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</a:t>
            </a:r>
            <a:r>
              <a:rPr lang="en-US" dirty="0"/>
              <a:t>		          </a:t>
            </a:r>
            <a:r>
              <a:rPr lang="en-US" b="1" dirty="0"/>
              <a:t>master table</a:t>
            </a:r>
            <a:r>
              <a:rPr lang="en-US" dirty="0"/>
              <a:t>:</a:t>
            </a:r>
            <a:r>
              <a:rPr lang="en-DE" dirty="0"/>
              <a:t> </a:t>
            </a:r>
            <a:r>
              <a:rPr lang="en-US" u="sng" dirty="0"/>
              <a:t>s</a:t>
            </a:r>
            <a:r>
              <a:rPr lang="en-DE" u="sng" dirty="0" err="1"/>
              <a:t>tation</a:t>
            </a:r>
            <a:r>
              <a:rPr lang="en-DE" u="sng" dirty="0"/>
              <a:t>-year </a:t>
            </a:r>
            <a:r>
              <a:rPr lang="en-DE" dirty="0"/>
              <a:t>base</a:t>
            </a:r>
            <a:r>
              <a:rPr lang="en-US" dirty="0"/>
              <a:t>d</a:t>
            </a:r>
            <a:r>
              <a:rPr lang="en-DE" dirty="0"/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/>
              <a:t>   </a:t>
            </a:r>
            <a:r>
              <a:rPr lang="en-US" i="1" dirty="0"/>
              <a:t>	</a:t>
            </a:r>
            <a:r>
              <a:rPr lang="en-DE" i="1" dirty="0"/>
              <a:t>Dynamic World              </a:t>
            </a:r>
            <a:r>
              <a:rPr lang="en-US" i="1" dirty="0"/>
              <a:t>	</a:t>
            </a:r>
            <a:r>
              <a:rPr lang="en-DE" i="1" dirty="0"/>
              <a:t>CORINE buffers            </a:t>
            </a:r>
            <a:r>
              <a:rPr lang="en-US" i="1" dirty="0"/>
              <a:t>      	 </a:t>
            </a:r>
            <a:r>
              <a:rPr lang="en-DE" i="1" dirty="0" err="1"/>
              <a:t>Regionalstatistik</a:t>
            </a:r>
            <a:endParaRPr lang="en-DE" i="1" dirty="0"/>
          </a:p>
          <a:p>
            <a:r>
              <a:rPr lang="en-DE" dirty="0"/>
              <a:t>  </a:t>
            </a:r>
            <a:r>
              <a:rPr lang="en-US" dirty="0"/>
              <a:t>	</a:t>
            </a:r>
            <a:r>
              <a:rPr lang="en-DE" dirty="0"/>
              <a:t>Annual land cover          </a:t>
            </a:r>
            <a:r>
              <a:rPr lang="en-US" dirty="0"/>
              <a:t>	</a:t>
            </a:r>
            <a:r>
              <a:rPr lang="en-DE" dirty="0"/>
              <a:t>500/1000 m shares        </a:t>
            </a:r>
            <a:r>
              <a:rPr lang="en-US" dirty="0"/>
              <a:t>	</a:t>
            </a:r>
            <a:r>
              <a:rPr lang="en-DE" dirty="0"/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8828AC-5D54-8C60-F4FB-44E6CDAEE902}"/>
              </a:ext>
            </a:extLst>
          </p:cNvPr>
          <p:cNvCxnSpPr/>
          <p:nvPr/>
        </p:nvCxnSpPr>
        <p:spPr>
          <a:xfrm>
            <a:off x="5863771" y="1785257"/>
            <a:ext cx="0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C99E6C-7519-39B0-A5D4-D7E0924A01E8}"/>
              </a:ext>
            </a:extLst>
          </p:cNvPr>
          <p:cNvCxnSpPr/>
          <p:nvPr/>
        </p:nvCxnSpPr>
        <p:spPr>
          <a:xfrm>
            <a:off x="5863771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A11CE8-2F2A-4161-87AC-37EDFF33FB3C}"/>
              </a:ext>
            </a:extLst>
          </p:cNvPr>
          <p:cNvCxnSpPr>
            <a:cxnSpLocks/>
          </p:cNvCxnSpPr>
          <p:nvPr/>
        </p:nvCxnSpPr>
        <p:spPr>
          <a:xfrm>
            <a:off x="5863771" y="4165600"/>
            <a:ext cx="0" cy="31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A0C58B-E5A9-C356-AB84-4F00B828B78D}"/>
              </a:ext>
            </a:extLst>
          </p:cNvPr>
          <p:cNvCxnSpPr>
            <a:cxnSpLocks/>
          </p:cNvCxnSpPr>
          <p:nvPr/>
        </p:nvCxnSpPr>
        <p:spPr>
          <a:xfrm>
            <a:off x="3178629" y="2815771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0F92B0-EE1D-54B4-E585-1107577E733D}"/>
              </a:ext>
            </a:extLst>
          </p:cNvPr>
          <p:cNvCxnSpPr>
            <a:cxnSpLocks/>
          </p:cNvCxnSpPr>
          <p:nvPr/>
        </p:nvCxnSpPr>
        <p:spPr>
          <a:xfrm>
            <a:off x="3178629" y="4165600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EEF164-194B-ED2F-5313-6323BB62D751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6659E4-48F5-B6A1-D8BB-F4DB0F3D29DB}"/>
              </a:ext>
            </a:extLst>
          </p:cNvPr>
          <p:cNvCxnSpPr/>
          <p:nvPr/>
        </p:nvCxnSpPr>
        <p:spPr>
          <a:xfrm>
            <a:off x="3178629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29E613-DCB8-BCF1-1107-40160A8E958B}"/>
              </a:ext>
            </a:extLst>
          </p:cNvPr>
          <p:cNvCxnSpPr/>
          <p:nvPr/>
        </p:nvCxnSpPr>
        <p:spPr>
          <a:xfrm>
            <a:off x="8969829" y="2823027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0F3B01-946D-5741-17DA-602214516750}"/>
              </a:ext>
            </a:extLst>
          </p:cNvPr>
          <p:cNvCxnSpPr/>
          <p:nvPr/>
        </p:nvCxnSpPr>
        <p:spPr>
          <a:xfrm>
            <a:off x="3178629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3C505F-A70C-7DDA-51FA-761DEF0D38ED}"/>
              </a:ext>
            </a:extLst>
          </p:cNvPr>
          <p:cNvCxnSpPr/>
          <p:nvPr/>
        </p:nvCxnSpPr>
        <p:spPr>
          <a:xfrm>
            <a:off x="5863771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3FC698-7D39-FA77-7B53-A8E152BBEC28}"/>
              </a:ext>
            </a:extLst>
          </p:cNvPr>
          <p:cNvCxnSpPr/>
          <p:nvPr/>
        </p:nvCxnSpPr>
        <p:spPr>
          <a:xfrm>
            <a:off x="8969829" y="3955143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92DEFF-BB92-7DC2-F786-CCD8D9D82370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9550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678F8-1905-AD4C-D7C2-CCDB4A08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E1761C68-B7B8-77BC-D70A-7EFF234787E0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9F413-BB68-6CCC-4DB7-BF05171945EF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				      </a:t>
            </a:r>
            <a:r>
              <a:rPr lang="en-DE" i="1" dirty="0"/>
              <a:t>UBA</a:t>
            </a:r>
            <a:br>
              <a:rPr lang="en-US" i="1" dirty="0"/>
            </a:br>
            <a:r>
              <a:rPr lang="en-US" i="1" dirty="0"/>
              <a:t>		      </a:t>
            </a:r>
            <a:r>
              <a:rPr lang="en-DE" dirty="0"/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</a:t>
            </a:r>
            <a:r>
              <a:rPr lang="en-US" dirty="0"/>
              <a:t>		          </a:t>
            </a:r>
            <a:r>
              <a:rPr lang="en-US" b="1" dirty="0"/>
              <a:t>master table</a:t>
            </a:r>
            <a:r>
              <a:rPr lang="en-US" dirty="0"/>
              <a:t>:</a:t>
            </a:r>
            <a:r>
              <a:rPr lang="en-DE" dirty="0"/>
              <a:t> </a:t>
            </a:r>
            <a:r>
              <a:rPr lang="en-US" u="sng" dirty="0"/>
              <a:t>s</a:t>
            </a:r>
            <a:r>
              <a:rPr lang="en-DE" u="sng" dirty="0" err="1"/>
              <a:t>tation</a:t>
            </a:r>
            <a:r>
              <a:rPr lang="en-DE" u="sng" dirty="0"/>
              <a:t>-year </a:t>
            </a:r>
            <a:r>
              <a:rPr lang="en-DE" dirty="0"/>
              <a:t>base</a:t>
            </a:r>
            <a:r>
              <a:rPr lang="en-US" dirty="0"/>
              <a:t>d</a:t>
            </a:r>
            <a:r>
              <a:rPr lang="en-DE" dirty="0"/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/>
              <a:t>   </a:t>
            </a:r>
            <a:r>
              <a:rPr lang="en-US" i="1" dirty="0"/>
              <a:t>	</a:t>
            </a:r>
            <a:r>
              <a:rPr lang="en-DE" i="1" dirty="0"/>
              <a:t>Dynamic World              </a:t>
            </a:r>
            <a:r>
              <a:rPr lang="en-US" i="1" dirty="0"/>
              <a:t>	</a:t>
            </a:r>
            <a:r>
              <a:rPr lang="en-DE" i="1" dirty="0"/>
              <a:t>CORINE buffers            </a:t>
            </a:r>
            <a:r>
              <a:rPr lang="en-US" i="1" dirty="0"/>
              <a:t>      	 </a:t>
            </a:r>
            <a:r>
              <a:rPr lang="en-DE" i="1" dirty="0" err="1"/>
              <a:t>Regionalstatistik</a:t>
            </a:r>
            <a:endParaRPr lang="en-DE" i="1" dirty="0"/>
          </a:p>
          <a:p>
            <a:r>
              <a:rPr lang="en-DE" dirty="0"/>
              <a:t>  </a:t>
            </a:r>
            <a:r>
              <a:rPr lang="en-US" dirty="0"/>
              <a:t>	</a:t>
            </a:r>
            <a:r>
              <a:rPr lang="en-DE" dirty="0"/>
              <a:t>Annual land cover          </a:t>
            </a:r>
            <a:r>
              <a:rPr lang="en-US" dirty="0"/>
              <a:t>	</a:t>
            </a:r>
            <a:r>
              <a:rPr lang="en-DE" dirty="0"/>
              <a:t>500/1000 m shares        </a:t>
            </a:r>
            <a:r>
              <a:rPr lang="en-US" dirty="0"/>
              <a:t>	</a:t>
            </a:r>
            <a:r>
              <a:rPr lang="en-DE" dirty="0"/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3F4BA6-F40F-3F13-2813-EE567ABBFE1B}"/>
              </a:ext>
            </a:extLst>
          </p:cNvPr>
          <p:cNvCxnSpPr/>
          <p:nvPr/>
        </p:nvCxnSpPr>
        <p:spPr>
          <a:xfrm>
            <a:off x="5863771" y="1785257"/>
            <a:ext cx="0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B4552C-097A-6183-49B8-54D6653B6AE1}"/>
              </a:ext>
            </a:extLst>
          </p:cNvPr>
          <p:cNvCxnSpPr/>
          <p:nvPr/>
        </p:nvCxnSpPr>
        <p:spPr>
          <a:xfrm>
            <a:off x="5863771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12941E-E79A-2C72-E0B3-68F0E351740D}"/>
              </a:ext>
            </a:extLst>
          </p:cNvPr>
          <p:cNvCxnSpPr>
            <a:cxnSpLocks/>
          </p:cNvCxnSpPr>
          <p:nvPr/>
        </p:nvCxnSpPr>
        <p:spPr>
          <a:xfrm>
            <a:off x="5863771" y="4165600"/>
            <a:ext cx="0" cy="31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08567B-F222-9FBF-2990-4FD30258DB7F}"/>
              </a:ext>
            </a:extLst>
          </p:cNvPr>
          <p:cNvCxnSpPr>
            <a:cxnSpLocks/>
          </p:cNvCxnSpPr>
          <p:nvPr/>
        </p:nvCxnSpPr>
        <p:spPr>
          <a:xfrm>
            <a:off x="3178629" y="2815771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4DCCEA-EEBB-9618-5D0D-176152F72B2F}"/>
              </a:ext>
            </a:extLst>
          </p:cNvPr>
          <p:cNvCxnSpPr>
            <a:cxnSpLocks/>
          </p:cNvCxnSpPr>
          <p:nvPr/>
        </p:nvCxnSpPr>
        <p:spPr>
          <a:xfrm>
            <a:off x="3178629" y="4165600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2D8D5B-B11B-3B01-BF51-2E224B98B7BC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AABDFF-19B9-357E-B3F3-0FC641E00EA7}"/>
              </a:ext>
            </a:extLst>
          </p:cNvPr>
          <p:cNvCxnSpPr/>
          <p:nvPr/>
        </p:nvCxnSpPr>
        <p:spPr>
          <a:xfrm>
            <a:off x="3178629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E7DD10-F440-16A9-9F5D-4EBEAFF378F1}"/>
              </a:ext>
            </a:extLst>
          </p:cNvPr>
          <p:cNvCxnSpPr/>
          <p:nvPr/>
        </p:nvCxnSpPr>
        <p:spPr>
          <a:xfrm>
            <a:off x="8969829" y="2823027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8D5900-F12D-5FD3-37F0-ABB9C2609D98}"/>
              </a:ext>
            </a:extLst>
          </p:cNvPr>
          <p:cNvCxnSpPr/>
          <p:nvPr/>
        </p:nvCxnSpPr>
        <p:spPr>
          <a:xfrm>
            <a:off x="3178629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7FEE81-B951-2E96-541C-816B6EBD3E1F}"/>
              </a:ext>
            </a:extLst>
          </p:cNvPr>
          <p:cNvCxnSpPr/>
          <p:nvPr/>
        </p:nvCxnSpPr>
        <p:spPr>
          <a:xfrm>
            <a:off x="5863771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5F76C6-8A1B-2A24-E5AE-EB2BFB3C97F6}"/>
              </a:ext>
            </a:extLst>
          </p:cNvPr>
          <p:cNvCxnSpPr/>
          <p:nvPr/>
        </p:nvCxnSpPr>
        <p:spPr>
          <a:xfrm>
            <a:off x="8969829" y="3955143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D86CAF1-491E-BA44-3296-EFE67BB4182A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81E4B7-D7AA-3FA8-5A32-F881FA8FA286}"/>
              </a:ext>
            </a:extLst>
          </p:cNvPr>
          <p:cNvGraphicFramePr>
            <a:graphicFrameLocks noGrp="1"/>
          </p:cNvGraphicFramePr>
          <p:nvPr/>
        </p:nvGraphicFramePr>
        <p:xfrm>
          <a:off x="1210794" y="4999807"/>
          <a:ext cx="9885992" cy="1173480"/>
        </p:xfrm>
        <a:graphic>
          <a:graphicData uri="http://schemas.openxmlformats.org/drawingml/2006/table">
            <a:tbl>
              <a:tblPr/>
              <a:tblGrid>
                <a:gridCol w="150551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524973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4837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1123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621143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57992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65944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7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64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1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0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2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32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4713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DFD48-9DB9-2B39-9AED-C566A7D4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DF247AB2-11D3-B129-3589-C80B0BF53D2E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2AEF7-2765-1614-BBBA-39D778B59D28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				      </a:t>
            </a:r>
            <a:r>
              <a:rPr lang="en-DE" i="1" dirty="0">
                <a:solidFill>
                  <a:schemeClr val="bg1"/>
                </a:solidFill>
              </a:rPr>
              <a:t>UBA</a:t>
            </a: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		      </a:t>
            </a:r>
            <a:r>
              <a:rPr lang="en-DE" dirty="0">
                <a:solidFill>
                  <a:schemeClr val="bg1"/>
                </a:solidFill>
              </a:rPr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>
                <a:solidFill>
                  <a:schemeClr val="bg1"/>
                </a:solidFill>
              </a:rPr>
              <a:t>         </a:t>
            </a:r>
            <a:r>
              <a:rPr lang="en-US" dirty="0">
                <a:solidFill>
                  <a:schemeClr val="bg1"/>
                </a:solidFill>
              </a:rPr>
              <a:t>		          </a:t>
            </a:r>
            <a:r>
              <a:rPr lang="en-US" b="1" dirty="0">
                <a:solidFill>
                  <a:schemeClr val="bg1"/>
                </a:solidFill>
              </a:rPr>
              <a:t>master table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u="sng" dirty="0">
                <a:solidFill>
                  <a:schemeClr val="bg1"/>
                </a:solidFill>
              </a:rPr>
              <a:t>s</a:t>
            </a:r>
            <a:r>
              <a:rPr lang="en-DE" u="sng" dirty="0" err="1">
                <a:solidFill>
                  <a:schemeClr val="bg1"/>
                </a:solidFill>
              </a:rPr>
              <a:t>tation</a:t>
            </a:r>
            <a:r>
              <a:rPr lang="en-DE" u="sng" dirty="0">
                <a:solidFill>
                  <a:schemeClr val="bg1"/>
                </a:solidFill>
              </a:rPr>
              <a:t>-year </a:t>
            </a:r>
            <a:r>
              <a:rPr lang="en-DE" dirty="0">
                <a:solidFill>
                  <a:schemeClr val="bg1"/>
                </a:solidFill>
              </a:rPr>
              <a:t>base</a:t>
            </a:r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DE" dirty="0">
                <a:solidFill>
                  <a:schemeClr val="bg1"/>
                </a:solidFill>
              </a:rPr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>
                <a:solidFill>
                  <a:schemeClr val="bg1"/>
                </a:solidFill>
              </a:rPr>
              <a:t>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Dynamic World           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CORINE buffers            </a:t>
            </a:r>
            <a:r>
              <a:rPr lang="en-US" i="1" dirty="0">
                <a:solidFill>
                  <a:schemeClr val="bg1"/>
                </a:solidFill>
              </a:rPr>
              <a:t>      	 </a:t>
            </a:r>
            <a:r>
              <a:rPr lang="en-DE" i="1" dirty="0" err="1">
                <a:solidFill>
                  <a:schemeClr val="bg1"/>
                </a:solidFill>
              </a:rPr>
              <a:t>Regionalstatistik</a:t>
            </a:r>
            <a:endParaRPr lang="en-DE" i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Annual land cover  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500/1000 m shares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9DB927-F574-B870-893F-7A4FF5940DB5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F67053-8783-5139-3EA8-6260CAA0F458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40C7AD-0A43-F95E-E1F7-B277449386FD}"/>
              </a:ext>
            </a:extLst>
          </p:cNvPr>
          <p:cNvGraphicFramePr>
            <a:graphicFrameLocks noGrp="1"/>
          </p:cNvGraphicFramePr>
          <p:nvPr/>
        </p:nvGraphicFramePr>
        <p:xfrm>
          <a:off x="1210794" y="4999807"/>
          <a:ext cx="9885992" cy="1173480"/>
        </p:xfrm>
        <a:graphic>
          <a:graphicData uri="http://schemas.openxmlformats.org/drawingml/2006/table">
            <a:tbl>
              <a:tblPr/>
              <a:tblGrid>
                <a:gridCol w="150551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524973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4837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1123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621143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57992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65944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7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64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3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1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0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2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32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500A01-C82F-8762-C726-B2C4BF26A222}"/>
              </a:ext>
            </a:extLst>
          </p:cNvPr>
          <p:cNvGraphicFramePr>
            <a:graphicFrameLocks noGrp="1"/>
          </p:cNvGraphicFramePr>
          <p:nvPr/>
        </p:nvGraphicFramePr>
        <p:xfrm>
          <a:off x="1210794" y="1788966"/>
          <a:ext cx="7547647" cy="1901415"/>
        </p:xfrm>
        <a:graphic>
          <a:graphicData uri="http://schemas.openxmlformats.org/drawingml/2006/table">
            <a:tbl>
              <a:tblPr/>
              <a:tblGrid>
                <a:gridCol w="1592432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844225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222640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063173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821410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460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station_id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n_measurements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nitrate_mg_l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1072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  <a:b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2012</a:t>
                      </a:r>
                    </a:p>
                    <a:p>
                      <a:pPr>
                        <a:buNone/>
                      </a:pPr>
                      <a:r>
                        <a:rPr lang="fi-FI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DE" sz="160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48.7 </a:t>
                      </a:r>
                      <a:r>
                        <a:rPr lang="en-US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  <a:r>
                        <a:rPr lang="en-DE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mg/L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62 </a:t>
                      </a:r>
                      <a:r>
                        <a:rPr lang="en-US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  </a:t>
                      </a:r>
                      <a:r>
                        <a:rPr lang="en-DE" sz="1600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mg/L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2012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2014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078AA-64CB-2924-65EF-F8CCC151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205FCDF7-D18C-2DDF-FF19-B268396617EE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78E85-1B6C-2F5E-C34F-016CC8878F11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				      </a:t>
            </a:r>
            <a:r>
              <a:rPr lang="en-DE" i="1" dirty="0">
                <a:solidFill>
                  <a:schemeClr val="bg1"/>
                </a:solidFill>
              </a:rPr>
              <a:t>UBA</a:t>
            </a: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		      </a:t>
            </a:r>
            <a:r>
              <a:rPr lang="en-DE" dirty="0">
                <a:solidFill>
                  <a:schemeClr val="bg1"/>
                </a:solidFill>
              </a:rPr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>
                <a:solidFill>
                  <a:schemeClr val="bg1"/>
                </a:solidFill>
              </a:rPr>
              <a:t>         </a:t>
            </a:r>
            <a:r>
              <a:rPr lang="en-US" dirty="0">
                <a:solidFill>
                  <a:schemeClr val="bg1"/>
                </a:solidFill>
              </a:rPr>
              <a:t>		          </a:t>
            </a:r>
            <a:r>
              <a:rPr lang="en-US" b="1" dirty="0">
                <a:solidFill>
                  <a:schemeClr val="bg1"/>
                </a:solidFill>
              </a:rPr>
              <a:t>master table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u="sng" dirty="0">
                <a:solidFill>
                  <a:schemeClr val="bg1"/>
                </a:solidFill>
              </a:rPr>
              <a:t>s</a:t>
            </a:r>
            <a:r>
              <a:rPr lang="en-DE" u="sng" dirty="0" err="1">
                <a:solidFill>
                  <a:schemeClr val="bg1"/>
                </a:solidFill>
              </a:rPr>
              <a:t>tation</a:t>
            </a:r>
            <a:r>
              <a:rPr lang="en-DE" u="sng" dirty="0">
                <a:solidFill>
                  <a:schemeClr val="bg1"/>
                </a:solidFill>
              </a:rPr>
              <a:t>-year </a:t>
            </a:r>
            <a:r>
              <a:rPr lang="en-DE" dirty="0">
                <a:solidFill>
                  <a:schemeClr val="bg1"/>
                </a:solidFill>
              </a:rPr>
              <a:t>base</a:t>
            </a:r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DE" dirty="0">
                <a:solidFill>
                  <a:schemeClr val="bg1"/>
                </a:solidFill>
              </a:rPr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>
                <a:solidFill>
                  <a:schemeClr val="bg1"/>
                </a:solidFill>
              </a:rPr>
              <a:t>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Dynamic World           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CORINE buffers            </a:t>
            </a:r>
            <a:r>
              <a:rPr lang="en-US" i="1" dirty="0">
                <a:solidFill>
                  <a:schemeClr val="bg1"/>
                </a:solidFill>
              </a:rPr>
              <a:t>      	 </a:t>
            </a:r>
            <a:r>
              <a:rPr lang="en-DE" i="1" dirty="0" err="1">
                <a:solidFill>
                  <a:schemeClr val="bg1"/>
                </a:solidFill>
              </a:rPr>
              <a:t>Regionalstatistik</a:t>
            </a:r>
            <a:endParaRPr lang="en-DE" i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Annual land cover  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500/1000 m shares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D01132-22A1-2908-EDA2-4BDC38AC620F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73942A-52C6-C6FC-A509-412F291B63BC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32434B-67EB-BB03-4740-3469DF904828}"/>
              </a:ext>
            </a:extLst>
          </p:cNvPr>
          <p:cNvGraphicFramePr>
            <a:graphicFrameLocks noGrp="1"/>
          </p:cNvGraphicFramePr>
          <p:nvPr/>
        </p:nvGraphicFramePr>
        <p:xfrm>
          <a:off x="1210794" y="4999807"/>
          <a:ext cx="9885992" cy="1173480"/>
        </p:xfrm>
        <a:graphic>
          <a:graphicData uri="http://schemas.openxmlformats.org/drawingml/2006/table">
            <a:tbl>
              <a:tblPr/>
              <a:tblGrid>
                <a:gridCol w="150551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524973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4837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1123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621143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57992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65944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7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64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36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1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0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2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32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CCD106-94D4-77B8-3B7B-057BCB4DA3C8}"/>
              </a:ext>
            </a:extLst>
          </p:cNvPr>
          <p:cNvGraphicFramePr>
            <a:graphicFrameLocks noGrp="1"/>
          </p:cNvGraphicFramePr>
          <p:nvPr/>
        </p:nvGraphicFramePr>
        <p:xfrm>
          <a:off x="445541" y="2548634"/>
          <a:ext cx="11416497" cy="1731647"/>
        </p:xfrm>
        <a:graphic>
          <a:graphicData uri="http://schemas.openxmlformats.org/drawingml/2006/table">
            <a:tbl>
              <a:tblPr/>
              <a:tblGrid>
                <a:gridCol w="1522744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813301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983783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355743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421098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605568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714260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451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st_id</a:t>
                      </a:r>
                      <a:r>
                        <a:rPr lang="en-US" sz="18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year</a:t>
                      </a:r>
                      <a:endParaRPr lang="en-DE" sz="1800" dirty="0">
                        <a:solidFill>
                          <a:schemeClr val="bg2">
                            <a:lumMod val="75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station_name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water_body_id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water_body_name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sampling_depth_m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lon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lat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Emmen I</a:t>
                      </a:r>
                      <a:endParaRPr lang="en-DE" sz="1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DEGB_DENI_4_2103</a:t>
                      </a:r>
                      <a:endParaRPr lang="en-DE" sz="1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Ise </a:t>
                      </a:r>
                      <a:r>
                        <a:rPr lang="en-US" sz="14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Lockergestein</a:t>
                      </a: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re</a:t>
                      </a:r>
                      <a:endParaRPr lang="en-DE" sz="1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9.3</a:t>
                      </a:r>
                      <a:endParaRPr lang="en-DE" sz="1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106228076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527052441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664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C0C0F-4C9C-1964-DA11-B9C4FA51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783F97D3-3FE3-D50F-FBE5-8FED6793B3FB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A8093-73B8-4FD3-B4EF-CA28A27A67E3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				      </a:t>
            </a:r>
            <a:r>
              <a:rPr lang="en-DE" i="1" dirty="0">
                <a:solidFill>
                  <a:schemeClr val="bg1"/>
                </a:solidFill>
              </a:rPr>
              <a:t>UBA</a:t>
            </a: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		      </a:t>
            </a:r>
            <a:r>
              <a:rPr lang="en-DE" dirty="0">
                <a:solidFill>
                  <a:schemeClr val="bg1"/>
                </a:solidFill>
              </a:rPr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>
                <a:solidFill>
                  <a:schemeClr val="bg1"/>
                </a:solidFill>
              </a:rPr>
              <a:t>         </a:t>
            </a:r>
            <a:r>
              <a:rPr lang="en-US" dirty="0">
                <a:solidFill>
                  <a:schemeClr val="bg1"/>
                </a:solidFill>
              </a:rPr>
              <a:t>		          </a:t>
            </a:r>
            <a:r>
              <a:rPr lang="en-US" b="1" dirty="0">
                <a:solidFill>
                  <a:schemeClr val="bg1"/>
                </a:solidFill>
              </a:rPr>
              <a:t>master table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u="sng" dirty="0">
                <a:solidFill>
                  <a:schemeClr val="bg1"/>
                </a:solidFill>
              </a:rPr>
              <a:t>s</a:t>
            </a:r>
            <a:r>
              <a:rPr lang="en-DE" u="sng" dirty="0" err="1">
                <a:solidFill>
                  <a:schemeClr val="bg1"/>
                </a:solidFill>
              </a:rPr>
              <a:t>tation</a:t>
            </a:r>
            <a:r>
              <a:rPr lang="en-DE" u="sng" dirty="0">
                <a:solidFill>
                  <a:schemeClr val="bg1"/>
                </a:solidFill>
              </a:rPr>
              <a:t>-year </a:t>
            </a:r>
            <a:r>
              <a:rPr lang="en-DE" dirty="0">
                <a:solidFill>
                  <a:schemeClr val="bg1"/>
                </a:solidFill>
              </a:rPr>
              <a:t>base</a:t>
            </a:r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DE" dirty="0">
                <a:solidFill>
                  <a:schemeClr val="bg1"/>
                </a:solidFill>
              </a:rPr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>
                <a:solidFill>
                  <a:schemeClr val="bg1"/>
                </a:solidFill>
              </a:rPr>
              <a:t>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Dynamic World              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DE" i="1" dirty="0">
                <a:solidFill>
                  <a:schemeClr val="bg1"/>
                </a:solidFill>
              </a:rPr>
              <a:t>CORINE buffers            </a:t>
            </a:r>
            <a:r>
              <a:rPr lang="en-US" i="1" dirty="0">
                <a:solidFill>
                  <a:schemeClr val="bg1"/>
                </a:solidFill>
              </a:rPr>
              <a:t>      	 </a:t>
            </a:r>
            <a:r>
              <a:rPr lang="en-DE" i="1" dirty="0" err="1">
                <a:solidFill>
                  <a:schemeClr val="bg1"/>
                </a:solidFill>
              </a:rPr>
              <a:t>Regionalstatistik</a:t>
            </a:r>
            <a:endParaRPr lang="en-DE" i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Annual land cover  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500/1000 m shares       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DE" dirty="0">
                <a:solidFill>
                  <a:schemeClr val="bg1"/>
                </a:solidFill>
              </a:rPr>
              <a:t>Agricultural structure</a:t>
            </a:r>
          </a:p>
          <a:p>
            <a:r>
              <a:rPr lang="en-DE" dirty="0">
                <a:solidFill>
                  <a:schemeClr val="bg1"/>
                </a:solidFill>
              </a:rPr>
              <a:t>│</a:t>
            </a:r>
          </a:p>
          <a:p>
            <a:r>
              <a:rPr lang="en-DE" sz="1100" dirty="0">
                <a:solidFill>
                  <a:schemeClr val="bg1"/>
                </a:solidFill>
              </a:rPr>
              <a:t>▼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  <a:endParaRPr lang="en-DE" dirty="0">
              <a:solidFill>
                <a:schemeClr val="bg2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</a:t>
            </a:r>
            <a:r>
              <a:rPr lang="en-US" dirty="0">
                <a:solidFill>
                  <a:schemeClr val="bg1"/>
                </a:solidFill>
              </a:rPr>
              <a:t>                          </a:t>
            </a:r>
            <a:r>
              <a:rPr lang="en-DE" b="1" dirty="0">
                <a:solidFill>
                  <a:schemeClr val="bg1"/>
                </a:solidFill>
              </a:rPr>
              <a:t>Fixed Effects </a:t>
            </a:r>
            <a:r>
              <a:rPr lang="en-DE" dirty="0">
                <a:solidFill>
                  <a:schemeClr val="bg1"/>
                </a:solidFill>
              </a:rPr>
              <a:t>• Event Study • </a:t>
            </a:r>
            <a:r>
              <a:rPr lang="en-DE" b="1" dirty="0" err="1">
                <a:solidFill>
                  <a:schemeClr val="bg1"/>
                </a:solidFill>
              </a:rPr>
              <a:t>DiD</a:t>
            </a:r>
            <a:r>
              <a:rPr lang="en-DE" dirty="0">
                <a:solidFill>
                  <a:schemeClr val="bg1"/>
                </a:solidFill>
              </a:rPr>
              <a:t> • ML Models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D68038-9598-881F-5CB1-0CFE0222C9D9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B82B334-6DE8-146A-0169-26A4DB46DA06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778A08-1ADB-8AF0-E0C9-EA878E69C8F3}"/>
              </a:ext>
            </a:extLst>
          </p:cNvPr>
          <p:cNvGraphicFramePr>
            <a:graphicFrameLocks noGrp="1"/>
          </p:cNvGraphicFramePr>
          <p:nvPr/>
        </p:nvGraphicFramePr>
        <p:xfrm>
          <a:off x="1210794" y="4999807"/>
          <a:ext cx="9885992" cy="1173480"/>
        </p:xfrm>
        <a:graphic>
          <a:graphicData uri="http://schemas.openxmlformats.org/drawingml/2006/table">
            <a:tbl>
              <a:tblPr/>
              <a:tblGrid>
                <a:gridCol w="150551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524973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4837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1123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621143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57992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65944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7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64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36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solidFill>
                          <a:schemeClr val="tx1"/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1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2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32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  <a:endParaRPr lang="fi-FI" sz="3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3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045833-E3FB-103C-97AB-EDA0F7707E4A}"/>
              </a:ext>
            </a:extLst>
          </p:cNvPr>
          <p:cNvGraphicFramePr>
            <a:graphicFrameLocks noGrp="1"/>
          </p:cNvGraphicFramePr>
          <p:nvPr/>
        </p:nvGraphicFramePr>
        <p:xfrm>
          <a:off x="173619" y="3171134"/>
          <a:ext cx="11806178" cy="1245584"/>
        </p:xfrm>
        <a:graphic>
          <a:graphicData uri="http://schemas.openxmlformats.org/drawingml/2006/table">
            <a:tbl>
              <a:tblPr/>
              <a:tblGrid>
                <a:gridCol w="1655181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24885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511706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569580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2581154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514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st_id</a:t>
                      </a:r>
                      <a:r>
                        <a:rPr lang="en-US" sz="16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 year</a:t>
                      </a:r>
                      <a:endParaRPr lang="en-DE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dw_crops_share_500m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dw_trees_share_500m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dw_crops_share_1000m</a:t>
                      </a: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dw_trees_share</a:t>
                      </a: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_</a:t>
                      </a:r>
                      <a:r>
                        <a:rPr lang="en-US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10</a:t>
                      </a: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0.9858760148435586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0.00856644125052586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0.9701641039035896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0.010202338932703019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5375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A353-C065-5D1D-D327-D7F2308F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>
            <a:extLst>
              <a:ext uri="{FF2B5EF4-FFF2-40B4-BE49-F238E27FC236}">
                <a16:creationId xmlns:a16="http://schemas.microsoft.com/office/drawing/2014/main" id="{6CE39E8E-D8A5-E90D-E223-B2C9F88B9836}"/>
              </a:ext>
            </a:extLst>
          </p:cNvPr>
          <p:cNvSpPr txBox="1">
            <a:spLocks/>
          </p:cNvSpPr>
          <p:nvPr/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C40D1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Pipeline and Code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4D20E-F668-D90B-B79B-757B1508FE20}"/>
              </a:ext>
            </a:extLst>
          </p:cNvPr>
          <p:cNvSpPr txBox="1"/>
          <p:nvPr/>
        </p:nvSpPr>
        <p:spPr>
          <a:xfrm>
            <a:off x="1567544" y="1113982"/>
            <a:ext cx="92601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				      </a:t>
            </a:r>
            <a:r>
              <a:rPr lang="en-DE" i="1" dirty="0"/>
              <a:t>UBA</a:t>
            </a:r>
            <a:br>
              <a:rPr lang="en-US" i="1" dirty="0"/>
            </a:br>
            <a:r>
              <a:rPr lang="en-US" i="1" dirty="0"/>
              <a:t>		      </a:t>
            </a:r>
            <a:r>
              <a:rPr lang="en-DE" dirty="0"/>
              <a:t>groundwater stations &amp; nitrate measurements</a:t>
            </a:r>
          </a:p>
          <a:p>
            <a:r>
              <a:rPr lang="en-DE" dirty="0"/>
              <a:t> 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                            </a:t>
            </a:r>
            <a:r>
              <a:rPr lang="en-US" dirty="0"/>
              <a:t>		       </a:t>
            </a:r>
            <a:endParaRPr lang="en-DE" dirty="0"/>
          </a:p>
          <a:p>
            <a:r>
              <a:rPr lang="en-DE" dirty="0"/>
              <a:t>         </a:t>
            </a:r>
            <a:r>
              <a:rPr lang="en-US" dirty="0"/>
              <a:t>		          </a:t>
            </a:r>
            <a:r>
              <a:rPr lang="en-US" b="1" dirty="0"/>
              <a:t>master table</a:t>
            </a:r>
            <a:r>
              <a:rPr lang="en-US" dirty="0"/>
              <a:t>:</a:t>
            </a:r>
            <a:r>
              <a:rPr lang="en-DE" dirty="0"/>
              <a:t> </a:t>
            </a:r>
            <a:r>
              <a:rPr lang="en-US" u="sng" dirty="0"/>
              <a:t>s</a:t>
            </a:r>
            <a:r>
              <a:rPr lang="en-DE" u="sng" dirty="0" err="1"/>
              <a:t>tation</a:t>
            </a:r>
            <a:r>
              <a:rPr lang="en-DE" u="sng" dirty="0"/>
              <a:t>-year </a:t>
            </a:r>
            <a:r>
              <a:rPr lang="en-DE" dirty="0"/>
              <a:t>base</a:t>
            </a:r>
            <a:r>
              <a:rPr lang="en-US" dirty="0"/>
              <a:t>d</a:t>
            </a:r>
            <a:r>
              <a:rPr lang="en-DE" dirty="0"/>
              <a:t> panel</a:t>
            </a:r>
          </a:p>
          <a:p>
            <a:r>
              <a:rPr lang="en-DE" dirty="0">
                <a:solidFill>
                  <a:schemeClr val="bg1"/>
                </a:solidFill>
              </a:rPr>
              <a:t>┌───────────────────────────┼───────────────────────────▼                           ▼                           ▼</a:t>
            </a:r>
            <a:endParaRPr lang="en-US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i="1" dirty="0"/>
              <a:t>   </a:t>
            </a:r>
            <a:r>
              <a:rPr lang="en-US" i="1" dirty="0"/>
              <a:t>	</a:t>
            </a:r>
            <a:r>
              <a:rPr lang="en-DE" i="1" dirty="0"/>
              <a:t>Dynamic World              </a:t>
            </a:r>
            <a:r>
              <a:rPr lang="en-US" i="1" dirty="0"/>
              <a:t>	</a:t>
            </a:r>
            <a:r>
              <a:rPr lang="en-DE" i="1" dirty="0"/>
              <a:t>CORINE buffers            </a:t>
            </a:r>
            <a:r>
              <a:rPr lang="en-US" i="1" dirty="0"/>
              <a:t>      	 </a:t>
            </a:r>
            <a:r>
              <a:rPr lang="en-DE" i="1" dirty="0" err="1"/>
              <a:t>Regionalstatistik</a:t>
            </a:r>
            <a:endParaRPr lang="en-DE" i="1" dirty="0"/>
          </a:p>
          <a:p>
            <a:r>
              <a:rPr lang="en-DE" dirty="0"/>
              <a:t>  </a:t>
            </a:r>
            <a:r>
              <a:rPr lang="en-US" dirty="0"/>
              <a:t>	</a:t>
            </a:r>
            <a:r>
              <a:rPr lang="en-DE" dirty="0"/>
              <a:t>Annual land cover          </a:t>
            </a:r>
            <a:r>
              <a:rPr lang="en-US" dirty="0"/>
              <a:t>	</a:t>
            </a:r>
            <a:r>
              <a:rPr lang="en-DE" dirty="0"/>
              <a:t>500/1000 m shares        </a:t>
            </a:r>
            <a:r>
              <a:rPr lang="en-US" dirty="0"/>
              <a:t>	</a:t>
            </a:r>
            <a:r>
              <a:rPr lang="en-DE" dirty="0"/>
              <a:t>Agricultural structure</a:t>
            </a:r>
          </a:p>
          <a:p>
            <a:r>
              <a:rPr lang="en-DE" sz="1600" dirty="0"/>
              <a:t>│</a:t>
            </a:r>
          </a:p>
          <a:p>
            <a:r>
              <a:rPr lang="en-DE" sz="1200" dirty="0">
                <a:solidFill>
                  <a:schemeClr val="bg1"/>
                </a:solidFill>
              </a:rPr>
              <a:t>▼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b="1" dirty="0"/>
              <a:t>                          </a:t>
            </a:r>
            <a:r>
              <a:rPr lang="en-US" b="1" dirty="0"/>
              <a:t>                  	           full panel dataset</a:t>
            </a:r>
            <a:r>
              <a:rPr lang="en-DE" b="1" dirty="0">
                <a:solidFill>
                  <a:schemeClr val="bg1"/>
                </a:solidFill>
              </a:rPr>
              <a:t>│</a:t>
            </a:r>
            <a:br>
              <a:rPr lang="en-US" b="1" dirty="0">
                <a:solidFill>
                  <a:schemeClr val="bg1"/>
                </a:solidFill>
              </a:rPr>
            </a:br>
            <a:endParaRPr lang="en-DE" b="1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                                     ▼</a:t>
            </a:r>
          </a:p>
          <a:p>
            <a:r>
              <a:rPr lang="en-DE" dirty="0"/>
              <a:t>               </a:t>
            </a:r>
            <a:r>
              <a:rPr lang="en-US" dirty="0"/>
              <a:t>                          </a:t>
            </a:r>
            <a:r>
              <a:rPr lang="en-DE" b="1" dirty="0"/>
              <a:t>Fixed Effects </a:t>
            </a:r>
            <a:r>
              <a:rPr lang="en-DE" dirty="0"/>
              <a:t>• Event Study • </a:t>
            </a:r>
            <a:r>
              <a:rPr lang="en-DE" b="1" dirty="0" err="1"/>
              <a:t>DiD</a:t>
            </a:r>
            <a:r>
              <a:rPr lang="en-DE" dirty="0"/>
              <a:t> </a:t>
            </a:r>
            <a:r>
              <a:rPr lang="en-DE" dirty="0">
                <a:solidFill>
                  <a:schemeClr val="bg1">
                    <a:lumMod val="65000"/>
                  </a:schemeClr>
                </a:solidFill>
              </a:rPr>
              <a:t>• ML Models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17C94E-5AE3-1839-6E74-49CAEDD6EA05}"/>
              </a:ext>
            </a:extLst>
          </p:cNvPr>
          <p:cNvCxnSpPr/>
          <p:nvPr/>
        </p:nvCxnSpPr>
        <p:spPr>
          <a:xfrm>
            <a:off x="5863771" y="1785257"/>
            <a:ext cx="0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B7FD12-3D72-EF66-5C45-8E9C51390BFD}"/>
              </a:ext>
            </a:extLst>
          </p:cNvPr>
          <p:cNvCxnSpPr/>
          <p:nvPr/>
        </p:nvCxnSpPr>
        <p:spPr>
          <a:xfrm>
            <a:off x="5863771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AFEDD7-D623-FB50-103F-864FC3B64259}"/>
              </a:ext>
            </a:extLst>
          </p:cNvPr>
          <p:cNvCxnSpPr>
            <a:cxnSpLocks/>
          </p:cNvCxnSpPr>
          <p:nvPr/>
        </p:nvCxnSpPr>
        <p:spPr>
          <a:xfrm>
            <a:off x="5863771" y="4165600"/>
            <a:ext cx="0" cy="31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010558-8573-1283-1D97-1DE2FF57647F}"/>
              </a:ext>
            </a:extLst>
          </p:cNvPr>
          <p:cNvCxnSpPr>
            <a:cxnSpLocks/>
          </p:cNvCxnSpPr>
          <p:nvPr/>
        </p:nvCxnSpPr>
        <p:spPr>
          <a:xfrm>
            <a:off x="3178629" y="2815771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952EFA-BD54-C6D4-86A5-4981992EA1C8}"/>
              </a:ext>
            </a:extLst>
          </p:cNvPr>
          <p:cNvCxnSpPr>
            <a:cxnSpLocks/>
          </p:cNvCxnSpPr>
          <p:nvPr/>
        </p:nvCxnSpPr>
        <p:spPr>
          <a:xfrm>
            <a:off x="3178629" y="4165600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512499-0A04-CEB6-82F7-AD1A43654D0C}"/>
              </a:ext>
            </a:extLst>
          </p:cNvPr>
          <p:cNvCxnSpPr/>
          <p:nvPr/>
        </p:nvCxnSpPr>
        <p:spPr>
          <a:xfrm>
            <a:off x="5863771" y="2612571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C47797-7A96-9D7C-EB67-E8DB931A7FFF}"/>
              </a:ext>
            </a:extLst>
          </p:cNvPr>
          <p:cNvCxnSpPr/>
          <p:nvPr/>
        </p:nvCxnSpPr>
        <p:spPr>
          <a:xfrm>
            <a:off x="3178629" y="2815771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A1487F-5D58-A2AC-BF5D-0F6F4F74D854}"/>
              </a:ext>
            </a:extLst>
          </p:cNvPr>
          <p:cNvCxnSpPr/>
          <p:nvPr/>
        </p:nvCxnSpPr>
        <p:spPr>
          <a:xfrm>
            <a:off x="8969829" y="2823027"/>
            <a:ext cx="0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0EB248-A17D-F8A5-0576-DEB842CCCFA7}"/>
              </a:ext>
            </a:extLst>
          </p:cNvPr>
          <p:cNvCxnSpPr/>
          <p:nvPr/>
        </p:nvCxnSpPr>
        <p:spPr>
          <a:xfrm>
            <a:off x="3178629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2B0C7B-340E-1407-88A9-B11661339D38}"/>
              </a:ext>
            </a:extLst>
          </p:cNvPr>
          <p:cNvCxnSpPr/>
          <p:nvPr/>
        </p:nvCxnSpPr>
        <p:spPr>
          <a:xfrm>
            <a:off x="5863771" y="3962400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542BA1-18B7-6A49-AFF8-D8E565788064}"/>
              </a:ext>
            </a:extLst>
          </p:cNvPr>
          <p:cNvCxnSpPr/>
          <p:nvPr/>
        </p:nvCxnSpPr>
        <p:spPr>
          <a:xfrm>
            <a:off x="8969829" y="3955143"/>
            <a:ext cx="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458357-1F59-1780-84C3-F7D24645132A}"/>
              </a:ext>
            </a:extLst>
          </p:cNvPr>
          <p:cNvCxnSpPr>
            <a:cxnSpLocks/>
          </p:cNvCxnSpPr>
          <p:nvPr/>
        </p:nvCxnSpPr>
        <p:spPr>
          <a:xfrm>
            <a:off x="5863771" y="5072743"/>
            <a:ext cx="0" cy="31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850362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-Berlin-Praesentation-Master-Verlauf-Blau-Gruen.potx" id="{C5D3096A-7172-486D-AFF7-84606E0F9696}" vid="{D5E81D5E-EE78-4998-966F-796B3A3B9436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-Berlin-Praesentation-Master-Verlauf-Blau-Gruen.potx" id="{C5D3096A-7172-486D-AFF7-84606E0F9696}" vid="{57DCDA57-8EAF-4552-B667-8DB7FD433580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TU-Berlin-Praesentation-Master-Verlauf-Blau-Gruen</Template>
  <TotalTime>536</TotalTime>
  <Words>7375</Words>
  <Application>Microsoft Office PowerPoint</Application>
  <PresentationFormat>Widescreen</PresentationFormat>
  <Paragraphs>1295</Paragraphs>
  <Slides>69</Slides>
  <Notes>58</Notes>
  <HiddenSlides>13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Calibri</vt:lpstr>
      <vt:lpstr>Cascadia Code Light</vt:lpstr>
      <vt:lpstr>Symbol</vt:lpstr>
      <vt:lpstr>Titelfolien zur Auswahl</vt:lpstr>
      <vt:lpstr>Master für Folgeseiten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Rülicke-Ahrens, Janine</dc:creator>
  <cp:lastModifiedBy>TU-Pseudonym 5669684904547661</cp:lastModifiedBy>
  <cp:revision>23</cp:revision>
  <cp:lastPrinted>2021-03-24T16:10:50Z</cp:lastPrinted>
  <dcterms:created xsi:type="dcterms:W3CDTF">2023-04-20T08:59:26Z</dcterms:created>
  <dcterms:modified xsi:type="dcterms:W3CDTF">2026-07-16T12:55:32Z</dcterms:modified>
</cp:coreProperties>
</file>