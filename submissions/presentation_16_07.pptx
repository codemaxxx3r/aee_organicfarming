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710" r:id="rId2"/>
  </p:sldMasterIdLst>
  <p:notesMasterIdLst>
    <p:notesMasterId r:id="rId61"/>
  </p:notesMasterIdLst>
  <p:sldIdLst>
    <p:sldId id="359" r:id="rId3"/>
    <p:sldId id="354" r:id="rId4"/>
    <p:sldId id="400" r:id="rId5"/>
    <p:sldId id="401" r:id="rId6"/>
    <p:sldId id="402" r:id="rId7"/>
    <p:sldId id="368" r:id="rId8"/>
    <p:sldId id="372" r:id="rId9"/>
    <p:sldId id="403" r:id="rId10"/>
    <p:sldId id="388" r:id="rId11"/>
    <p:sldId id="382" r:id="rId12"/>
    <p:sldId id="404" r:id="rId13"/>
    <p:sldId id="389" r:id="rId14"/>
    <p:sldId id="383" r:id="rId15"/>
    <p:sldId id="384" r:id="rId16"/>
    <p:sldId id="405" r:id="rId17"/>
    <p:sldId id="391" r:id="rId18"/>
    <p:sldId id="392" r:id="rId19"/>
    <p:sldId id="393" r:id="rId20"/>
    <p:sldId id="385" r:id="rId21"/>
    <p:sldId id="406" r:id="rId22"/>
    <p:sldId id="379" r:id="rId23"/>
    <p:sldId id="394" r:id="rId24"/>
    <p:sldId id="396" r:id="rId25"/>
    <p:sldId id="397" r:id="rId26"/>
    <p:sldId id="398" r:id="rId27"/>
    <p:sldId id="399" r:id="rId28"/>
    <p:sldId id="395" r:id="rId29"/>
    <p:sldId id="381" r:id="rId30"/>
    <p:sldId id="420" r:id="rId31"/>
    <p:sldId id="421" r:id="rId32"/>
    <p:sldId id="422" r:id="rId33"/>
    <p:sldId id="423" r:id="rId34"/>
    <p:sldId id="419" r:id="rId35"/>
    <p:sldId id="417" r:id="rId36"/>
    <p:sldId id="364" r:id="rId37"/>
    <p:sldId id="371" r:id="rId38"/>
    <p:sldId id="367" r:id="rId39"/>
    <p:sldId id="374" r:id="rId40"/>
    <p:sldId id="378" r:id="rId41"/>
    <p:sldId id="380" r:id="rId42"/>
    <p:sldId id="424" r:id="rId43"/>
    <p:sldId id="425" r:id="rId44"/>
    <p:sldId id="426" r:id="rId45"/>
    <p:sldId id="427" r:id="rId46"/>
    <p:sldId id="428" r:id="rId47"/>
    <p:sldId id="429" r:id="rId48"/>
    <p:sldId id="370" r:id="rId49"/>
    <p:sldId id="362" r:id="rId50"/>
    <p:sldId id="363" r:id="rId51"/>
    <p:sldId id="414" r:id="rId52"/>
    <p:sldId id="416" r:id="rId53"/>
    <p:sldId id="407" r:id="rId54"/>
    <p:sldId id="408" r:id="rId55"/>
    <p:sldId id="409" r:id="rId56"/>
    <p:sldId id="410" r:id="rId57"/>
    <p:sldId id="411" r:id="rId58"/>
    <p:sldId id="412" r:id="rId59"/>
    <p:sldId id="413" r:id="rId6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4343"/>
    <a:srgbClr val="49CB40"/>
    <a:srgbClr val="1F90CC"/>
    <a:srgbClr val="9013FE"/>
    <a:srgbClr val="C40D1E"/>
    <a:srgbClr val="C40E02"/>
    <a:srgbClr val="FFFFFF"/>
    <a:srgbClr val="C50E1F"/>
    <a:srgbClr val="B2B2B2"/>
    <a:srgbClr val="71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F7BFB8-0508-991F-5191-A16AB76EA9D8}" v="7" dt="2026-07-16T07:32:48.076"/>
    <p1510:client id="{B82F9F63-B429-6D43-91C8-E0DC73B553B6}" v="58" dt="2026-07-15T21:28:43.3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1" autoAdjust="0"/>
    <p:restoredTop sz="64957" autoAdjust="0"/>
  </p:normalViewPr>
  <p:slideViewPr>
    <p:cSldViewPr snapToGrid="0" snapToObjects="1">
      <p:cViewPr varScale="1">
        <p:scale>
          <a:sx n="41" d="100"/>
          <a:sy n="41" d="100"/>
        </p:scale>
        <p:origin x="1596" y="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53" d="100"/>
          <a:sy n="153" d="100"/>
        </p:scale>
        <p:origin x="4920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microsoft.com/office/2015/10/relationships/revisionInfo" Target="revisionInfo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6180F-3EA1-4748-B4F4-956BB5176995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C3961-1900-1342-BF9B-82C3215CD31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93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According to the NLKWN </a:t>
            </a:r>
            <a:r>
              <a:rPr lang="en-US" dirty="0" err="1"/>
              <a:t>Landesbetrieb</a:t>
            </a:r>
            <a:r>
              <a:rPr lang="en-US" dirty="0"/>
              <a:t> für </a:t>
            </a:r>
            <a:r>
              <a:rPr lang="en-US" dirty="0" err="1"/>
              <a:t>Wasserwirtschaft</a:t>
            </a:r>
            <a:r>
              <a:rPr lang="en-US" dirty="0"/>
              <a:t>, </a:t>
            </a:r>
            <a:r>
              <a:rPr lang="en-US" dirty="0" err="1"/>
              <a:t>Küsten</a:t>
            </a:r>
            <a:r>
              <a:rPr lang="en-US" dirty="0"/>
              <a:t>- und </a:t>
            </a:r>
            <a:r>
              <a:rPr lang="en-US" dirty="0" err="1"/>
              <a:t>Naturschutz</a:t>
            </a:r>
            <a:r>
              <a:rPr lang="en-US" dirty="0"/>
              <a:t>, lower saxony exhibits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9741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5FD03-7E2B-C3C5-93CA-9D56A7A5A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A681D-3348-1B2A-F0BB-9FBE5911D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CBF41A-33BA-907C-AAD7-373535AA5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2.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91441-E27B-CBA4-C479-F95D74E6BA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101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F8E6A-5587-947A-803D-253815EC0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380419-3CC7-9DAF-0749-4C1A134921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DD455-EB09-ECBA-A515-217699566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3. … as we saw on the ALKIS dataset </a:t>
            </a:r>
            <a:r>
              <a:rPr lang="en-US" dirty="0" err="1"/>
              <a:t>cartographable</a:t>
            </a:r>
            <a:r>
              <a:rPr lang="en-US" dirty="0"/>
              <a:t> visualization last time…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BC07-4990-F35A-1A81-9DC765D781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2867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6392D-569B-B0C0-B106-594F4D3AB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B410-E7A0-3EDE-ED5A-A1101B990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5E707A-5B54-84DA-DA92-E26CCAC374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4. and as a matter of fact, also studied beyond this,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B5F8E7-15ED-A42C-0707-9E8615A31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09140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our research question remains</a:t>
            </a:r>
          </a:p>
          <a:p>
            <a:endParaRPr lang="en-US" dirty="0"/>
          </a:p>
          <a:p>
            <a:r>
              <a:rPr lang="en-US" dirty="0"/>
              <a:t>which we will tackle with the following backbone data ingredients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0566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THE UBA GROUNDWATER REPORT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832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4F0E7-718A-6291-5241-79D702D34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D9E45-41BC-B182-2AD7-58F598E4B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798D2-DB8B-23C7-3458-247CAB517A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it p</a:t>
            </a:r>
            <a:r>
              <a:rPr lang="en-DE" sz="1200" dirty="0" err="1"/>
              <a:t>rovides</a:t>
            </a:r>
            <a:r>
              <a:rPr lang="en-US" sz="1200" dirty="0"/>
              <a:t>:</a:t>
            </a:r>
            <a:endParaRPr lang="en-DE" sz="1200" dirty="0"/>
          </a:p>
          <a:p>
            <a:r>
              <a:rPr lang="en-DE" sz="1200" dirty="0"/>
              <a:t>groundwater monitoring stations</a:t>
            </a:r>
            <a:r>
              <a:rPr lang="en-US" sz="1200" dirty="0"/>
              <a:t> data,</a:t>
            </a:r>
            <a:r>
              <a:rPr lang="en-DE" sz="1200" dirty="0"/>
              <a:t> </a:t>
            </a:r>
            <a:br>
              <a:rPr lang="en-US" sz="1200" dirty="0"/>
            </a:br>
            <a:r>
              <a:rPr lang="en-US" sz="1200" dirty="0"/>
              <a:t>and their </a:t>
            </a:r>
            <a:r>
              <a:rPr lang="en-DE" sz="1200" dirty="0"/>
              <a:t>coordinates</a:t>
            </a:r>
            <a:r>
              <a:rPr lang="en-US" sz="1200" dirty="0"/>
              <a:t>,</a:t>
            </a:r>
            <a:endParaRPr lang="en-DE" sz="1200" dirty="0"/>
          </a:p>
          <a:p>
            <a:r>
              <a:rPr lang="en-DE" sz="1200" dirty="0"/>
              <a:t>nitrate measurements</a:t>
            </a:r>
            <a:r>
              <a:rPr lang="en-US" sz="1200" dirty="0"/>
              <a:t>,</a:t>
            </a:r>
            <a:r>
              <a:rPr lang="en-DE" sz="1200" dirty="0"/>
              <a:t> </a:t>
            </a:r>
          </a:p>
          <a:p>
            <a:r>
              <a:rPr lang="en-DE" sz="1200" dirty="0"/>
              <a:t>year</a:t>
            </a:r>
            <a:r>
              <a:rPr lang="en-US" sz="1200" dirty="0" err="1"/>
              <a:t>ly</a:t>
            </a:r>
            <a:r>
              <a:rPr lang="en-US" sz="1200" dirty="0"/>
              <a:t>-</a:t>
            </a:r>
            <a:endParaRPr lang="en-DE" sz="1200" dirty="0"/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CF29D-3725-96E8-A940-E702A4900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33993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deal with the missing stations and missing years later after an EDA,</a:t>
            </a:r>
          </a:p>
          <a:p>
            <a:endParaRPr lang="en-US" dirty="0"/>
          </a:p>
          <a:p>
            <a:r>
              <a:rPr lang="en-US" dirty="0"/>
              <a:t>but this is kind of the master data set we use, indexed/keyed by (</a:t>
            </a:r>
            <a:r>
              <a:rPr lang="en-US" dirty="0" err="1"/>
              <a:t>station,year</a:t>
            </a:r>
            <a:r>
              <a:rPr lang="en-US" dirty="0"/>
              <a:t>) pairs to augment it with other data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5094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pictures from Google Dynamic World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60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E3E68-E47A-5859-0F11-4AA1A5516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0AAEC-799C-1494-670B-0A70D97F57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C34F28-8EB8-FACC-B126-4A9C36268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works on remote sensing queries: so</a:t>
            </a:r>
            <a:endParaRPr lang="en-DE" dirty="0"/>
          </a:p>
          <a:p>
            <a:r>
              <a:rPr lang="en-US" dirty="0"/>
              <a:t>L</a:t>
            </a:r>
            <a:r>
              <a:rPr lang="en-DE" dirty="0"/>
              <a:t>and</a:t>
            </a:r>
            <a:r>
              <a:rPr lang="en-US" dirty="0"/>
              <a:t>-cover characteristics a</a:t>
            </a:r>
            <a:r>
              <a:rPr lang="en-DE" dirty="0"/>
              <a:t>round </a:t>
            </a:r>
            <a:r>
              <a:rPr lang="en-US" dirty="0"/>
              <a:t>a given point,</a:t>
            </a:r>
            <a:br>
              <a:rPr lang="en-US" dirty="0"/>
            </a:br>
            <a:r>
              <a:rPr lang="en-US" dirty="0"/>
              <a:t>for us:</a:t>
            </a:r>
            <a:r>
              <a:rPr lang="en-DE" dirty="0"/>
              <a:t> </a:t>
            </a:r>
            <a:r>
              <a:rPr lang="en-US" dirty="0"/>
              <a:t>each water </a:t>
            </a:r>
            <a:r>
              <a:rPr lang="en-DE" dirty="0"/>
              <a:t>monitoring station</a:t>
            </a:r>
            <a:endParaRPr lang="en-US" dirty="0"/>
          </a:p>
          <a:p>
            <a:pPr lvl="1"/>
            <a:r>
              <a:rPr lang="en-US" dirty="0"/>
              <a:t>crops  vs.  trees  vs.  grass</a:t>
            </a:r>
          </a:p>
          <a:p>
            <a:pPr lvl="1"/>
            <a:r>
              <a:rPr lang="en-US" dirty="0"/>
              <a:t>buildings   vs.   settlements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213EC-9201-23C4-72C1-ED5FA786C1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935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queried every year from 2016 (where the collection was started) to 2022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1895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CORINE is essentially the same,</a:t>
            </a:r>
          </a:p>
          <a:p>
            <a:r>
              <a:rPr lang="en-US" dirty="0"/>
              <a:t>so remote-sensing data,</a:t>
            </a:r>
          </a:p>
          <a:p>
            <a:r>
              <a:rPr lang="en-US" dirty="0"/>
              <a:t>but less fine that Google’s collection,</a:t>
            </a:r>
          </a:p>
          <a:p>
            <a:endParaRPr lang="en-US" dirty="0"/>
          </a:p>
          <a:p>
            <a:r>
              <a:rPr lang="en-US" dirty="0"/>
              <a:t>limited to snapshots on three years, so we have to interpolate for coverage of the rest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76353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Then of course the missing ingredient for our causal design is:</a:t>
            </a:r>
          </a:p>
          <a:p>
            <a:pPr marL="0" indent="0">
              <a:buNone/>
            </a:pPr>
            <a:r>
              <a:rPr lang="en-US" dirty="0"/>
              <a:t>some socio-economic data of district, where water station lies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48558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21339-0964-4DBC-6758-2E57A9025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7713A-821B-2B0A-3AE5-0B7531B46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0E70C-E4A9-3ECD-B8FB-F6AF4FFA7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namely:</a:t>
            </a:r>
            <a:endParaRPr lang="en-DE" dirty="0"/>
          </a:p>
          <a:p>
            <a:r>
              <a:rPr lang="en-US" dirty="0"/>
              <a:t>- </a:t>
            </a:r>
            <a:r>
              <a:rPr lang="en-DE" dirty="0"/>
              <a:t>organic farms</a:t>
            </a:r>
            <a:r>
              <a:rPr lang="en-US" dirty="0"/>
              <a:t> presence and count,</a:t>
            </a:r>
          </a:p>
          <a:p>
            <a:pPr marL="0" indent="0">
              <a:buFontTx/>
              <a:buNone/>
            </a:pPr>
            <a:r>
              <a:rPr lang="en-US" dirty="0"/>
              <a:t>- </a:t>
            </a:r>
            <a:r>
              <a:rPr lang="en-DE" dirty="0"/>
              <a:t>agricultural area </a:t>
            </a:r>
            <a:r>
              <a:rPr lang="en-US" dirty="0"/>
              <a:t>(vs populated area),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72F9C-29E3-BFE8-EFAE-C334C528B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6619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E6F91-9919-C7E5-8549-8BF1B69DD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11C4B-48C5-BC28-F8F1-6F4B40420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F56996-699C-C755-D265-F46A1356C6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… so this is a join to be done,</a:t>
            </a:r>
          </a:p>
          <a:p>
            <a:r>
              <a:rPr lang="en-US" dirty="0"/>
              <a:t>with again some missing lines in need of augmentation or continuation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025AC-F9BC-7E69-69D0-DC51B6AB1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3257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… and to</a:t>
            </a:r>
          </a:p>
          <a:p>
            <a:r>
              <a:rPr lang="en-US" dirty="0"/>
              <a:t>not only gain back some cartographic visuals</a:t>
            </a:r>
          </a:p>
          <a:p>
            <a:r>
              <a:rPr lang="en-US" dirty="0"/>
              <a:t>but also be able to assign temporal causal impact to local boundaries / classifications on the ground,</a:t>
            </a:r>
          </a:p>
          <a:p>
            <a:endParaRPr lang="en-US" dirty="0"/>
          </a:p>
          <a:p>
            <a:r>
              <a:rPr lang="en-US" dirty="0"/>
              <a:t>we needed to consult the </a:t>
            </a:r>
            <a:r>
              <a:rPr lang="en-US" dirty="0" err="1"/>
              <a:t>Bundesamt</a:t>
            </a:r>
            <a:r>
              <a:rPr lang="en-US" dirty="0"/>
              <a:t> für </a:t>
            </a:r>
            <a:r>
              <a:rPr lang="en-US" dirty="0" err="1"/>
              <a:t>Kartographie</a:t>
            </a:r>
            <a:r>
              <a:rPr lang="en-US" dirty="0"/>
              <a:t> und </a:t>
            </a:r>
            <a:r>
              <a:rPr lang="en-US" dirty="0" err="1"/>
              <a:t>Geodäsie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8704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78C7F-A03A-0108-1FD5-FEE12B93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9D4C7-6DDF-C269-CCF3-B8D2D3724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6B54B5-11BD-2EBF-21AB-5F0B367F69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 those change over the years, and if we key/index  our data   on   (station x year),</a:t>
            </a:r>
          </a:p>
          <a:p>
            <a:r>
              <a:rPr lang="en-US" dirty="0"/>
              <a:t>we need to take into account that those districts, a station belongs to, might change over time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2C0F8-7DD1-5968-2960-C4C9EF91C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0921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this is the raw data we used,</a:t>
            </a:r>
          </a:p>
          <a:p>
            <a:endParaRPr lang="en-US" dirty="0"/>
          </a:p>
          <a:p>
            <a:r>
              <a:rPr lang="en-US" dirty="0"/>
              <a:t>and we will further explain the pipeline to create the panel and econometric variables to you,</a:t>
            </a:r>
          </a:p>
          <a:p>
            <a:endParaRPr lang="en-US" dirty="0"/>
          </a:p>
          <a:p>
            <a:r>
              <a:rPr lang="en-US" dirty="0"/>
              <a:t>So you, can later just enjoy reading the econometric / did / causal design analysis and results in the report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45307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first, to maybe get ahead of  maybe  some of your flashbacks,</a:t>
            </a:r>
          </a:p>
          <a:p>
            <a:r>
              <a:rPr lang="en-US" dirty="0"/>
              <a:t>we ended up discarding some of the initial raw data sources,</a:t>
            </a:r>
          </a:p>
          <a:p>
            <a:endParaRPr lang="en-US" dirty="0"/>
          </a:p>
          <a:p>
            <a:r>
              <a:rPr lang="en-US" dirty="0"/>
              <a:t>and I prepared some slides for that in case some of you has the question as of why in the Q&amp;A,</a:t>
            </a:r>
          </a:p>
          <a:p>
            <a:endParaRPr lang="en-US" dirty="0"/>
          </a:p>
          <a:p>
            <a:r>
              <a:rPr lang="en-US" dirty="0"/>
              <a:t>but more importantly we now want to show you the final panel, so I omit that irritation here,</a:t>
            </a:r>
          </a:p>
          <a:p>
            <a:r>
              <a:rPr lang="en-US" dirty="0"/>
              <a:t>please ask in the end if you want to know what happened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98409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first, to maybe get ahead of  maybe  some of your flashbacks,</a:t>
            </a:r>
          </a:p>
          <a:p>
            <a:r>
              <a:rPr lang="en-US" dirty="0"/>
              <a:t>here is why we ended up discarding some of the initial raw data sources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49677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BCD65-AFD7-6FA7-F1D5-BEFF72D89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4BF1E-E8C8-B5D4-E357-9A2D6E67EC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FB475-7A83-753C-2FB9-F103A5F6A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the UBA dataset, we once viewed geodata from NUMIS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6F65F-2C4E-9FB7-5455-15697436A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4318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407A5-B6C6-4422-E472-F2CC37856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C9061-247F-7666-6FE6-814ACA4729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836A95-C6E4-515A-9A8C-CB1DD2AEA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this was :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C827B-9F01-4A9F-1CD0-61E4D962B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0399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4E8D-417C-7F6B-4542-F69F649F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EC54C3-04CC-2F7F-46E2-57054CC1B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E23A5A-167D-F1B9-D9D9-B8E0DAB3D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also used the ALKIS (---), mainly to identify Lower Saxony as a good place to focus our research question on,</a:t>
            </a:r>
          </a:p>
          <a:p>
            <a:endParaRPr lang="en-US" dirty="0"/>
          </a:p>
          <a:p>
            <a:r>
              <a:rPr lang="en-US" dirty="0"/>
              <a:t>and initially also thought to use the land-use/land-value data from there, but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E6B7F-7F0B-D3E6-DE8C-60C18334A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1997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932F-CE78-5C12-D792-87997869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25DF9-53D9-36E8-C0A3-7B9A006D8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B3B15-D4F7-EB38-CC55-53C3DD653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was…..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92A09-D7FF-932E-BF81-396989460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7658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34CE-A643-C7B9-6EB5-5BDCB33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0C4162-AEFD-1F53-B010-EAC0F692D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9B262E-FD36-8EDE-D886-50C7D5206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BORIS could be tossed entirely because it logs “land value” in a different sense namely valuation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84B49-2DAE-AC8D-FF09-F05BCF995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6159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06038-A0A5-683B-15A8-C37ECA310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B3D14-F7B2-197B-DAD9-598A27E1D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07F9F-BE31-31F3-136B-7C00B600D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census dataset is one we kept, the other one is new to gain spatial data back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ADD66-C685-9990-A254-FA4484A9AE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45015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far, this is our workflow on how the pre-processed full panel dataset we will use got created</a:t>
            </a:r>
          </a:p>
          <a:p>
            <a:endParaRPr lang="en-US" dirty="0"/>
          </a:p>
          <a:p>
            <a:r>
              <a:rPr lang="en-US" dirty="0"/>
              <a:t>and the code’s pipeline is also structured like this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39569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D8708-1F90-6750-1AF1-2859710B3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A93FED-27D8-A543-38DD-35E5BF72D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58797-033B-4C5C-FB1F-F6AFCB539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the panel dataset is a huge long table, with columns-MODULES after processing all data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8A3EE-34F1-42EC-E5F9-26C8A7C3A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75394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3F17-00CB-A6F0-5328-E90D3648D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4849F3-2D88-7C41-7211-2243AF323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9CE94-1FC3-A5A3-C39B-4CE70412D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for you to get an idea, one module deals with nitrate measurements</a:t>
            </a:r>
          </a:p>
          <a:p>
            <a:endParaRPr lang="en-US" dirty="0"/>
          </a:p>
          <a:p>
            <a:r>
              <a:rPr lang="en-US" dirty="0"/>
              <a:t>per station per year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CF6A8-EF0F-3B01-F9D6-9B16F5243B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93400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F7589-B3B3-15FD-00FB-83B060540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6A9AA0-49EF-ED2B-65B8-A2AB4B196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8D498-BC99-A9B6-4C72-E6636A4E5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module with data for the water station data</a:t>
            </a:r>
          </a:p>
          <a:p>
            <a:endParaRPr lang="en-US" dirty="0"/>
          </a:p>
          <a:p>
            <a:r>
              <a:rPr lang="en-US" dirty="0"/>
              <a:t>its name, id, coordinates, water parcel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58771-AE3A-F627-BB91-E4EE654AC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21844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3451A-2839-B0CB-4459-9F071848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23C263-FAEA-8956-B150-30E1B885B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0AA56C-9905-C82C-A078-FDE3EC50C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module for having created buffers around a point/water station</a:t>
            </a:r>
          </a:p>
          <a:p>
            <a:endParaRPr lang="en-US" dirty="0"/>
          </a:p>
          <a:p>
            <a:r>
              <a:rPr lang="en-US" dirty="0"/>
              <a:t>and collecting the shares of land use</a:t>
            </a:r>
          </a:p>
          <a:p>
            <a:endParaRPr lang="en-US" dirty="0"/>
          </a:p>
          <a:p>
            <a:r>
              <a:rPr lang="en-US" dirty="0"/>
              <a:t>once for a </a:t>
            </a:r>
            <a:r>
              <a:rPr lang="en-US" dirty="0" err="1"/>
              <a:t>ringbuffer</a:t>
            </a:r>
            <a:r>
              <a:rPr lang="en-US" dirty="0"/>
              <a:t> of 500m once of 100m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47E6A-B642-DD05-7BB8-6F1D7A9637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71035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85873-5960-3D67-DDD0-F86F73D99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C96E0-A287-2EDE-DEA9-9F4F14137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28761-7EDF-C142-AEB4-84C678A45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so on..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before we come to some ideas for the causal design, I  now hand over to Alex for some EDA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896FE-C7A1-AADF-9BA1-5757AAE20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33740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D4CD-6457-82AE-3996-69FD418F2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C2A10-885F-7C08-0156-FCE9A59DF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223DFD-BFA7-764D-E4AF-2E38F4974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 now hand over to Alex for some EDA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02F75-561A-459F-50FE-363B89727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311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 effects really natural to our panel, station FE and year FE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12348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 study:</a:t>
            </a:r>
          </a:p>
          <a:p>
            <a:endParaRPr lang="en-US" dirty="0"/>
          </a:p>
          <a:p>
            <a:r>
              <a:rPr lang="en-US" dirty="0"/>
              <a:t>not with the treatment being “farm converted” </a:t>
            </a:r>
          </a:p>
          <a:p>
            <a:endParaRPr lang="en-US" dirty="0"/>
          </a:p>
          <a:p>
            <a:r>
              <a:rPr lang="en-US" dirty="0"/>
              <a:t>but with the treatment being “district experienced a large increase in organic share”, </a:t>
            </a:r>
            <a:r>
              <a:rPr lang="en-US" dirty="0" err="1"/>
              <a:t>eg</a:t>
            </a:r>
            <a:r>
              <a:rPr lang="en-US" dirty="0"/>
              <a:t> +5% within four years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05671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475-FB10-64D5-BC23-315407020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948F0-C9EB-2182-B2FB-3DF8E3A92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E8E96-05D0-E6DF-37F4-BAD169CF92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is, because as Alex already mentioned, a classic binary treatment-untreated </a:t>
            </a:r>
            <a:r>
              <a:rPr lang="en-US" dirty="0" err="1"/>
              <a:t>DiD</a:t>
            </a:r>
            <a:r>
              <a:rPr lang="en-US" dirty="0"/>
              <a:t> is not set up anymore,</a:t>
            </a:r>
          </a:p>
          <a:p>
            <a:endParaRPr lang="en-US" dirty="0"/>
          </a:p>
          <a:p>
            <a:r>
              <a:rPr lang="en-US" dirty="0"/>
              <a:t>cause our panel logs gradual changes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4717F-681D-3317-3DD1-1273318A1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87326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E90D-764B-77C5-01F0-A2AA873A4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147BF-9D3E-B35C-E705-34B031D12D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5D905-FF53-F417-478F-1DA8EC896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we may still be able to construct a treatment variable in the sense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“district where organic area increased by 30%”  and “everything else”</a:t>
            </a:r>
          </a:p>
          <a:p>
            <a:endParaRPr lang="en-US" dirty="0"/>
          </a:p>
          <a:p>
            <a:r>
              <a:rPr lang="en-US" dirty="0"/>
              <a:t>which is called Staggered Adoption </a:t>
            </a:r>
            <a:r>
              <a:rPr lang="en-US" dirty="0" err="1"/>
              <a:t>DiD</a:t>
            </a:r>
            <a:r>
              <a:rPr lang="en-US" dirty="0"/>
              <a:t>, which is what we are currently reading into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C5331-C5FD-9586-E1A0-53388DDE7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501158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6C2AF-525B-3DAE-C51F-450A43616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334A5C-49CB-FA53-DD1A-F04BDD99B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9184C-9AA5-B788-4737-247E61617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our panel data set might  actually also really well suited for some fancy </a:t>
            </a:r>
            <a:r>
              <a:rPr lang="en-US" dirty="0" err="1"/>
              <a:t>DiD</a:t>
            </a:r>
            <a:r>
              <a:rPr lang="en-US" dirty="0"/>
              <a:t> mods</a:t>
            </a:r>
          </a:p>
          <a:p>
            <a:endParaRPr lang="en-US" dirty="0"/>
          </a:p>
          <a:p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Callaway &amp; Sant'Anna Difference-in-Differences (CSDID)</a:t>
            </a:r>
          </a:p>
          <a:p>
            <a:pPr marL="171450" indent="-171450">
              <a:buFontTx/>
              <a:buChar char="-"/>
            </a:pPr>
            <a:r>
              <a:rPr lang="en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Doubly Robust Difference-in-Differences (DRDID)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..which are some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packeges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found for STATA so maybe they also exist for python or R</a:t>
            </a:r>
          </a:p>
          <a:p>
            <a:pPr marL="0" indent="0">
              <a:buFontTx/>
              <a:buNone/>
            </a:pP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C3892-754E-346E-5F60-B3A5597AC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1875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A2E3-6984-A924-208C-3C842F763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313C7-BD76-66F9-E730-C64A9EB89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1C4F62-7A9B-8C36-2AE3-A0A2194CC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Distributed Lag DID which works on some sort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moving averages sliding window technique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if anyone already spots the right method, let us now, elsewise this is an experiment</a:t>
            </a:r>
            <a:endParaRPr lang="en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695D3-28F8-BCB9-CDC8-24068706F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464400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that’s about it, so the next steps are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40625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16FF-70A4-1DDA-A233-EB900818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AE48C-45E7-61CB-D8E5-B6E47094D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BB6CC2-E7BD-959C-6E4D-335D7A775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first, to maybe get ahead of  maybe  some of your flashbacks,</a:t>
            </a:r>
          </a:p>
          <a:p>
            <a:r>
              <a:rPr lang="en-US" dirty="0"/>
              <a:t>here is why we ended up discarding some of the initial raw data sources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FB742-D61E-6DE2-8A57-6E13347D97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994993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EA3F3-E6A5-9114-C423-2B3C9977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AC34C-01DC-2613-800A-384D075B6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A7173-15E3-A035-904D-6EDE7AF5B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the UBA dataset, we once viewed geodata from NUMIS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7A9B9-665B-D42A-2CAE-735F6AB4F3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30326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B451-0F77-D925-BE10-E63B13362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91EA90-3746-72AD-CB14-CCCBA46B8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7D7DEA-F31C-E276-37B4-9935B4F06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this was : ….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7AACB-8613-3700-0586-6DBC49C93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93132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D20BC-BB2F-4CCA-FD02-DD2C57ADE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C2233-3488-EC12-35D1-FE696A9D2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52FD1-8640-B7E9-46D4-9BF98BA62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also used the ALKIS (---), mainly to identify Lower Saxony as a good place to focus our research question on,</a:t>
            </a:r>
          </a:p>
          <a:p>
            <a:endParaRPr lang="en-US" dirty="0"/>
          </a:p>
          <a:p>
            <a:r>
              <a:rPr lang="en-US" dirty="0"/>
              <a:t>and initially also thought to use the land-use/land-value data from there, but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A9BF0-E0EA-253D-CB16-4D5D90D05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170628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66A4-CE1F-3266-9DE2-E3DE22C4B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DACB22-A6B4-341E-3C1D-81A43D11F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DCF069-FE04-E7E4-CCF5-3B9AB5738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was…..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2FE5C-967D-26F1-DEF8-2267FA7D3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960178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FD16-82F5-F249-E2FD-EF54D7868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1F704-B4FF-A311-EB29-95D57E834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9E52BD-EBCC-14D3-194E-A8FAE4199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BORIS could be tossed entirely because it logs “land value” in a different sense namely valuation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8DFB9-3433-80F0-24E5-D797AEB40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33466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EC016-26DB-4E17-CDA2-C65FD49AE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3A9008-5744-287B-6BAE-C2477359B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9C9AEF-BB07-46DE-9835-9053A72D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census dataset is one we kept, the other one is new to gain spatial data back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CC3BB-F83A-B112-FCEE-5DAD4D720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3C3961-1900-1342-BF9B-82C3215CD312}" type="slidenum">
              <a:rPr lang="de-DE" smtClean="0"/>
              <a:t>58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644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-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3">
            <a:extLst>
              <a:ext uri="{FF2B5EF4-FFF2-40B4-BE49-F238E27FC236}">
                <a16:creationId xmlns:a16="http://schemas.microsoft.com/office/drawing/2014/main" id="{9A036687-F2BF-7B4C-A352-6E1D355D125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6479" y="1260572"/>
            <a:ext cx="8885359" cy="3273604"/>
          </a:xfrm>
          <a:custGeom>
            <a:avLst/>
            <a:gdLst>
              <a:gd name="connsiteX0" fmla="*/ 0 w 8328660"/>
              <a:gd name="connsiteY0" fmla="*/ 0 h 3143274"/>
              <a:gd name="connsiteX1" fmla="*/ 8328660 w 8328660"/>
              <a:gd name="connsiteY1" fmla="*/ 0 h 3143274"/>
              <a:gd name="connsiteX2" fmla="*/ 8328660 w 8328660"/>
              <a:gd name="connsiteY2" fmla="*/ 3143274 h 3143274"/>
              <a:gd name="connsiteX3" fmla="*/ 0 w 8328660"/>
              <a:gd name="connsiteY3" fmla="*/ 3143274 h 3143274"/>
              <a:gd name="connsiteX4" fmla="*/ 0 w 8328660"/>
              <a:gd name="connsiteY4" fmla="*/ 0 h 314327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8660 w 8336280"/>
              <a:gd name="connsiteY2" fmla="*/ 374525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1040 w 8336280"/>
              <a:gd name="connsiteY2" fmla="*/ 324233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286029 h 3429303"/>
              <a:gd name="connsiteX1" fmla="*/ 8336280 w 8336280"/>
              <a:gd name="connsiteY1" fmla="*/ 0 h 3429303"/>
              <a:gd name="connsiteX2" fmla="*/ 8321040 w 8336280"/>
              <a:gd name="connsiteY2" fmla="*/ 2926383 h 3429303"/>
              <a:gd name="connsiteX3" fmla="*/ 0 w 8336280"/>
              <a:gd name="connsiteY3" fmla="*/ 3429303 h 3429303"/>
              <a:gd name="connsiteX4" fmla="*/ 0 w 8336280"/>
              <a:gd name="connsiteY4" fmla="*/ 286029 h 3429303"/>
              <a:gd name="connsiteX0" fmla="*/ 0 w 8339997"/>
              <a:gd name="connsiteY0" fmla="*/ 312049 h 3429303"/>
              <a:gd name="connsiteX1" fmla="*/ 8339997 w 8339997"/>
              <a:gd name="connsiteY1" fmla="*/ 0 h 3429303"/>
              <a:gd name="connsiteX2" fmla="*/ 8324757 w 8339997"/>
              <a:gd name="connsiteY2" fmla="*/ 2926383 h 3429303"/>
              <a:gd name="connsiteX3" fmla="*/ 3717 w 8339997"/>
              <a:gd name="connsiteY3" fmla="*/ 3429303 h 3429303"/>
              <a:gd name="connsiteX4" fmla="*/ 0 w 8339997"/>
              <a:gd name="connsiteY4" fmla="*/ 312049 h 3429303"/>
              <a:gd name="connsiteX0" fmla="*/ 0 w 8343172"/>
              <a:gd name="connsiteY0" fmla="*/ 305699 h 3429303"/>
              <a:gd name="connsiteX1" fmla="*/ 8343172 w 8343172"/>
              <a:gd name="connsiteY1" fmla="*/ 0 h 3429303"/>
              <a:gd name="connsiteX2" fmla="*/ 8327932 w 8343172"/>
              <a:gd name="connsiteY2" fmla="*/ 2926383 h 3429303"/>
              <a:gd name="connsiteX3" fmla="*/ 6892 w 8343172"/>
              <a:gd name="connsiteY3" fmla="*/ 3429303 h 3429303"/>
              <a:gd name="connsiteX4" fmla="*/ 0 w 8343172"/>
              <a:gd name="connsiteY4" fmla="*/ 305699 h 3429303"/>
              <a:gd name="connsiteX0" fmla="*/ 0 w 8349522"/>
              <a:gd name="connsiteY0" fmla="*/ 30887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8874 h 3429303"/>
              <a:gd name="connsiteX0" fmla="*/ 0 w 8352697"/>
              <a:gd name="connsiteY0" fmla="*/ 312049 h 3429303"/>
              <a:gd name="connsiteX1" fmla="*/ 8352697 w 8352697"/>
              <a:gd name="connsiteY1" fmla="*/ 0 h 3429303"/>
              <a:gd name="connsiteX2" fmla="*/ 8337457 w 8352697"/>
              <a:gd name="connsiteY2" fmla="*/ 2926383 h 3429303"/>
              <a:gd name="connsiteX3" fmla="*/ 16417 w 8352697"/>
              <a:gd name="connsiteY3" fmla="*/ 3429303 h 3429303"/>
              <a:gd name="connsiteX4" fmla="*/ 0 w 8352697"/>
              <a:gd name="connsiteY4" fmla="*/ 312049 h 3429303"/>
              <a:gd name="connsiteX0" fmla="*/ 0 w 8349522"/>
              <a:gd name="connsiteY0" fmla="*/ 30252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2524 h 3429303"/>
              <a:gd name="connsiteX0" fmla="*/ 0 w 8349522"/>
              <a:gd name="connsiteY0" fmla="*/ 302524 h 3226103"/>
              <a:gd name="connsiteX1" fmla="*/ 8349522 w 8349522"/>
              <a:gd name="connsiteY1" fmla="*/ 0 h 3226103"/>
              <a:gd name="connsiteX2" fmla="*/ 8334282 w 8349522"/>
              <a:gd name="connsiteY2" fmla="*/ 2926383 h 3226103"/>
              <a:gd name="connsiteX3" fmla="*/ 13242 w 8349522"/>
              <a:gd name="connsiteY3" fmla="*/ 3226103 h 3226103"/>
              <a:gd name="connsiteX4" fmla="*/ 0 w 8349522"/>
              <a:gd name="connsiteY4" fmla="*/ 302524 h 3226103"/>
              <a:gd name="connsiteX0" fmla="*/ 0 w 8883911"/>
              <a:gd name="connsiteY0" fmla="*/ 326274 h 3226103"/>
              <a:gd name="connsiteX1" fmla="*/ 8883911 w 8883911"/>
              <a:gd name="connsiteY1" fmla="*/ 0 h 3226103"/>
              <a:gd name="connsiteX2" fmla="*/ 8868671 w 8883911"/>
              <a:gd name="connsiteY2" fmla="*/ 2926383 h 3226103"/>
              <a:gd name="connsiteX3" fmla="*/ 547631 w 8883911"/>
              <a:gd name="connsiteY3" fmla="*/ 3226103 h 3226103"/>
              <a:gd name="connsiteX4" fmla="*/ 0 w 8883911"/>
              <a:gd name="connsiteY4" fmla="*/ 326274 h 3226103"/>
              <a:gd name="connsiteX0" fmla="*/ 0 w 8872036"/>
              <a:gd name="connsiteY0" fmla="*/ 326274 h 3226103"/>
              <a:gd name="connsiteX1" fmla="*/ 8872036 w 8872036"/>
              <a:gd name="connsiteY1" fmla="*/ 0 h 3226103"/>
              <a:gd name="connsiteX2" fmla="*/ 8856796 w 8872036"/>
              <a:gd name="connsiteY2" fmla="*/ 2926383 h 3226103"/>
              <a:gd name="connsiteX3" fmla="*/ 535756 w 8872036"/>
              <a:gd name="connsiteY3" fmla="*/ 3226103 h 3226103"/>
              <a:gd name="connsiteX4" fmla="*/ 0 w 8872036"/>
              <a:gd name="connsiteY4" fmla="*/ 326274 h 3226103"/>
              <a:gd name="connsiteX0" fmla="*/ 34357 w 8906393"/>
              <a:gd name="connsiteY0" fmla="*/ 326274 h 3273604"/>
              <a:gd name="connsiteX1" fmla="*/ 8906393 w 8906393"/>
              <a:gd name="connsiteY1" fmla="*/ 0 h 3273604"/>
              <a:gd name="connsiteX2" fmla="*/ 8891153 w 8906393"/>
              <a:gd name="connsiteY2" fmla="*/ 2926383 h 3273604"/>
              <a:gd name="connsiteX3" fmla="*/ 98 w 8906393"/>
              <a:gd name="connsiteY3" fmla="*/ 3273604 h 3273604"/>
              <a:gd name="connsiteX4" fmla="*/ 34357 w 8906393"/>
              <a:gd name="connsiteY4" fmla="*/ 326274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1367 w 8907662"/>
              <a:gd name="connsiteY3" fmla="*/ 3273604 h 3273604"/>
              <a:gd name="connsiteX4" fmla="*/ 0 w 8907662"/>
              <a:gd name="connsiteY4" fmla="*/ 338149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32591 w 8907662"/>
              <a:gd name="connsiteY3" fmla="*/ 3273604 h 3273604"/>
              <a:gd name="connsiteX4" fmla="*/ 0 w 8907662"/>
              <a:gd name="connsiteY4" fmla="*/ 338149 h 3273604"/>
              <a:gd name="connsiteX0" fmla="*/ 0 w 8885359"/>
              <a:gd name="connsiteY0" fmla="*/ 338149 h 3273604"/>
              <a:gd name="connsiteX1" fmla="*/ 8885359 w 8885359"/>
              <a:gd name="connsiteY1" fmla="*/ 0 h 3273604"/>
              <a:gd name="connsiteX2" fmla="*/ 8870119 w 8885359"/>
              <a:gd name="connsiteY2" fmla="*/ 2926383 h 3273604"/>
              <a:gd name="connsiteX3" fmla="*/ 10288 w 8885359"/>
              <a:gd name="connsiteY3" fmla="*/ 3273604 h 3273604"/>
              <a:gd name="connsiteX4" fmla="*/ 0 w 8885359"/>
              <a:gd name="connsiteY4" fmla="*/ 338149 h 3273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85359" h="3273604">
                <a:moveTo>
                  <a:pt x="0" y="338149"/>
                </a:moveTo>
                <a:lnTo>
                  <a:pt x="8885359" y="0"/>
                </a:lnTo>
                <a:lnTo>
                  <a:pt x="8870119" y="2926383"/>
                </a:lnTo>
                <a:lnTo>
                  <a:pt x="10288" y="3273604"/>
                </a:lnTo>
                <a:cubicBezTo>
                  <a:pt x="7991" y="2232403"/>
                  <a:pt x="2297" y="1379350"/>
                  <a:pt x="0" y="338149"/>
                </a:cubicBezTo>
                <a:close/>
              </a:path>
            </a:pathLst>
          </a:custGeom>
          <a:solidFill>
            <a:srgbClr val="434343"/>
          </a:solidFill>
        </p:spPr>
        <p:txBody>
          <a:bodyPr lIns="576000"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Platzhalter: Bild Titelfolie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18C730E-B3F8-944F-8BC2-E236CE7245E4}"/>
              </a:ext>
            </a:extLst>
          </p:cNvPr>
          <p:cNvSpPr txBox="1"/>
          <p:nvPr userDrawn="1"/>
        </p:nvSpPr>
        <p:spPr>
          <a:xfrm>
            <a:off x="-2031023" y="2620375"/>
            <a:ext cx="202130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Platzhalterbild ersetzen:</a:t>
            </a:r>
            <a:b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löschen und durch neues Bild ersetzen &gt; über Bildformat &gt; Zuschneiden im Rahmen ggf. nachpositionieren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Copyrightangabe: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Korrektes Copyright angeben (in der Regel Name des*der Fotograf*in), Textfarbe je nach Hintergrund weiß oder schwarz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7B17960-7FEA-3C44-9F5C-B38F41DF0CD3}"/>
              </a:ext>
            </a:extLst>
          </p:cNvPr>
          <p:cNvSpPr txBox="1"/>
          <p:nvPr userDrawn="1"/>
        </p:nvSpPr>
        <p:spPr>
          <a:xfrm>
            <a:off x="9903" y="-313433"/>
            <a:ext cx="17036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V1: Titelfolie mit Bild</a:t>
            </a:r>
          </a:p>
        </p:txBody>
      </p:sp>
    </p:spTree>
    <p:extLst>
      <p:ext uri="{BB962C8B-B14F-4D97-AF65-F5344CB8AC3E}">
        <p14:creationId xmlns:p14="http://schemas.microsoft.com/office/powerpoint/2010/main" val="275691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-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740704DC-2971-A248-9827-94150E3D8746}"/>
              </a:ext>
            </a:extLst>
          </p:cNvPr>
          <p:cNvSpPr txBox="1"/>
          <p:nvPr userDrawn="1"/>
        </p:nvSpPr>
        <p:spPr>
          <a:xfrm>
            <a:off x="9903" y="-313433"/>
            <a:ext cx="17036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V2: Titelfolie ohne Bild</a:t>
            </a:r>
          </a:p>
        </p:txBody>
      </p:sp>
    </p:spTree>
    <p:extLst>
      <p:ext uri="{BB962C8B-B14F-4D97-AF65-F5344CB8AC3E}">
        <p14:creationId xmlns:p14="http://schemas.microsoft.com/office/powerpoint/2010/main" val="1505704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Text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7BD4116-72F8-7D4E-846E-4E9887F60C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0800" y="3175200"/>
            <a:ext cx="9721850" cy="2124075"/>
          </a:xfrm>
          <a:prstGeom prst="rect">
            <a:avLst/>
          </a:prstGeom>
        </p:spPr>
        <p:txBody>
          <a:bodyPr lIns="0" t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Aufzählung 1. Ebene Arial Regular 18 </a:t>
            </a:r>
            <a:r>
              <a:rPr lang="de-DE" dirty="0" err="1"/>
              <a:t>pt</a:t>
            </a:r>
            <a:r>
              <a:rPr lang="de-DE" dirty="0"/>
              <a:t>, ZA: 24 </a:t>
            </a:r>
            <a:r>
              <a:rPr lang="de-DE" dirty="0" err="1"/>
              <a:t>pt</a:t>
            </a:r>
            <a:endParaRPr lang="de-DE" dirty="0"/>
          </a:p>
          <a:p>
            <a:pPr lvl="1"/>
            <a:r>
              <a:rPr lang="de-DE" dirty="0"/>
              <a:t>2. Ebene</a:t>
            </a:r>
          </a:p>
          <a:p>
            <a:pPr lvl="2"/>
            <a:r>
              <a:rPr lang="de-DE" dirty="0"/>
              <a:t>3. Ebene</a:t>
            </a:r>
          </a:p>
          <a:p>
            <a:pPr lvl="3"/>
            <a:r>
              <a:rPr lang="de-DE" dirty="0"/>
              <a:t>4. Ebene</a:t>
            </a:r>
          </a:p>
          <a:p>
            <a:pPr lvl="4"/>
            <a:r>
              <a:rPr lang="de-DE" dirty="0"/>
              <a:t>5. Ebene</a:t>
            </a:r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9DAAF3EE-A5B2-F647-838D-0DFAACB4D5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0800" y="1371600"/>
            <a:ext cx="9721850" cy="152637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Arial Regular 18pt, ZA: 24pt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erat,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et </a:t>
            </a:r>
            <a:r>
              <a:rPr lang="de-DE" dirty="0" err="1"/>
              <a:t>accusam</a:t>
            </a:r>
            <a:r>
              <a:rPr lang="de-DE" dirty="0"/>
              <a:t> et </a:t>
            </a:r>
            <a:r>
              <a:rPr lang="de-DE" dirty="0" err="1"/>
              <a:t>justo</a:t>
            </a:r>
            <a:r>
              <a:rPr lang="de-DE" dirty="0"/>
              <a:t> </a:t>
            </a:r>
            <a:r>
              <a:rPr lang="de-DE" dirty="0" err="1"/>
              <a:t>duo</a:t>
            </a:r>
            <a:r>
              <a:rPr lang="de-DE" dirty="0"/>
              <a:t> </a:t>
            </a:r>
            <a:r>
              <a:rPr lang="de-DE" dirty="0" err="1"/>
              <a:t>dolores</a:t>
            </a:r>
            <a:r>
              <a:rPr lang="de-DE" dirty="0"/>
              <a:t> et </a:t>
            </a:r>
            <a:r>
              <a:rPr lang="de-DE" dirty="0" err="1"/>
              <a:t>ea</a:t>
            </a:r>
            <a:r>
              <a:rPr lang="de-DE" dirty="0"/>
              <a:t> </a:t>
            </a:r>
            <a:r>
              <a:rPr lang="de-DE" dirty="0" err="1"/>
              <a:t>rebum</a:t>
            </a:r>
            <a:r>
              <a:rPr lang="de-DE" dirty="0"/>
              <a:t>. Stet </a:t>
            </a:r>
            <a:r>
              <a:rPr lang="de-DE" dirty="0" err="1"/>
              <a:t>clita</a:t>
            </a:r>
            <a:r>
              <a:rPr lang="de-DE" dirty="0"/>
              <a:t> </a:t>
            </a:r>
            <a:r>
              <a:rPr lang="de-DE" dirty="0" err="1"/>
              <a:t>kasd</a:t>
            </a:r>
            <a:r>
              <a:rPr lang="de-DE" dirty="0"/>
              <a:t> </a:t>
            </a:r>
            <a:r>
              <a:rPr lang="de-DE" dirty="0" err="1"/>
              <a:t>gubergren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sea</a:t>
            </a:r>
            <a:r>
              <a:rPr lang="de-DE" dirty="0"/>
              <a:t> </a:t>
            </a:r>
            <a:r>
              <a:rPr lang="de-DE" dirty="0" err="1"/>
              <a:t>takimata</a:t>
            </a:r>
            <a:endParaRPr lang="de-DE" dirty="0"/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5B12DAD6-93EF-5042-858F-4BB3334F10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1431473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- Bild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2">
            <a:extLst>
              <a:ext uri="{FF2B5EF4-FFF2-40B4-BE49-F238E27FC236}">
                <a16:creationId xmlns:a16="http://schemas.microsoft.com/office/drawing/2014/main" id="{55FA8C39-046E-E34F-8E80-7B9D099D7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19600" y="1382400"/>
            <a:ext cx="3982945" cy="40935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Arial Regular 18pt, ZA: 24pt </a:t>
            </a:r>
            <a:br>
              <a:rPr lang="de-DE" dirty="0"/>
            </a:b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erat,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At </a:t>
            </a:r>
            <a:r>
              <a:rPr lang="de-DE" dirty="0" err="1"/>
              <a:t>vero</a:t>
            </a:r>
            <a:r>
              <a:rPr lang="de-DE" dirty="0"/>
              <a:t> </a:t>
            </a:r>
            <a:r>
              <a:rPr lang="de-DE" dirty="0" err="1"/>
              <a:t>eos</a:t>
            </a:r>
            <a:r>
              <a:rPr lang="de-DE" dirty="0"/>
              <a:t> et </a:t>
            </a:r>
            <a:r>
              <a:rPr lang="de-DE" dirty="0" err="1"/>
              <a:t>accusam</a:t>
            </a:r>
            <a:r>
              <a:rPr lang="de-DE" dirty="0"/>
              <a:t> et </a:t>
            </a:r>
            <a:r>
              <a:rPr lang="de-DE" dirty="0" err="1"/>
              <a:t>justo</a:t>
            </a:r>
            <a:r>
              <a:rPr lang="de-DE" dirty="0"/>
              <a:t> </a:t>
            </a:r>
            <a:r>
              <a:rPr lang="de-DE" dirty="0" err="1"/>
              <a:t>duo</a:t>
            </a:r>
            <a:r>
              <a:rPr lang="de-DE" dirty="0"/>
              <a:t> </a:t>
            </a:r>
            <a:r>
              <a:rPr lang="de-DE" dirty="0" err="1"/>
              <a:t>dolores</a:t>
            </a:r>
            <a:r>
              <a:rPr lang="de-DE" dirty="0"/>
              <a:t> et </a:t>
            </a:r>
            <a:r>
              <a:rPr lang="de-DE" dirty="0" err="1"/>
              <a:t>ea</a:t>
            </a:r>
            <a:r>
              <a:rPr lang="de-DE" dirty="0"/>
              <a:t> </a:t>
            </a:r>
            <a:r>
              <a:rPr lang="de-DE" dirty="0" err="1"/>
              <a:t>rebum</a:t>
            </a:r>
            <a:r>
              <a:rPr lang="de-DE" dirty="0"/>
              <a:t>. Stet </a:t>
            </a:r>
            <a:r>
              <a:rPr lang="de-DE" dirty="0" err="1"/>
              <a:t>clita</a:t>
            </a:r>
            <a:r>
              <a:rPr lang="de-DE" dirty="0"/>
              <a:t> </a:t>
            </a:r>
            <a:r>
              <a:rPr lang="de-DE" dirty="0" err="1"/>
              <a:t>kasd</a:t>
            </a:r>
            <a:r>
              <a:rPr lang="de-DE" dirty="0"/>
              <a:t> </a:t>
            </a:r>
            <a:r>
              <a:rPr lang="de-DE" dirty="0" err="1"/>
              <a:t>gubergren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sea</a:t>
            </a:r>
            <a:r>
              <a:rPr lang="de-DE" dirty="0"/>
              <a:t> </a:t>
            </a:r>
            <a:r>
              <a:rPr lang="de-DE" dirty="0" err="1"/>
              <a:t>takimata</a:t>
            </a:r>
            <a:br>
              <a:rPr lang="de-DE" dirty="0"/>
            </a:br>
            <a:r>
              <a:rPr lang="de-DE" dirty="0"/>
              <a:t>sanctus </a:t>
            </a:r>
            <a:r>
              <a:rPr lang="de-DE" dirty="0" err="1"/>
              <a:t>est</a:t>
            </a:r>
            <a:r>
              <a:rPr lang="de-DE" dirty="0"/>
              <a:t>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</p:txBody>
      </p:sp>
      <p:sp>
        <p:nvSpPr>
          <p:cNvPr id="6" name="Bildplatzhalter 2">
            <a:extLst>
              <a:ext uri="{FF2B5EF4-FFF2-40B4-BE49-F238E27FC236}">
                <a16:creationId xmlns:a16="http://schemas.microsoft.com/office/drawing/2014/main" id="{8BAC5633-896E-0F44-8840-CC87B5BE704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50861" y="1381405"/>
            <a:ext cx="5545139" cy="4093589"/>
          </a:xfrm>
          <a:prstGeom prst="rect">
            <a:avLst/>
          </a:prstGeom>
          <a:solidFill>
            <a:srgbClr val="434343"/>
          </a:solidFill>
        </p:spPr>
        <p:txBody>
          <a:bodyPr anchor="ctr" anchorCtr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Platzhalter: Bild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8B97D328-84F0-2C4A-BBAB-1E79CDFE9B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664388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halt - Bild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9278302A-602E-374F-9D64-8FCFB4DC60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19600" y="1364399"/>
            <a:ext cx="3981600" cy="4111200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Aufzählung 1. </a:t>
            </a:r>
            <a:r>
              <a:rPr lang="de-DE"/>
              <a:t>Ebene Arial Regular 18 </a:t>
            </a:r>
            <a:r>
              <a:rPr lang="de-DE" dirty="0" err="1"/>
              <a:t>pt</a:t>
            </a:r>
            <a:r>
              <a:rPr lang="de-DE" dirty="0"/>
              <a:t>, ZA: 24 </a:t>
            </a:r>
            <a:r>
              <a:rPr lang="de-DE" dirty="0" err="1"/>
              <a:t>pt</a:t>
            </a:r>
            <a:endParaRPr lang="de-DE" dirty="0"/>
          </a:p>
          <a:p>
            <a:pPr lvl="1"/>
            <a:r>
              <a:rPr lang="de-DE" dirty="0"/>
              <a:t>2. Ebene</a:t>
            </a:r>
          </a:p>
          <a:p>
            <a:pPr lvl="2"/>
            <a:r>
              <a:rPr lang="de-DE" dirty="0"/>
              <a:t>3. Ebene</a:t>
            </a:r>
          </a:p>
          <a:p>
            <a:pPr lvl="3"/>
            <a:r>
              <a:rPr lang="de-DE" dirty="0"/>
              <a:t>4. Ebene</a:t>
            </a:r>
          </a:p>
          <a:p>
            <a:pPr lvl="4"/>
            <a:r>
              <a:rPr lang="de-DE" dirty="0"/>
              <a:t>5. Ebene</a:t>
            </a:r>
          </a:p>
        </p:txBody>
      </p:sp>
      <p:sp>
        <p:nvSpPr>
          <p:cNvPr id="6" name="Bildplatzhalter 2">
            <a:extLst>
              <a:ext uri="{FF2B5EF4-FFF2-40B4-BE49-F238E27FC236}">
                <a16:creationId xmlns:a16="http://schemas.microsoft.com/office/drawing/2014/main" id="{07DD2921-214D-B547-93DD-EB9D2A99CCEE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50861" y="1381405"/>
            <a:ext cx="5545139" cy="4093589"/>
          </a:xfrm>
          <a:prstGeom prst="rect">
            <a:avLst/>
          </a:prstGeom>
          <a:solidFill>
            <a:srgbClr val="434343"/>
          </a:solidFill>
        </p:spPr>
        <p:txBody>
          <a:bodyPr anchor="ctr" anchorCtr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Platzhalter: Bild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86E90AC2-BC99-614A-AF4F-584EF9915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Arial Regular 24pt, ZA: 28pt</a:t>
            </a:r>
            <a:br>
              <a:rPr lang="de-DE" dirty="0"/>
            </a:br>
            <a:r>
              <a:rPr lang="de-DE" dirty="0"/>
              <a:t>optional 2-zeilig</a:t>
            </a:r>
          </a:p>
        </p:txBody>
      </p:sp>
    </p:spTree>
    <p:extLst>
      <p:ext uri="{BB962C8B-B14F-4D97-AF65-F5344CB8AC3E}">
        <p14:creationId xmlns:p14="http://schemas.microsoft.com/office/powerpoint/2010/main" val="327643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.sv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4">
            <a:extLst>
              <a:ext uri="{FF2B5EF4-FFF2-40B4-BE49-F238E27FC236}">
                <a16:creationId xmlns:a16="http://schemas.microsoft.com/office/drawing/2014/main" id="{B97C5655-F240-634C-9B7B-B6181A1B3AF5}"/>
              </a:ext>
            </a:extLst>
          </p:cNvPr>
          <p:cNvSpPr/>
          <p:nvPr userDrawn="1"/>
        </p:nvSpPr>
        <p:spPr>
          <a:xfrm>
            <a:off x="0" y="1668462"/>
            <a:ext cx="12192000" cy="5189537"/>
          </a:xfrm>
          <a:custGeom>
            <a:avLst/>
            <a:gdLst>
              <a:gd name="connsiteX0" fmla="*/ 0 w 12192000"/>
              <a:gd name="connsiteY0" fmla="*/ 0 h 4760912"/>
              <a:gd name="connsiteX1" fmla="*/ 12192000 w 12192000"/>
              <a:gd name="connsiteY1" fmla="*/ 0 h 4760912"/>
              <a:gd name="connsiteX2" fmla="*/ 12192000 w 12192000"/>
              <a:gd name="connsiteY2" fmla="*/ 4760912 h 4760912"/>
              <a:gd name="connsiteX3" fmla="*/ 0 w 12192000"/>
              <a:gd name="connsiteY3" fmla="*/ 4760912 h 4760912"/>
              <a:gd name="connsiteX4" fmla="*/ 0 w 12192000"/>
              <a:gd name="connsiteY4" fmla="*/ 0 h 4760912"/>
              <a:gd name="connsiteX0" fmla="*/ 0 w 12192000"/>
              <a:gd name="connsiteY0" fmla="*/ 212725 h 4973637"/>
              <a:gd name="connsiteX1" fmla="*/ 12192000 w 12192000"/>
              <a:gd name="connsiteY1" fmla="*/ 0 h 4973637"/>
              <a:gd name="connsiteX2" fmla="*/ 12192000 w 12192000"/>
              <a:gd name="connsiteY2" fmla="*/ 4973637 h 4973637"/>
              <a:gd name="connsiteX3" fmla="*/ 0 w 12192000"/>
              <a:gd name="connsiteY3" fmla="*/ 4973637 h 4973637"/>
              <a:gd name="connsiteX4" fmla="*/ 0 w 12192000"/>
              <a:gd name="connsiteY4" fmla="*/ 212725 h 4973637"/>
              <a:gd name="connsiteX0" fmla="*/ 0 w 12192000"/>
              <a:gd name="connsiteY0" fmla="*/ 428625 h 5189537"/>
              <a:gd name="connsiteX1" fmla="*/ 12192000 w 12192000"/>
              <a:gd name="connsiteY1" fmla="*/ 0 h 5189537"/>
              <a:gd name="connsiteX2" fmla="*/ 12192000 w 12192000"/>
              <a:gd name="connsiteY2" fmla="*/ 5189537 h 5189537"/>
              <a:gd name="connsiteX3" fmla="*/ 0 w 12192000"/>
              <a:gd name="connsiteY3" fmla="*/ 5189537 h 5189537"/>
              <a:gd name="connsiteX4" fmla="*/ 0 w 12192000"/>
              <a:gd name="connsiteY4" fmla="*/ 428625 h 5189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189537">
                <a:moveTo>
                  <a:pt x="0" y="428625"/>
                </a:moveTo>
                <a:lnTo>
                  <a:pt x="12192000" y="0"/>
                </a:lnTo>
                <a:lnTo>
                  <a:pt x="12192000" y="5189537"/>
                </a:lnTo>
                <a:lnTo>
                  <a:pt x="0" y="5189537"/>
                </a:lnTo>
                <a:lnTo>
                  <a:pt x="0" y="42862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49CB40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8DDEEBD-D00D-1249-9E02-EDC0548BFCA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8168" y="378741"/>
            <a:ext cx="2250000" cy="7740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D20A730-187A-274D-A0E6-8412686F8775}"/>
              </a:ext>
            </a:extLst>
          </p:cNvPr>
          <p:cNvSpPr txBox="1"/>
          <p:nvPr userDrawn="1"/>
        </p:nvSpPr>
        <p:spPr>
          <a:xfrm>
            <a:off x="12292755" y="5534561"/>
            <a:ext cx="31024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Titelseiten – Platzhalter für </a:t>
            </a:r>
            <a:r>
              <a:rPr lang="de-DE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Sublogo</a:t>
            </a: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 ändern: 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Direkt auf dieser Folie &gt; Bild anklicken &gt; Rechtsklick &gt; Bild einfügen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Bild an Rahmen anpassen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anklicken &gt; Bildformat &gt; Zuschneiden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im Dropdown „Einpassen“ wählen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ggf. Bild nochmals neu positionieren </a:t>
            </a:r>
          </a:p>
        </p:txBody>
      </p:sp>
    </p:spTree>
    <p:extLst>
      <p:ext uri="{BB962C8B-B14F-4D97-AF65-F5344CB8AC3E}">
        <p14:creationId xmlns:p14="http://schemas.microsoft.com/office/powerpoint/2010/main" val="307969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3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346" userDrawn="1">
          <p15:clr>
            <a:srgbClr val="F26B43"/>
          </p15:clr>
        </p15:guide>
        <p15:guide id="4" pos="1232" userDrawn="1">
          <p15:clr>
            <a:srgbClr val="F26B43"/>
          </p15:clr>
        </p15:guide>
        <p15:guide id="5" orient="horz" pos="3974" userDrawn="1">
          <p15:clr>
            <a:srgbClr val="F26B43"/>
          </p15:clr>
        </p15:guide>
        <p15:guide id="6" orient="horz" pos="663" userDrawn="1">
          <p15:clr>
            <a:srgbClr val="F26B43"/>
          </p15:clr>
        </p15:guide>
        <p15:guide id="7" orient="horz" pos="1003" userDrawn="1">
          <p15:clr>
            <a:srgbClr val="F26B43"/>
          </p15:clr>
        </p15:guide>
        <p15:guide id="8" orient="horz" pos="1321" userDrawn="1">
          <p15:clr>
            <a:srgbClr val="F26B43"/>
          </p15:clr>
        </p15:guide>
        <p15:guide id="9" orient="horz" pos="1661" userDrawn="1">
          <p15:clr>
            <a:srgbClr val="F26B43"/>
          </p15:clr>
        </p15:guide>
        <p15:guide id="10" orient="horz" pos="2001" userDrawn="1">
          <p15:clr>
            <a:srgbClr val="F26B43"/>
          </p15:clr>
        </p15:guide>
        <p15:guide id="11" orient="horz" pos="3339" userDrawn="1">
          <p15:clr>
            <a:srgbClr val="F26B43"/>
          </p15:clr>
        </p15:guide>
        <p15:guide id="12" orient="horz" pos="2319" userDrawn="1">
          <p15:clr>
            <a:srgbClr val="F26B43"/>
          </p15:clr>
        </p15:guide>
        <p15:guide id="13" orient="horz" pos="2999" userDrawn="1">
          <p15:clr>
            <a:srgbClr val="F26B43"/>
          </p15:clr>
        </p15:guide>
        <p15:guide id="14" orient="horz" pos="3657" userDrawn="1">
          <p15:clr>
            <a:srgbClr val="F26B43"/>
          </p15:clr>
        </p15:guide>
        <p15:guide id="15" orient="horz" pos="2659" userDrawn="1">
          <p15:clr>
            <a:srgbClr val="F26B43"/>
          </p15:clr>
        </p15:guide>
        <p15:guide id="16" pos="2094" userDrawn="1">
          <p15:clr>
            <a:srgbClr val="F26B43"/>
          </p15:clr>
        </p15:guide>
        <p15:guide id="17" pos="2978" userDrawn="1">
          <p15:clr>
            <a:srgbClr val="F26B43"/>
          </p15:clr>
        </p15:guide>
        <p15:guide id="18" pos="3840" userDrawn="1">
          <p15:clr>
            <a:srgbClr val="F26B43"/>
          </p15:clr>
        </p15:guide>
        <p15:guide id="19" pos="4725" userDrawn="1">
          <p15:clr>
            <a:srgbClr val="F26B43"/>
          </p15:clr>
        </p15:guide>
        <p15:guide id="20" pos="5586" userDrawn="1">
          <p15:clr>
            <a:srgbClr val="F26B43"/>
          </p15:clr>
        </p15:guide>
        <p15:guide id="21" pos="6471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">
            <a:extLst>
              <a:ext uri="{FF2B5EF4-FFF2-40B4-BE49-F238E27FC236}">
                <a16:creationId xmlns:a16="http://schemas.microsoft.com/office/drawing/2014/main" id="{48266648-C51B-EA45-AE41-AF74B0A4657C}"/>
              </a:ext>
            </a:extLst>
          </p:cNvPr>
          <p:cNvSpPr/>
          <p:nvPr userDrawn="1"/>
        </p:nvSpPr>
        <p:spPr>
          <a:xfrm>
            <a:off x="0" y="5748124"/>
            <a:ext cx="12195175" cy="1109875"/>
          </a:xfrm>
          <a:custGeom>
            <a:avLst/>
            <a:gdLst>
              <a:gd name="connsiteX0" fmla="*/ 0 w 12192000"/>
              <a:gd name="connsiteY0" fmla="*/ 0 h 687600"/>
              <a:gd name="connsiteX1" fmla="*/ 12192000 w 12192000"/>
              <a:gd name="connsiteY1" fmla="*/ 0 h 687600"/>
              <a:gd name="connsiteX2" fmla="*/ 12192000 w 12192000"/>
              <a:gd name="connsiteY2" fmla="*/ 687600 h 687600"/>
              <a:gd name="connsiteX3" fmla="*/ 0 w 12192000"/>
              <a:gd name="connsiteY3" fmla="*/ 687600 h 687600"/>
              <a:gd name="connsiteX4" fmla="*/ 0 w 12192000"/>
              <a:gd name="connsiteY4" fmla="*/ 0 h 687600"/>
              <a:gd name="connsiteX0" fmla="*/ 0 w 12195175"/>
              <a:gd name="connsiteY0" fmla="*/ 422275 h 1109875"/>
              <a:gd name="connsiteX1" fmla="*/ 12195175 w 12195175"/>
              <a:gd name="connsiteY1" fmla="*/ 0 h 1109875"/>
              <a:gd name="connsiteX2" fmla="*/ 12192000 w 12195175"/>
              <a:gd name="connsiteY2" fmla="*/ 1109875 h 1109875"/>
              <a:gd name="connsiteX3" fmla="*/ 0 w 12195175"/>
              <a:gd name="connsiteY3" fmla="*/ 1109875 h 1109875"/>
              <a:gd name="connsiteX4" fmla="*/ 0 w 12195175"/>
              <a:gd name="connsiteY4" fmla="*/ 422275 h 110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5175" h="1109875">
                <a:moveTo>
                  <a:pt x="0" y="422275"/>
                </a:moveTo>
                <a:lnTo>
                  <a:pt x="12195175" y="0"/>
                </a:lnTo>
                <a:cubicBezTo>
                  <a:pt x="12194117" y="369958"/>
                  <a:pt x="12193058" y="739917"/>
                  <a:pt x="12192000" y="1109875"/>
                </a:cubicBezTo>
                <a:lnTo>
                  <a:pt x="0" y="1109875"/>
                </a:lnTo>
                <a:lnTo>
                  <a:pt x="0" y="42227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49CB40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0A395C2-361B-A14B-9312-A16F3F6780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4598" y="378000"/>
            <a:ext cx="1004400" cy="76606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427D4F0D-9351-B349-8187-43002862F183}"/>
              </a:ext>
            </a:extLst>
          </p:cNvPr>
          <p:cNvSpPr txBox="1"/>
          <p:nvPr userDrawn="1"/>
        </p:nvSpPr>
        <p:spPr>
          <a:xfrm>
            <a:off x="12292755" y="5612990"/>
            <a:ext cx="31024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Folgeseiten – Platzhalter für </a:t>
            </a:r>
            <a:r>
              <a:rPr lang="de-DE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Sublogo</a:t>
            </a: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 ändern: 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Folienmaster &gt; Nr. 2 bearbeiten &gt; Bild anklicken &gt; Rechtsklick &gt; Bild einfügen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Bild an Rahmen anpassen</a:t>
            </a: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Bild anklicken &gt; Bildformat &gt; Zuschneiden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im Dropdown „Einpassen“ wählen &gt;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ggf. Bild nochmals neu positionieren 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91FA75A-4E02-534F-A661-8216932850DD}"/>
              </a:ext>
            </a:extLst>
          </p:cNvPr>
          <p:cNvSpPr txBox="1"/>
          <p:nvPr userDrawn="1"/>
        </p:nvSpPr>
        <p:spPr>
          <a:xfrm>
            <a:off x="-2243920" y="6474756"/>
            <a:ext cx="22233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Informationen in Fußzeile ändern: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Folienmaster &gt; Nr. 2 bearbeiten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FF88A13-194B-9248-BDFD-1579E6D3EC48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Seite </a:t>
            </a:r>
            <a:fld id="{675EF3AE-78B3-9641-A88A-C3B5FFA9245E}" type="slidenum">
              <a:rPr lang="de-DE" sz="12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de-DE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6184FE9-ADE0-F94C-90C6-58CFCA50F9A4}"/>
              </a:ext>
            </a:extLst>
          </p:cNvPr>
          <p:cNvSpPr txBox="1"/>
          <p:nvPr userDrawn="1"/>
        </p:nvSpPr>
        <p:spPr>
          <a:xfrm>
            <a:off x="1625600" y="6359336"/>
            <a:ext cx="7615318" cy="2658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Alexander D. J. Sommer &amp; Sophia N. K.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Marangou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 Applied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Enviromental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Economics Seminar | 16. </a:t>
            </a:r>
            <a:r>
              <a:rPr lang="de-DE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July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3907247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71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B91E010B-877E-604A-96C7-32EFC5B57054}"/>
              </a:ext>
            </a:extLst>
          </p:cNvPr>
          <p:cNvSpPr txBox="1"/>
          <p:nvPr/>
        </p:nvSpPr>
        <p:spPr>
          <a:xfrm>
            <a:off x="550801" y="4973943"/>
            <a:ext cx="8328079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Causal Analysis of Organic Farming</a:t>
            </a:r>
          </a:p>
          <a:p>
            <a:pPr>
              <a:lnSpc>
                <a:spcPts val="3600"/>
              </a:lnSpc>
            </a:pP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 Ground Water Nitrate Levels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7FB4931-3EF5-3045-BA3B-F8959781C0D1}"/>
              </a:ext>
            </a:extLst>
          </p:cNvPr>
          <p:cNvSpPr txBox="1"/>
          <p:nvPr/>
        </p:nvSpPr>
        <p:spPr>
          <a:xfrm>
            <a:off x="550801" y="6085778"/>
            <a:ext cx="11231896" cy="2834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noProof="0" dirty="0">
                <a:solidFill>
                  <a:schemeClr val="bg1"/>
                </a:solidFill>
                <a:latin typeface="Arial"/>
                <a:cs typeface="Arial"/>
              </a:rPr>
              <a:t>Alexander D. J. Sommer &amp; Sophia N. K. Marangou</a:t>
            </a:r>
            <a:r>
              <a:rPr lang="en-US" noProof="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1800" noProof="0" dirty="0">
                <a:solidFill>
                  <a:schemeClr val="bg1"/>
                </a:solidFill>
                <a:latin typeface="Arial"/>
                <a:cs typeface="Arial"/>
              </a:rPr>
              <a:t>| Applied </a:t>
            </a:r>
            <a:r>
              <a:rPr lang="en-US" dirty="0">
                <a:solidFill>
                  <a:schemeClr val="bg1"/>
                </a:solidFill>
                <a:latin typeface="Arial"/>
                <a:cs typeface="Arial"/>
              </a:rPr>
              <a:t>Environmental</a:t>
            </a:r>
            <a:r>
              <a:rPr lang="en-US" sz="1800" noProof="0" dirty="0">
                <a:solidFill>
                  <a:schemeClr val="bg1"/>
                </a:solidFill>
                <a:latin typeface="Arial"/>
                <a:cs typeface="Arial"/>
              </a:rPr>
              <a:t> Economics Seminar | 16.July 2026</a:t>
            </a:r>
          </a:p>
        </p:txBody>
      </p:sp>
    </p:spTree>
    <p:extLst>
      <p:ext uri="{BB962C8B-B14F-4D97-AF65-F5344CB8AC3E}">
        <p14:creationId xmlns:p14="http://schemas.microsoft.com/office/powerpoint/2010/main" val="3533876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87EAA7F0-EF62-502C-7A8E-2ABF228607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>
                <a:solidFill>
                  <a:schemeClr val="bg1"/>
                </a:solidFill>
              </a:rPr>
              <a:t>Many monitoring stations exceed the EU threshold of 50 mg/L </a:t>
            </a:r>
          </a:p>
          <a:p>
            <a:r>
              <a:rPr lang="en-US" dirty="0">
                <a:solidFill>
                  <a:schemeClr val="bg1"/>
                </a:solidFill>
              </a:rPr>
              <a:t>The region is characterized by intensive agricultural activity</a:t>
            </a:r>
          </a:p>
          <a:p>
            <a:r>
              <a:rPr lang="en-US" dirty="0">
                <a:solidFill>
                  <a:schemeClr val="bg1"/>
                </a:solidFill>
              </a:rPr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189AD0-DEE7-EDC4-E9F1-6EC73CF6E1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DBDE21-4AC1-EB4D-9875-252AE5A899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AB2D1-C06A-9390-37E1-7C99ACC03B23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026090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FB62F-07B1-922A-9CF9-530C14D86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1C715A2-1229-B8AD-7904-78D5E4A8373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/>
              <a:t>Many monitoring stations exceed the EU threshold of 50 mg/L 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region is characterized by intensive agricultural activity</a:t>
            </a:r>
          </a:p>
          <a:p>
            <a:r>
              <a:rPr lang="en-US" dirty="0">
                <a:solidFill>
                  <a:schemeClr val="bg1"/>
                </a:solidFill>
              </a:rPr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91AD74-5B71-2D1D-856A-D9F7F69F4C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363322-D75C-D077-0787-BB2D2B900C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6F9784-1D02-7C34-2E50-05F00BC6480B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1406793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DE571-EF99-21CC-BFFF-03F5CC8B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B423C2D-3A4C-C6E3-ED85-D7764350E2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/>
              <a:t>Many monitoring stations exceed the EU threshold of 50 mg/L </a:t>
            </a:r>
          </a:p>
          <a:p>
            <a:r>
              <a:rPr lang="en-US" dirty="0"/>
              <a:t>The region is characterized by intensive agricultural activity</a:t>
            </a:r>
          </a:p>
          <a:p>
            <a:r>
              <a:rPr lang="en-US" dirty="0">
                <a:solidFill>
                  <a:schemeClr val="bg1"/>
                </a:solidFill>
              </a:rPr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992FD0-F071-4E7D-EE28-14D480F2D2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93B8AC9-2B52-5539-CD5F-347824B8C4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8DC24-1BB0-9D2E-B05C-52ED4CCDD6D7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78212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E84D0-6CD5-EDB2-7566-F9CAF796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C513264-3136-1519-4161-D50AF645661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19600" y="1364399"/>
            <a:ext cx="3981600" cy="3534172"/>
          </a:xfrm>
        </p:spPr>
        <p:txBody>
          <a:bodyPr/>
          <a:lstStyle/>
          <a:p>
            <a:r>
              <a:rPr lang="en-US" dirty="0"/>
              <a:t>Lower Saxony exhibits some of the highest groundwater nitrate concentrations in Germany</a:t>
            </a:r>
          </a:p>
          <a:p>
            <a:r>
              <a:rPr lang="en-US" dirty="0"/>
              <a:t>Many monitoring stations exceed the EU threshold of 50 mg/L </a:t>
            </a:r>
          </a:p>
          <a:p>
            <a:r>
              <a:rPr lang="en-US" dirty="0"/>
              <a:t>The region is characterized by intensive agricultural activity</a:t>
            </a:r>
          </a:p>
          <a:p>
            <a:r>
              <a:rPr lang="en-US" dirty="0"/>
              <a:t>Around 90% of nitrate pollution originates from agricultural fertilizer application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0C6203-1F34-300C-4663-6086F6A89A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79"/>
          <a:stretch>
            <a:fillRect/>
          </a:stretch>
        </p:blipFill>
        <p:spPr>
          <a:xfrm>
            <a:off x="550861" y="1381405"/>
            <a:ext cx="5545139" cy="4093589"/>
          </a:xfrm>
          <a:prstGeom prst="rect">
            <a:avLst/>
          </a:prstGeom>
          <a:noFill/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C39B85-1F44-AFBB-E9D9-5EB2CB0CFB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7" y="396545"/>
            <a:ext cx="8311908" cy="71743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 dirty="0"/>
              <a:t>Introduction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065901-3D75-0F49-6107-95460CE1073F}"/>
              </a:ext>
            </a:extLst>
          </p:cNvPr>
          <p:cNvSpPr txBox="1"/>
          <p:nvPr/>
        </p:nvSpPr>
        <p:spPr>
          <a:xfrm>
            <a:off x="550861" y="5450029"/>
            <a:ext cx="5383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Quelle: NLWKN (2020),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Grundwasserbericht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Niedersachsen –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Parameterblatt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tx2">
                    <a:lumMod val="50000"/>
                  </a:schemeClr>
                </a:solidFill>
              </a:rPr>
              <a:t>Nitrat</a:t>
            </a:r>
            <a:r>
              <a:rPr lang="en-US" sz="1200" i="1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4096380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6815D-C22C-A700-2182-95779C35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01218F-5F59-77CF-7146-D7349D93CD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Research Question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5D7FCF-7A19-6699-9A4D-30D8D3312C62}"/>
              </a:ext>
            </a:extLst>
          </p:cNvPr>
          <p:cNvSpPr txBox="1">
            <a:spLocks/>
          </p:cNvSpPr>
          <p:nvPr/>
        </p:nvSpPr>
        <p:spPr>
          <a:xfrm>
            <a:off x="838200" y="2190750"/>
            <a:ext cx="10515600" cy="356817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i="1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“Does organic farming affect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i="1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groundwater nitrate pollution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i="1" noProof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Lower Saxony?”</a:t>
            </a:r>
          </a:p>
        </p:txBody>
      </p:sp>
    </p:spTree>
    <p:extLst>
      <p:ext uri="{BB962C8B-B14F-4D97-AF65-F5344CB8AC3E}">
        <p14:creationId xmlns:p14="http://schemas.microsoft.com/office/powerpoint/2010/main" val="1912628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7B87-686A-3A75-915B-0CD695311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2524EA-7FB7-487D-2A91-957EFF635C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68165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94C1E91-4157-B004-B596-6D15221ED0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88414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00422-CCA5-1761-DAB5-445D258E6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7BB5793-66CE-3E5C-CC6E-4B14F2FA630F}"/>
              </a:ext>
            </a:extLst>
          </p:cNvPr>
          <p:cNvGraphicFramePr>
            <a:graphicFrameLocks noGrp="1"/>
          </p:cNvGraphicFramePr>
          <p:nvPr/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solidFill>
                          <a:srgbClr val="434343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C087755-3AEF-81F7-7224-E92F3ABE60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674473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F10B0-4100-1487-59EC-C344F6B6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CE5845-C60B-C281-510D-EF219456A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7259423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63EED8-E08A-38C3-A0F0-08405BA964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770871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C764E-E776-68CC-A97B-2B8A5C14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4A776B7-6ABA-CC26-46C6-65E841129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595802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8E2BE2F-B05C-D9A0-58BD-F48BD36F9D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2125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3167-ACB5-5B1A-1E86-90715EA48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5CDD796-2BC9-C81B-14D8-9A1A3BF30B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062580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tx2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8398A1-4FF1-D802-13A9-A3AD80F7C1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622845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0B0DD-69B1-6A82-C8FA-21A5AFE73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8D82F93-B05F-87FE-EF60-95AD1A72D3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65773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CB4EA1B-25FA-8115-717A-F019B0414A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40736347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D1C91-7D2D-F0E2-D30A-54BF0474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3D8083-1655-D779-9E10-7F5BF5353D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822677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4DC57-B0F3-7BCB-2980-D58A736BE7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72157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84369-9D34-0855-9588-12DF2B353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554BA0-A4D7-0E83-F52E-0D43097B74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608007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0B534F-9276-219E-0019-B0B510AE6A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98724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9F64-15A4-B68A-350F-4DDD46D1C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35D8E2A-CBA5-7393-5A0A-7D3F5B5EC3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174849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tx2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C97ED79-7DF9-DAA4-4D00-55EAE17D8E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218210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15490-3275-9D6B-F630-897231B4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773DB9-1D1C-91EC-F34E-EC50465CB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175546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rgbClr val="43434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6F2C76D-7FDC-2EE0-52C4-1481F31213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623263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319EA-2B30-4820-8B54-C238AD6A5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B9782E-AA96-4E03-9F57-0E3B08660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975923"/>
              </p:ext>
            </p:extLst>
          </p:nvPr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tx2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CB460AB-23F4-6837-DD55-49E00FDA61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1060779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7C16A-E801-4C69-1670-9E587729F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18DF2A-8348-26BF-4E7A-C0484030A3E7}"/>
              </a:ext>
            </a:extLst>
          </p:cNvPr>
          <p:cNvGraphicFramePr>
            <a:graphicFrameLocks noGrp="1"/>
          </p:cNvGraphicFramePr>
          <p:nvPr/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DBCE6D1-3C24-AC42-8FC8-52DD224BCA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978477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2773C-6118-BDD4-7E6B-C7B62BB9F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F5F9289-95E5-2742-3D78-BF1AEC5563C0}"/>
              </a:ext>
            </a:extLst>
          </p:cNvPr>
          <p:cNvGraphicFramePr>
            <a:graphicFrameLocks noGrp="1"/>
          </p:cNvGraphicFramePr>
          <p:nvPr/>
        </p:nvGraphicFramePr>
        <p:xfrm>
          <a:off x="550799" y="1371600"/>
          <a:ext cx="10056241" cy="4139942"/>
        </p:xfrm>
        <a:graphic>
          <a:graphicData uri="http://schemas.openxmlformats.org/drawingml/2006/table">
            <a:tbl>
              <a:tblPr/>
              <a:tblGrid>
                <a:gridCol w="353787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nitrate concentration at groundwater monitoring stations (2012–2022)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Unbalanced panel (missing station-years); limited to 2012–2022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597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Annual land-cover classes (cropland, trees, built-up, water, grass, etc.); 10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Available only from 2016 onward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9342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land-cover classes (agriculture, forest, urban, water, etc.); 100 m resolution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(2006, 2012, 2018)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235317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(Agricultural Census)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Organic farming area/share, agricultural area, farm counts, livestock variables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Snapshot years only (2010, 2016, 2020); district-level only; livestock variables only available for 2020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District (Landkreis)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Historical boundary changes require harmonization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F7D16A-829F-5E1B-1346-230C62B46C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30139261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34990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39323E-5478-DD17-74E0-D199B87AAE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E250D-B97E-2DB6-316C-521881A0F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037562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64003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130607B-DD9A-A1C9-5FB9-9C804A6F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846426-A51F-E119-6BBB-DDF7BAB3C3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102ABD6-9BA7-DA86-B62B-FA4C87E12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12043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456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55BC8A-90B2-445E-6CF3-5A833CE4A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560D52-0220-8513-E574-FACC461E077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B6138C-97F5-22D3-9818-F2387667B7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216120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7878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5766B6-DABE-5F29-746D-3023C2B8F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B6843C-A4C1-0C57-78C4-B3AFB5BCE5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50207E9-3361-D4D8-CBBE-93AAC5B1B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614699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87542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03714B-EC4B-8EEA-D494-679318A32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8127A7-A130-B209-75A9-9A314FB338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6A815DC-4B8F-50D5-94A1-EAA9AEA477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5592997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293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E77C80-0F36-BD46-02B4-2B154AE23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E1528-C6F9-468E-819C-DD2ED8BD4B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131E8A-968E-57B0-A29E-9ADBF01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538501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8019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8C52E71-CB09-2C8B-457F-70D5C9B63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B602AC-8977-549E-2242-595D6FA82E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45711D-B128-E555-1D9B-69E8016EEA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074554"/>
              </p:ext>
            </p:extLst>
          </p:nvPr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9657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DF0CD5C5-E884-CF5A-A378-57687A9041D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123A51-2C4C-79C3-660C-7B6AAF5C4EF7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EC8A13-8CB6-A38C-762D-5CB751565DCE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9619D9-B03E-8F6B-F497-B60120D04F1B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90A8CB2-25E5-2DE9-C15B-BFB799F9A1D0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D2BF4BC-6549-8748-BCB2-4192D597DF9F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5F39D9-D111-C82F-8905-513A1660DDDE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6CC44BB-1D94-72DB-4E74-27ED8CCDBA7F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75829DC-7C5C-79CE-9D4A-678CFF44FC15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262F199-74EC-F028-6386-9EB61E07A2E0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4F0B3CE-6B02-3512-C836-F1E7DA260132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9F21B42-65B1-D1D3-2409-532870268C89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8F250E-6309-F1A9-E39B-D1A5371A5973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8E1F9CF-8D5A-6E5B-5B52-7DA2CCB5275C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680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8712A-7AAA-D817-0FD6-8DF7DD4F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B8733E94-AFCB-D87C-BF4C-05CE7C7D5EF7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93EE0F-9055-DB77-F8A4-8A06A7F8C075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31B992-FE45-39E3-EEA4-294229F514FF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ACFD34-F59D-07B5-834B-D6A521AF7453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3A8129-9AA5-4C07-291D-570344B3C740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E15F7C-B547-A3BA-D8B1-5E587FB0073D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4E66335-C8F1-4F24-9A37-D63AFE30E458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03196A9-5B67-2AB6-DA3F-14A8B83CEBBE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84C354A-AFD0-AA04-88BF-7E97C9337BF4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BEFD355-DBAD-640C-2C11-3BBD68A2B14D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61E56D0-6053-4C90-EAF8-57016B38F5A3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67373D8-872F-4A5E-78F5-C12E1BDE5A2E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B39C4D0-0667-4F69-58C2-BD7A2CA032AF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5EFF40F-0E31-994F-74D8-0308990B8632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B2A50A-7D73-2F31-DBD6-7D459C68D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642808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1077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36B0C-0B12-468B-DDFC-A74474CEC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4CD024AD-EB72-D720-293C-DA467F1A68DF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431C27-5F64-6152-2818-21A3594D9B34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8F7E12C-684B-D2D8-911B-CE86FBD02571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CC23317-6786-2CDD-85BF-3364CFB17DF2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DFBD631-19B2-EBAE-F31E-F3965F62FE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233794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A1F79F-147C-A776-423D-DD0BC08D40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6552189"/>
              </p:ext>
            </p:extLst>
          </p:nvPr>
        </p:nvGraphicFramePr>
        <p:xfrm>
          <a:off x="1210794" y="1788966"/>
          <a:ext cx="7547647" cy="1901415"/>
        </p:xfrm>
        <a:graphic>
          <a:graphicData uri="http://schemas.openxmlformats.org/drawingml/2006/table">
            <a:tbl>
              <a:tblPr/>
              <a:tblGrid>
                <a:gridCol w="1592432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844225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222640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063173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82141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60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station_id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year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n_measurements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nitrate_mg_l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1072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b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i-FI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</a:p>
                    <a:p>
                      <a:pPr>
                        <a:buNone/>
                      </a:pPr>
                      <a:r>
                        <a:rPr lang="fi-FI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en-DE" sz="1600" kern="12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48.7 </a:t>
                      </a: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62 </a:t>
                      </a:r>
                      <a:r>
                        <a:rPr lang="en-US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 </a:t>
                      </a:r>
                      <a:r>
                        <a:rPr lang="en-DE" sz="1600" kern="12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7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924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26E8C-2D09-40E0-9962-59B7F40C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6A56F737-D28C-817A-DFC6-FC28E01DF84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6D11A8-F98B-F7A5-B25E-E97CDE547E5A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C96294-1A54-C49D-F573-B7F4D5A203E9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79AF426-F402-EFFB-7C1D-D50FD21EDD96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A15729-C782-59F4-EEFC-D5812D54C3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55272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D142403-E567-4448-122A-C7B4DFF90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363991"/>
              </p:ext>
            </p:extLst>
          </p:nvPr>
        </p:nvGraphicFramePr>
        <p:xfrm>
          <a:off x="445541" y="2548634"/>
          <a:ext cx="11416497" cy="1731647"/>
        </p:xfrm>
        <a:graphic>
          <a:graphicData uri="http://schemas.openxmlformats.org/drawingml/2006/table">
            <a:tbl>
              <a:tblPr/>
              <a:tblGrid>
                <a:gridCol w="1522744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813301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983783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355743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421098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605568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71426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5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8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year</a:t>
                      </a:r>
                      <a:endParaRPr lang="en-DE" sz="18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station_name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water_body_id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water_body_name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sampling_depth_m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lon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lat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Emmen I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DEGB_DENI_4_2103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Ise </a:t>
                      </a:r>
                      <a:r>
                        <a:rPr lang="en-US" sz="14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Lockergestein</a:t>
                      </a: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re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9.3</a:t>
                      </a:r>
                      <a:endParaRPr lang="en-DE" sz="14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106228076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527052441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6836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F3E8-14A1-582B-533C-79B4D1A2D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7D335564-2F16-95C0-0832-B6591DF312FA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9891F9-3E22-0394-80FC-9C3AA7754031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				      </a:t>
            </a:r>
            <a:r>
              <a:rPr lang="en-DE" i="1" dirty="0">
                <a:solidFill>
                  <a:schemeClr val="bg1"/>
                </a:solidFill>
              </a:rPr>
              <a:t>UBA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		      </a:t>
            </a:r>
            <a:r>
              <a:rPr lang="en-DE" dirty="0">
                <a:solidFill>
                  <a:schemeClr val="bg1"/>
                </a:solidFill>
              </a:rPr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>
                <a:solidFill>
                  <a:schemeClr val="bg1"/>
                </a:solidFill>
              </a:rPr>
              <a:t>         </a:t>
            </a:r>
            <a:r>
              <a:rPr lang="en-US" dirty="0">
                <a:solidFill>
                  <a:schemeClr val="bg1"/>
                </a:solidFill>
              </a:rPr>
              <a:t>		          </a:t>
            </a:r>
            <a:r>
              <a:rPr lang="en-US" b="1" dirty="0">
                <a:solidFill>
                  <a:schemeClr val="bg1"/>
                </a:solidFill>
              </a:rPr>
              <a:t>master table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u="sng" dirty="0">
                <a:solidFill>
                  <a:schemeClr val="bg1"/>
                </a:solidFill>
              </a:rPr>
              <a:t>s</a:t>
            </a:r>
            <a:r>
              <a:rPr lang="en-DE" u="sng" dirty="0" err="1">
                <a:solidFill>
                  <a:schemeClr val="bg1"/>
                </a:solidFill>
              </a:rPr>
              <a:t>tation</a:t>
            </a:r>
            <a:r>
              <a:rPr lang="en-DE" u="sng" dirty="0">
                <a:solidFill>
                  <a:schemeClr val="bg1"/>
                </a:solidFill>
              </a:rPr>
              <a:t>-year </a:t>
            </a:r>
            <a:r>
              <a:rPr lang="en-DE" dirty="0">
                <a:solidFill>
                  <a:schemeClr val="bg1"/>
                </a:solidFill>
              </a:rPr>
              <a:t>base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en-DE" dirty="0">
                <a:solidFill>
                  <a:schemeClr val="bg1"/>
                </a:solidFill>
              </a:rPr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>
                <a:solidFill>
                  <a:schemeClr val="bg1"/>
                </a:solidFill>
              </a:rPr>
              <a:t>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Dynamic World              </a:t>
            </a:r>
            <a:r>
              <a:rPr lang="en-US" i="1" dirty="0">
                <a:solidFill>
                  <a:schemeClr val="bg1"/>
                </a:solidFill>
              </a:rPr>
              <a:t>	</a:t>
            </a:r>
            <a:r>
              <a:rPr lang="en-DE" i="1" dirty="0">
                <a:solidFill>
                  <a:schemeClr val="bg1"/>
                </a:solidFill>
              </a:rPr>
              <a:t>CORINE buffers            </a:t>
            </a:r>
            <a:r>
              <a:rPr lang="en-US" i="1" dirty="0">
                <a:solidFill>
                  <a:schemeClr val="bg1"/>
                </a:solidFill>
              </a:rPr>
              <a:t>      	 </a:t>
            </a:r>
            <a:r>
              <a:rPr lang="en-DE" i="1" dirty="0" err="1">
                <a:solidFill>
                  <a:schemeClr val="bg1"/>
                </a:solidFill>
              </a:rPr>
              <a:t>Regionalstatistik</a:t>
            </a:r>
            <a:endParaRPr lang="en-DE" i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Annual land cover  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500/1000 m shares        </a:t>
            </a:r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DE" dirty="0">
                <a:solidFill>
                  <a:schemeClr val="bg1"/>
                </a:solidFill>
              </a:rPr>
              <a:t>Agricultural structure</a:t>
            </a:r>
          </a:p>
          <a:p>
            <a:r>
              <a:rPr lang="en-DE" dirty="0">
                <a:solidFill>
                  <a:schemeClr val="bg1"/>
                </a:solidFill>
              </a:rPr>
              <a:t>│</a:t>
            </a:r>
          </a:p>
          <a:p>
            <a:r>
              <a:rPr lang="en-DE" sz="1100" dirty="0">
                <a:solidFill>
                  <a:schemeClr val="bg1"/>
                </a:solidFill>
              </a:rPr>
              <a:t>▼</a:t>
            </a:r>
            <a:endParaRPr lang="en-US" sz="11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  <a:endParaRPr lang="en-DE" dirty="0">
              <a:solidFill>
                <a:schemeClr val="bg2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</a:t>
            </a:r>
            <a:r>
              <a:rPr lang="en-US" dirty="0">
                <a:solidFill>
                  <a:schemeClr val="bg1"/>
                </a:solidFill>
              </a:rPr>
              <a:t>                          </a:t>
            </a:r>
            <a:r>
              <a:rPr lang="en-DE" b="1" dirty="0">
                <a:solidFill>
                  <a:schemeClr val="bg1"/>
                </a:solidFill>
              </a:rPr>
              <a:t>Fixed Effects </a:t>
            </a:r>
            <a:r>
              <a:rPr lang="en-DE" dirty="0">
                <a:solidFill>
                  <a:schemeClr val="bg1"/>
                </a:solidFill>
              </a:rPr>
              <a:t>• Event Study • </a:t>
            </a:r>
            <a:r>
              <a:rPr lang="en-DE" b="1" dirty="0" err="1">
                <a:solidFill>
                  <a:schemeClr val="bg1"/>
                </a:solidFill>
              </a:rPr>
              <a:t>DiD</a:t>
            </a:r>
            <a:r>
              <a:rPr lang="en-DE" dirty="0">
                <a:solidFill>
                  <a:schemeClr val="bg1"/>
                </a:solidFill>
              </a:rPr>
              <a:t> • ML Models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A7C6D75-B8B4-97B0-0C04-9950C5AC2200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E072985-FF84-DD13-920C-6772230B1A7C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2E4111-5304-D52C-C20D-E52755081D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451993"/>
              </p:ext>
            </p:extLst>
          </p:nvPr>
        </p:nvGraphicFramePr>
        <p:xfrm>
          <a:off x="1210794" y="4999807"/>
          <a:ext cx="9885992" cy="1173480"/>
        </p:xfrm>
        <a:graphic>
          <a:graphicData uri="http://schemas.openxmlformats.org/drawingml/2006/table">
            <a:tbl>
              <a:tblPr/>
              <a:tblGrid>
                <a:gridCol w="150551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524973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4837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1123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621143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57992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65944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738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6416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3600" dirty="0">
                        <a:solidFill>
                          <a:schemeClr val="tx1">
                            <a:lumMod val="5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solidFill>
                          <a:schemeClr val="tx1"/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sz="11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0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2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32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  <a:endParaRPr lang="fi-FI" sz="3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3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5F2C7FE-50E5-BD95-8CBB-948856741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979038"/>
              </p:ext>
            </p:extLst>
          </p:nvPr>
        </p:nvGraphicFramePr>
        <p:xfrm>
          <a:off x="173619" y="3171134"/>
          <a:ext cx="11806178" cy="1245584"/>
        </p:xfrm>
        <a:graphic>
          <a:graphicData uri="http://schemas.openxmlformats.org/drawingml/2006/table">
            <a:tbl>
              <a:tblPr/>
              <a:tblGrid>
                <a:gridCol w="1655181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24885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511706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569580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2581154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514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6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year</a:t>
                      </a:r>
                      <a:endParaRPr lang="en-DE" sz="16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dw_crops_share_500m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dw_trees_share_500m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dw_crops_share_1000m</a:t>
                      </a: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</a:t>
                      </a: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_</a:t>
                      </a:r>
                      <a:r>
                        <a:rPr lang="en-US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10</a:t>
                      </a: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0.9858760148435586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0.00856644125052586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0.9701641039035896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0.010202338932703019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4948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1242A-0F98-9519-1BE7-B7C0A9C91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3">
            <a:extLst>
              <a:ext uri="{FF2B5EF4-FFF2-40B4-BE49-F238E27FC236}">
                <a16:creationId xmlns:a16="http://schemas.microsoft.com/office/drawing/2014/main" id="{1779D0C5-81AF-3AE8-60B1-24AF0B71821E}"/>
              </a:ext>
            </a:extLst>
          </p:cNvPr>
          <p:cNvSpPr txBox="1">
            <a:spLocks/>
          </p:cNvSpPr>
          <p:nvPr/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 Pipeline and Code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719575-6301-88C3-A0EF-FFF5077B84A3}"/>
              </a:ext>
            </a:extLst>
          </p:cNvPr>
          <p:cNvSpPr txBox="1"/>
          <p:nvPr/>
        </p:nvSpPr>
        <p:spPr>
          <a:xfrm>
            <a:off x="1567544" y="1113982"/>
            <a:ext cx="92601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				      </a:t>
            </a:r>
            <a:r>
              <a:rPr lang="en-DE" i="1" dirty="0"/>
              <a:t>UBA</a:t>
            </a:r>
            <a:br>
              <a:rPr lang="en-US" i="1" dirty="0"/>
            </a:br>
            <a:r>
              <a:rPr lang="en-US" i="1" dirty="0"/>
              <a:t>		      </a:t>
            </a:r>
            <a:r>
              <a:rPr lang="en-DE" dirty="0"/>
              <a:t>groundwater stations &amp; nitrate measurements</a:t>
            </a:r>
          </a:p>
          <a:p>
            <a:r>
              <a:rPr lang="en-DE" dirty="0"/>
              <a:t> 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                            </a:t>
            </a:r>
            <a:r>
              <a:rPr lang="en-US" dirty="0"/>
              <a:t>		       </a:t>
            </a:r>
            <a:endParaRPr lang="en-DE" dirty="0"/>
          </a:p>
          <a:p>
            <a:r>
              <a:rPr lang="en-DE" dirty="0"/>
              <a:t>         </a:t>
            </a:r>
            <a:r>
              <a:rPr lang="en-US" dirty="0"/>
              <a:t>		          </a:t>
            </a:r>
            <a:r>
              <a:rPr lang="en-US" b="1" dirty="0"/>
              <a:t>master table</a:t>
            </a:r>
            <a:r>
              <a:rPr lang="en-US" dirty="0"/>
              <a:t>:</a:t>
            </a:r>
            <a:r>
              <a:rPr lang="en-DE" dirty="0"/>
              <a:t> </a:t>
            </a:r>
            <a:r>
              <a:rPr lang="en-US" u="sng" dirty="0"/>
              <a:t>s</a:t>
            </a:r>
            <a:r>
              <a:rPr lang="en-DE" u="sng" dirty="0" err="1"/>
              <a:t>tation</a:t>
            </a:r>
            <a:r>
              <a:rPr lang="en-DE" u="sng" dirty="0"/>
              <a:t>-year </a:t>
            </a:r>
            <a:r>
              <a:rPr lang="en-DE" dirty="0"/>
              <a:t>base</a:t>
            </a:r>
            <a:r>
              <a:rPr lang="en-US" dirty="0"/>
              <a:t>d</a:t>
            </a:r>
            <a:r>
              <a:rPr lang="en-DE" dirty="0"/>
              <a:t> panel</a:t>
            </a:r>
          </a:p>
          <a:p>
            <a:r>
              <a:rPr lang="en-DE" dirty="0">
                <a:solidFill>
                  <a:schemeClr val="bg1"/>
                </a:solidFill>
              </a:rPr>
              <a:t>┌───────────────────────────┼───────────────────────────▼                           ▼                           ▼</a:t>
            </a:r>
            <a:endParaRPr lang="en-US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i="1" dirty="0"/>
              <a:t>   </a:t>
            </a:r>
            <a:r>
              <a:rPr lang="en-US" i="1" dirty="0"/>
              <a:t>	</a:t>
            </a:r>
            <a:r>
              <a:rPr lang="en-DE" i="1" dirty="0"/>
              <a:t>Dynamic World              </a:t>
            </a:r>
            <a:r>
              <a:rPr lang="en-US" i="1" dirty="0"/>
              <a:t>	</a:t>
            </a:r>
            <a:r>
              <a:rPr lang="en-DE" i="1" dirty="0"/>
              <a:t>CORINE buffers            </a:t>
            </a:r>
            <a:r>
              <a:rPr lang="en-US" i="1" dirty="0"/>
              <a:t>      	 </a:t>
            </a:r>
            <a:r>
              <a:rPr lang="en-DE" i="1" dirty="0" err="1"/>
              <a:t>Regionalstatistik</a:t>
            </a:r>
            <a:endParaRPr lang="en-DE" i="1" dirty="0"/>
          </a:p>
          <a:p>
            <a:r>
              <a:rPr lang="en-DE" dirty="0"/>
              <a:t>  </a:t>
            </a:r>
            <a:r>
              <a:rPr lang="en-US" dirty="0"/>
              <a:t>	</a:t>
            </a:r>
            <a:r>
              <a:rPr lang="en-DE" dirty="0"/>
              <a:t>Annual land cover          </a:t>
            </a:r>
            <a:r>
              <a:rPr lang="en-US" dirty="0"/>
              <a:t>	</a:t>
            </a:r>
            <a:r>
              <a:rPr lang="en-DE" dirty="0"/>
              <a:t>500/1000 m shares        </a:t>
            </a:r>
            <a:r>
              <a:rPr lang="en-US" dirty="0"/>
              <a:t>	</a:t>
            </a:r>
            <a:r>
              <a:rPr lang="en-DE" dirty="0"/>
              <a:t>Agricultural structure</a:t>
            </a:r>
          </a:p>
          <a:p>
            <a:r>
              <a:rPr lang="en-DE" sz="1600" dirty="0"/>
              <a:t>│</a:t>
            </a:r>
          </a:p>
          <a:p>
            <a:r>
              <a:rPr lang="en-DE" sz="1200" dirty="0">
                <a:solidFill>
                  <a:schemeClr val="bg1"/>
                </a:solidFill>
              </a:rPr>
              <a:t>▼</a:t>
            </a:r>
            <a:endParaRPr lang="en-US" sz="1200" dirty="0">
              <a:solidFill>
                <a:schemeClr val="bg1"/>
              </a:solidFill>
            </a:endParaRPr>
          </a:p>
          <a:p>
            <a:endParaRPr lang="en-DE" dirty="0">
              <a:solidFill>
                <a:schemeClr val="bg1"/>
              </a:solidFill>
            </a:endParaRPr>
          </a:p>
          <a:p>
            <a:r>
              <a:rPr lang="en-DE" b="1" dirty="0"/>
              <a:t>                          </a:t>
            </a:r>
            <a:r>
              <a:rPr lang="en-US" b="1" dirty="0"/>
              <a:t>                  	           full panel dataset</a:t>
            </a:r>
            <a:r>
              <a:rPr lang="en-DE" b="1" dirty="0">
                <a:solidFill>
                  <a:schemeClr val="bg1"/>
                </a:solidFill>
              </a:rPr>
              <a:t>│</a:t>
            </a:r>
            <a:br>
              <a:rPr lang="en-US" b="1" dirty="0">
                <a:solidFill>
                  <a:schemeClr val="bg1"/>
                </a:solidFill>
              </a:rPr>
            </a:br>
            <a:endParaRPr lang="en-DE" b="1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                                     ▼</a:t>
            </a:r>
          </a:p>
          <a:p>
            <a:r>
              <a:rPr lang="en-DE" dirty="0"/>
              <a:t>               </a:t>
            </a:r>
            <a:r>
              <a:rPr lang="en-US" dirty="0"/>
              <a:t>                          </a:t>
            </a:r>
            <a:r>
              <a:rPr lang="en-DE" b="1" dirty="0"/>
              <a:t>Fixed Effects </a:t>
            </a:r>
            <a:r>
              <a:rPr lang="en-DE" dirty="0"/>
              <a:t>• Event Study • </a:t>
            </a:r>
            <a:r>
              <a:rPr lang="en-DE" b="1" dirty="0" err="1"/>
              <a:t>DiD</a:t>
            </a:r>
            <a:r>
              <a:rPr lang="en-DE" dirty="0"/>
              <a:t> </a:t>
            </a:r>
            <a:r>
              <a:rPr lang="en-DE" dirty="0">
                <a:solidFill>
                  <a:schemeClr val="bg1">
                    <a:lumMod val="65000"/>
                  </a:schemeClr>
                </a:solidFill>
              </a:rPr>
              <a:t>• ML Models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FD90AD-D161-797F-8440-41155DA6EE46}"/>
              </a:ext>
            </a:extLst>
          </p:cNvPr>
          <p:cNvCxnSpPr/>
          <p:nvPr/>
        </p:nvCxnSpPr>
        <p:spPr>
          <a:xfrm>
            <a:off x="5863771" y="1785257"/>
            <a:ext cx="0" cy="391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E7F4B40-8422-7BBC-727F-DF79AB3DA5CE}"/>
              </a:ext>
            </a:extLst>
          </p:cNvPr>
          <p:cNvCxnSpPr/>
          <p:nvPr/>
        </p:nvCxnSpPr>
        <p:spPr>
          <a:xfrm>
            <a:off x="5863771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F97A680-3E9A-17CB-B01D-2302B8D2F186}"/>
              </a:ext>
            </a:extLst>
          </p:cNvPr>
          <p:cNvCxnSpPr>
            <a:cxnSpLocks/>
          </p:cNvCxnSpPr>
          <p:nvPr/>
        </p:nvCxnSpPr>
        <p:spPr>
          <a:xfrm>
            <a:off x="5863771" y="4165600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075BD2-9639-573A-6F14-A00665BFAE17}"/>
              </a:ext>
            </a:extLst>
          </p:cNvPr>
          <p:cNvCxnSpPr>
            <a:cxnSpLocks/>
          </p:cNvCxnSpPr>
          <p:nvPr/>
        </p:nvCxnSpPr>
        <p:spPr>
          <a:xfrm>
            <a:off x="3178629" y="2815771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10E239-6C4E-4B0C-9BB2-88B8568F10F5}"/>
              </a:ext>
            </a:extLst>
          </p:cNvPr>
          <p:cNvCxnSpPr>
            <a:cxnSpLocks/>
          </p:cNvCxnSpPr>
          <p:nvPr/>
        </p:nvCxnSpPr>
        <p:spPr>
          <a:xfrm>
            <a:off x="3178629" y="4165600"/>
            <a:ext cx="5791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8E41492-1912-1399-EE1E-A50DE7DE5A18}"/>
              </a:ext>
            </a:extLst>
          </p:cNvPr>
          <p:cNvCxnSpPr/>
          <p:nvPr/>
        </p:nvCxnSpPr>
        <p:spPr>
          <a:xfrm>
            <a:off x="5863771" y="2612571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98D28C-A0E5-5071-C84B-24F67BB996DF}"/>
              </a:ext>
            </a:extLst>
          </p:cNvPr>
          <p:cNvCxnSpPr/>
          <p:nvPr/>
        </p:nvCxnSpPr>
        <p:spPr>
          <a:xfrm>
            <a:off x="3178629" y="2815771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AF5EC0D-23FF-2581-BDC4-1FDF8E2CFBE7}"/>
              </a:ext>
            </a:extLst>
          </p:cNvPr>
          <p:cNvCxnSpPr/>
          <p:nvPr/>
        </p:nvCxnSpPr>
        <p:spPr>
          <a:xfrm>
            <a:off x="8969829" y="2823027"/>
            <a:ext cx="0" cy="348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68371C-1345-EFF5-860E-6B0C3BF7A9A3}"/>
              </a:ext>
            </a:extLst>
          </p:cNvPr>
          <p:cNvCxnSpPr/>
          <p:nvPr/>
        </p:nvCxnSpPr>
        <p:spPr>
          <a:xfrm>
            <a:off x="3178629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9F8D75B-1BDE-078F-3220-A4A7063A36FF}"/>
              </a:ext>
            </a:extLst>
          </p:cNvPr>
          <p:cNvCxnSpPr/>
          <p:nvPr/>
        </p:nvCxnSpPr>
        <p:spPr>
          <a:xfrm>
            <a:off x="5863771" y="3962400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A6763F-ED69-B4FB-55AF-E4ECBEF157E7}"/>
              </a:ext>
            </a:extLst>
          </p:cNvPr>
          <p:cNvCxnSpPr/>
          <p:nvPr/>
        </p:nvCxnSpPr>
        <p:spPr>
          <a:xfrm>
            <a:off x="8969829" y="3955143"/>
            <a:ext cx="0" cy="20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13319D-13AB-1B5B-3031-938B6C954208}"/>
              </a:ext>
            </a:extLst>
          </p:cNvPr>
          <p:cNvCxnSpPr>
            <a:cxnSpLocks/>
          </p:cNvCxnSpPr>
          <p:nvPr/>
        </p:nvCxnSpPr>
        <p:spPr>
          <a:xfrm>
            <a:off x="5863771" y="5072743"/>
            <a:ext cx="0" cy="319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9801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97110-5B0E-0B02-9BDC-37874F51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85803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C256-EBE8-7EA7-2CF5-9487B0F3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B42D4B0-2D10-3D93-5EF3-6E15B45D0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942" y="1480351"/>
            <a:ext cx="8311908" cy="4342438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276F9C-4642-EF08-ED50-29F9DFCA0F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Data Availability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7A3031-2D46-5074-6B6A-5F2607C31FD2}"/>
              </a:ext>
            </a:extLst>
          </p:cNvPr>
          <p:cNvSpPr txBox="1"/>
          <p:nvPr/>
        </p:nvSpPr>
        <p:spPr>
          <a:xfrm>
            <a:off x="5625193" y="1595854"/>
            <a:ext cx="3242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Main study window</a:t>
            </a:r>
          </a:p>
        </p:txBody>
      </p:sp>
    </p:spTree>
    <p:extLst>
      <p:ext uri="{BB962C8B-B14F-4D97-AF65-F5344CB8AC3E}">
        <p14:creationId xmlns:p14="http://schemas.microsoft.com/office/powerpoint/2010/main" val="2332037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22362-EA35-DD9D-4C56-28409B55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6691FDA-C555-ACE9-E102-67D41D846C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799" y="2163536"/>
            <a:ext cx="3163951" cy="1347107"/>
          </a:xfrm>
        </p:spPr>
        <p:txBody>
          <a:bodyPr/>
          <a:lstStyle/>
          <a:p>
            <a:pPr marL="0" indent="0">
              <a:buNone/>
            </a:pPr>
            <a:r>
              <a:rPr lang="en-DE" dirty="0"/>
              <a:t>Groundwater stations nitrate measurements</a:t>
            </a:r>
          </a:p>
          <a:p>
            <a:pPr marL="0" indent="0">
              <a:buNone/>
            </a:pPr>
            <a:endParaRPr lang="en-DE" dirty="0"/>
          </a:p>
          <a:p>
            <a:endParaRPr lang="en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1DBDAA-ADE3-E9D3-4E3B-FDD7669ED6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Panel Data Set</a:t>
            </a:r>
          </a:p>
        </p:txBody>
      </p:sp>
      <p:sp>
        <p:nvSpPr>
          <p:cNvPr id="3" name="Textplatzhalter 1">
            <a:extLst>
              <a:ext uri="{FF2B5EF4-FFF2-40B4-BE49-F238E27FC236}">
                <a16:creationId xmlns:a16="http://schemas.microsoft.com/office/drawing/2014/main" id="{3C51B643-6D85-C6F0-506F-0DC1647C7B13}"/>
              </a:ext>
            </a:extLst>
          </p:cNvPr>
          <p:cNvSpPr txBox="1">
            <a:spLocks/>
          </p:cNvSpPr>
          <p:nvPr/>
        </p:nvSpPr>
        <p:spPr>
          <a:xfrm>
            <a:off x="7929500" y="2163415"/>
            <a:ext cx="3355521" cy="522514"/>
          </a:xfrm>
          <a:prstGeom prst="rect">
            <a:avLst/>
          </a:prstGeom>
        </p:spPr>
        <p:txBody>
          <a:bodyPr lIns="0" tIns="0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DE" dirty="0"/>
              <a:t>+ Land Cover Data</a:t>
            </a:r>
          </a:p>
          <a:p>
            <a:endParaRPr lang="en-DE" dirty="0"/>
          </a:p>
        </p:txBody>
      </p:sp>
      <p:sp>
        <p:nvSpPr>
          <p:cNvPr id="5" name="Textplatzhalter 1">
            <a:extLst>
              <a:ext uri="{FF2B5EF4-FFF2-40B4-BE49-F238E27FC236}">
                <a16:creationId xmlns:a16="http://schemas.microsoft.com/office/drawing/2014/main" id="{C46A7D2C-5921-B113-94B6-3A0932D9B22D}"/>
              </a:ext>
            </a:extLst>
          </p:cNvPr>
          <p:cNvSpPr txBox="1">
            <a:spLocks/>
          </p:cNvSpPr>
          <p:nvPr/>
        </p:nvSpPr>
        <p:spPr>
          <a:xfrm>
            <a:off x="4128036" y="2163415"/>
            <a:ext cx="4008664" cy="889907"/>
          </a:xfrm>
          <a:prstGeom prst="rect">
            <a:avLst/>
          </a:prstGeom>
        </p:spPr>
        <p:txBody>
          <a:bodyPr lIns="0" tIns="0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DE" dirty="0"/>
              <a:t>+ Regionalstatistik data </a:t>
            </a:r>
          </a:p>
          <a:p>
            <a:pPr marL="0" indent="0">
              <a:buNone/>
            </a:pPr>
            <a:r>
              <a:rPr lang="en-DE" dirty="0"/>
              <a:t>(esp. Organic Farming Share)</a:t>
            </a:r>
          </a:p>
          <a:p>
            <a:pPr marL="0" indent="0">
              <a:buNone/>
            </a:pPr>
            <a:endParaRPr lang="en-DE" dirty="0"/>
          </a:p>
          <a:p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56C1C-FD70-4A0B-5530-0B454085BBD1}"/>
              </a:ext>
            </a:extLst>
          </p:cNvPr>
          <p:cNvSpPr txBox="1"/>
          <p:nvPr/>
        </p:nvSpPr>
        <p:spPr>
          <a:xfrm>
            <a:off x="550799" y="3429000"/>
            <a:ext cx="2543465" cy="369332"/>
          </a:xfrm>
          <a:prstGeom prst="rect">
            <a:avLst/>
          </a:prstGeom>
        </p:spPr>
        <p:txBody>
          <a:bodyPr lIns="0" tIns="0"/>
          <a:lstStyle>
            <a:lvl1pPr indent="0">
              <a:lnSpc>
                <a:spcPts val="2400"/>
              </a:lnSpc>
              <a:spcBef>
                <a:spcPts val="1000"/>
              </a:spcBef>
              <a:buFont typeface="Symbol" pitchFamily="2" charset="2"/>
              <a:buNone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baseline: </a:t>
            </a:r>
            <a:r>
              <a:rPr lang="en-DE" dirty="0"/>
              <a:t>station-year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0C1C78-FCF4-4800-5424-DDB4580BCBF8}"/>
              </a:ext>
            </a:extLst>
          </p:cNvPr>
          <p:cNvSpPr txBox="1"/>
          <p:nvPr/>
        </p:nvSpPr>
        <p:spPr>
          <a:xfrm>
            <a:off x="4128036" y="3428879"/>
            <a:ext cx="3180978" cy="375680"/>
          </a:xfrm>
          <a:prstGeom prst="rect">
            <a:avLst/>
          </a:prstGeom>
        </p:spPr>
        <p:txBody>
          <a:bodyPr lIns="0" tIns="0"/>
          <a:lstStyle>
            <a:lvl1pPr indent="0">
              <a:lnSpc>
                <a:spcPts val="2400"/>
              </a:lnSpc>
              <a:spcBef>
                <a:spcPts val="1000"/>
              </a:spcBef>
              <a:buFont typeface="Symbol" pitchFamily="2" charset="2"/>
              <a:buNone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GB" dirty="0"/>
              <a:t>Station-D</a:t>
            </a:r>
            <a:r>
              <a:rPr lang="en-DE" dirty="0"/>
              <a:t>istrict level mapping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349C5F-64E3-47DC-C4AB-99563031870E}"/>
              </a:ext>
            </a:extLst>
          </p:cNvPr>
          <p:cNvSpPr txBox="1"/>
          <p:nvPr/>
        </p:nvSpPr>
        <p:spPr>
          <a:xfrm>
            <a:off x="7929500" y="3428878"/>
            <a:ext cx="3296330" cy="375680"/>
          </a:xfrm>
          <a:prstGeom prst="rect">
            <a:avLst/>
          </a:prstGeom>
        </p:spPr>
        <p:txBody>
          <a:bodyPr lIns="0" tIns="0"/>
          <a:lstStyle>
            <a:lvl1pPr indent="0">
              <a:lnSpc>
                <a:spcPts val="2400"/>
              </a:lnSpc>
              <a:spcBef>
                <a:spcPts val="1000"/>
              </a:spcBef>
              <a:buFont typeface="Symbol" pitchFamily="2" charset="2"/>
              <a:buNone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DE" dirty="0"/>
              <a:t>500m buffer around stations</a:t>
            </a:r>
          </a:p>
        </p:txBody>
      </p:sp>
    </p:spTree>
    <p:extLst>
      <p:ext uri="{BB962C8B-B14F-4D97-AF65-F5344CB8AC3E}">
        <p14:creationId xmlns:p14="http://schemas.microsoft.com/office/powerpoint/2010/main" val="8332498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B11D5-C7E2-B835-1191-4B42F5FE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2BD59F0-E016-D466-D132-53232C828D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Exploratory Data 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D3AF74-7763-736C-C072-EDFD3EC7C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54" y="2385503"/>
            <a:ext cx="5633114" cy="31071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9DF8F1-D22B-FD26-FF09-A11AF5F6C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7" y="2287439"/>
            <a:ext cx="5810899" cy="32052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88E2BA-4699-280C-5612-E61920CD3355}"/>
              </a:ext>
            </a:extLst>
          </p:cNvPr>
          <p:cNvSpPr txBox="1"/>
          <p:nvPr/>
        </p:nvSpPr>
        <p:spPr>
          <a:xfrm>
            <a:off x="1738993" y="1979662"/>
            <a:ext cx="373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Trend of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rganic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farming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hare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23DFC6-0D00-7C57-8A88-9967B7012CA5}"/>
              </a:ext>
            </a:extLst>
          </p:cNvPr>
          <p:cNvSpPr txBox="1"/>
          <p:nvPr/>
        </p:nvSpPr>
        <p:spPr>
          <a:xfrm>
            <a:off x="7345135" y="1979662"/>
            <a:ext cx="373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Trend of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nitrate concentration</a:t>
            </a:r>
            <a:endParaRPr lang="en-US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8966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6697E-105C-FF00-6EDC-CE90FC1B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069EF1-4A7D-994F-E0BB-330884EC68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Exploratory Data Analysis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1B8A5B-4CEF-CEBB-04E7-5ED378A61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67" y="2192118"/>
            <a:ext cx="5314173" cy="32563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6D3959-5DBB-C38B-51EE-0FABEA17A9AF}"/>
              </a:ext>
            </a:extLst>
          </p:cNvPr>
          <p:cNvSpPr txBox="1"/>
          <p:nvPr/>
        </p:nvSpPr>
        <p:spPr>
          <a:xfrm>
            <a:off x="987879" y="1731819"/>
            <a:ext cx="4694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Organic share level vs nitrate level (2020)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497C6-9AAF-F998-F139-1181D3721BBA}"/>
              </a:ext>
            </a:extLst>
          </p:cNvPr>
          <p:cNvSpPr txBox="1"/>
          <p:nvPr/>
        </p:nvSpPr>
        <p:spPr>
          <a:xfrm>
            <a:off x="6580414" y="1721533"/>
            <a:ext cx="505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Organic growth vs nitrate change (2016 – 2020)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E4237CA-19AF-4F8A-8349-5CD688B7C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959" y="2192118"/>
            <a:ext cx="5314173" cy="325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491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E674CE-94E6-FAF0-1A63-FBE2F3050EC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742932"/>
            <a:ext cx="3376221" cy="3556343"/>
          </a:xfrm>
        </p:spPr>
        <p:txBody>
          <a:bodyPr/>
          <a:lstStyle/>
          <a:p>
            <a:pPr marL="0" indent="0">
              <a:buNone/>
            </a:pPr>
            <a:r>
              <a:rPr lang="en-DE" dirty="0"/>
              <a:t>Organic growth in 2020:</a:t>
            </a:r>
          </a:p>
          <a:p>
            <a:r>
              <a:rPr lang="en-GB" dirty="0"/>
              <a:t>Low-growth districts = bottom 25% of districts by organic farming share increase</a:t>
            </a:r>
          </a:p>
          <a:p>
            <a:r>
              <a:rPr lang="en-GB" dirty="0"/>
              <a:t>High-growth districts = top 25% of districts by organic farming share increase</a:t>
            </a:r>
          </a:p>
          <a:p>
            <a:endParaRPr lang="en-GB" dirty="0"/>
          </a:p>
          <a:p>
            <a:r>
              <a:rPr lang="en-DE" b="1" dirty="0"/>
              <a:t>Parallel trends are not clean</a:t>
            </a:r>
          </a:p>
          <a:p>
            <a:endParaRPr lang="en-GB" dirty="0"/>
          </a:p>
          <a:p>
            <a:endParaRPr lang="en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ED1F4-9E97-07C4-7C12-46C8E34AAA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Exploratory Data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E3D859-7C0C-D894-6604-515734815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406" y="1742932"/>
            <a:ext cx="6683794" cy="382647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729227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408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8069F-09E0-6C14-A8F6-1BA7334220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</a:t>
            </a:r>
            <a:r>
              <a:rPr lang="en-US" dirty="0" err="1"/>
              <a:t>DiD</a:t>
            </a:r>
            <a:r>
              <a:rPr lang="en-US" dirty="0"/>
              <a:t>-Setups</a:t>
            </a:r>
            <a:endParaRPr lang="en-DE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FB5AC89D-EDF6-0709-1C85-60F21EA62F5A}"/>
              </a:ext>
            </a:extLst>
          </p:cNvPr>
          <p:cNvSpPr txBox="1">
            <a:spLocks/>
          </p:cNvSpPr>
          <p:nvPr/>
        </p:nvSpPr>
        <p:spPr>
          <a:xfrm>
            <a:off x="555867" y="1912394"/>
            <a:ext cx="9946678" cy="4093588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27681274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50575-1EBF-6075-1B5C-DE8C46E9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4F5478-4119-5084-9CE4-7C8187F3C8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</a:t>
            </a:r>
            <a:r>
              <a:rPr lang="en-US" dirty="0" err="1"/>
              <a:t>DiD</a:t>
            </a:r>
            <a:r>
              <a:rPr lang="en-US" dirty="0"/>
              <a:t>-Setups</a:t>
            </a:r>
            <a:endParaRPr lang="en-DE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280C2703-4E91-1476-6950-C5501D54DEBF}"/>
              </a:ext>
            </a:extLst>
          </p:cNvPr>
          <p:cNvSpPr txBox="1">
            <a:spLocks/>
          </p:cNvSpPr>
          <p:nvPr/>
        </p:nvSpPr>
        <p:spPr>
          <a:xfrm>
            <a:off x="555867" y="1912394"/>
            <a:ext cx="9946678" cy="4093588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800"/>
              <a:t>Fixed-effects panel regression,</a:t>
            </a:r>
            <a:br>
              <a:rPr lang="en-US" sz="2800"/>
            </a:br>
            <a:endParaRPr lang="en-US" sz="2800"/>
          </a:p>
          <a:p>
            <a:pPr marL="342900" indent="-342900">
              <a:buFont typeface="+mj-lt"/>
              <a:buAutoNum type="arabicPeriod"/>
            </a:pPr>
            <a:r>
              <a:rPr lang="en-US" sz="2800"/>
              <a:t>Event study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42076098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4152E-09B0-2ACC-BE0E-0966A043C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5D541E-1719-B9E4-2F8D-0965CF13312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12394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06B9F7-110A-867C-BD0C-C41497D998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</a:t>
            </a:r>
            <a:r>
              <a:rPr lang="en-US" dirty="0" err="1"/>
              <a:t>DiD</a:t>
            </a:r>
            <a:r>
              <a:rPr lang="en-US" dirty="0"/>
              <a:t>-Setups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1795293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44E0A-CAC5-808C-667A-E40ADF9BC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A73A23-C7B9-3115-CF8C-E1E7D3B49C5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46198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</a:t>
            </a: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768294-C443-CEB7-B7BF-ABB514BAEB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</a:t>
            </a:r>
            <a:r>
              <a:rPr lang="en-US" dirty="0" err="1"/>
              <a:t>DiD</a:t>
            </a:r>
            <a:r>
              <a:rPr lang="en-US" dirty="0"/>
              <a:t>-Setups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362020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DF7F0-6744-D268-0A99-D6388397C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8E09993-BF45-7DD6-D46F-840C9EFD220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989885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Advanced </a:t>
            </a:r>
            <a:r>
              <a:rPr lang="en-US" sz="2800" dirty="0" err="1"/>
              <a:t>DiD</a:t>
            </a:r>
            <a:r>
              <a:rPr lang="en-US" sz="2800" dirty="0"/>
              <a:t> methods: 	- CSDID,</a:t>
            </a:r>
            <a:br>
              <a:rPr lang="en-US" sz="2800" dirty="0"/>
            </a:br>
            <a:r>
              <a:rPr lang="en-US" sz="2800" dirty="0"/>
              <a:t>					- DRDID,</a:t>
            </a:r>
            <a:br>
              <a:rPr lang="en-US" sz="2800" dirty="0"/>
            </a:br>
            <a:r>
              <a:rPr lang="en-US" sz="2800" dirty="0"/>
              <a:t>					- Distributed-Lag DID,</a:t>
            </a:r>
          </a:p>
          <a:p>
            <a:pPr marL="342900" indent="-342900">
              <a:buFont typeface="+mj-lt"/>
              <a:buAutoNum type="arabicPeriod"/>
            </a:pP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E7864-DD3C-ADE1-3879-DC55C54CE4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</a:t>
            </a:r>
            <a:r>
              <a:rPr lang="en-US" dirty="0" err="1"/>
              <a:t>DiD</a:t>
            </a:r>
            <a:r>
              <a:rPr lang="en-US" dirty="0"/>
              <a:t>-Setups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4520949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81BB8-3E3A-1609-0011-7DA2914CF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71F1DA-1BC7-C548-6453-9FDC739917C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5867" y="1816352"/>
            <a:ext cx="9946678" cy="4093588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Fixed-effects panel regression,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Event study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Staggered Adoption</a:t>
            </a:r>
            <a:br>
              <a:rPr lang="en-US" sz="2800" dirty="0"/>
            </a:b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Advanced </a:t>
            </a:r>
            <a:r>
              <a:rPr lang="en-US" sz="2800" dirty="0" err="1"/>
              <a:t>DiD</a:t>
            </a:r>
            <a:r>
              <a:rPr lang="en-US" sz="2800" dirty="0"/>
              <a:t> methods: 	- CSDID,</a:t>
            </a:r>
            <a:br>
              <a:rPr lang="en-US" sz="2800" dirty="0"/>
            </a:br>
            <a:r>
              <a:rPr lang="en-US" sz="2800" dirty="0"/>
              <a:t>					- DRDID,</a:t>
            </a:r>
            <a:br>
              <a:rPr lang="en-US" sz="2800" dirty="0"/>
            </a:br>
            <a:r>
              <a:rPr lang="en-US" sz="2800" dirty="0"/>
              <a:t>					- Distributed-Lag DID</a:t>
            </a:r>
          </a:p>
          <a:p>
            <a:pPr marL="342900" indent="-342900">
              <a:buFont typeface="+mj-lt"/>
              <a:buAutoNum type="arabicPeriod"/>
            </a:pPr>
            <a:endParaRPr lang="en-DE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79191-2B4C-B13B-53C6-D5FF29C57E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Current status of our project:</a:t>
            </a:r>
          </a:p>
          <a:p>
            <a:r>
              <a:rPr lang="en-US" dirty="0"/>
              <a:t>Exploring and Testing </a:t>
            </a:r>
            <a:r>
              <a:rPr lang="en-US" dirty="0" err="1"/>
              <a:t>DiD</a:t>
            </a:r>
            <a:r>
              <a:rPr lang="en-US" dirty="0"/>
              <a:t>-Setups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958688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3CD40-7992-DF3E-C5E0-C81A967C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4A66489-1553-B653-B9D5-8B770280B41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910443"/>
            <a:ext cx="9721850" cy="3388832"/>
          </a:xfrm>
        </p:spPr>
        <p:txBody>
          <a:bodyPr/>
          <a:lstStyle/>
          <a:p>
            <a:r>
              <a:rPr lang="en-US" noProof="0" dirty="0"/>
              <a:t>Identify Econometric Setup, preferably and if possible: a </a:t>
            </a:r>
            <a:r>
              <a:rPr lang="en-US" noProof="0" dirty="0" err="1"/>
              <a:t>DiD</a:t>
            </a:r>
            <a:r>
              <a:rPr lang="en-US" noProof="0" dirty="0"/>
              <a:t>-Setup</a:t>
            </a:r>
          </a:p>
          <a:p>
            <a:r>
              <a:rPr lang="en-US" dirty="0"/>
              <a:t>If enough time: add </a:t>
            </a:r>
            <a:r>
              <a:rPr lang="en-US" noProof="0" dirty="0"/>
              <a:t>cofounders (soil type, industrial activity, traffic)</a:t>
            </a:r>
          </a:p>
          <a:p>
            <a:endParaRPr lang="en-US" dirty="0"/>
          </a:p>
          <a:p>
            <a:pPr marL="0" indent="0">
              <a:buNone/>
            </a:pPr>
            <a:br>
              <a:rPr lang="en-US" noProof="0" dirty="0"/>
            </a:br>
            <a:br>
              <a:rPr lang="en-US" noProof="0" dirty="0"/>
            </a:b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dirty="0"/>
              <a:t>Potential extension to whole of Germany</a:t>
            </a:r>
            <a:endParaRPr lang="en-US" noProof="0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C95A8A-24F1-0139-3E25-8291F19757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Next Steps</a:t>
            </a:r>
          </a:p>
        </p:txBody>
      </p:sp>
      <p:sp>
        <p:nvSpPr>
          <p:cNvPr id="3" name="Textplatzhalter 3">
            <a:extLst>
              <a:ext uri="{FF2B5EF4-FFF2-40B4-BE49-F238E27FC236}">
                <a16:creationId xmlns:a16="http://schemas.microsoft.com/office/drawing/2014/main" id="{55E5AAB2-54F0-0B53-72CA-7C2378876E81}"/>
              </a:ext>
            </a:extLst>
          </p:cNvPr>
          <p:cNvSpPr txBox="1">
            <a:spLocks/>
          </p:cNvSpPr>
          <p:nvPr/>
        </p:nvSpPr>
        <p:spPr>
          <a:xfrm>
            <a:off x="550800" y="3246140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 defTabSz="914400" rtl="0" eaLnBrk="1" latinLnBrk="0" hangingPunct="1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>
                <a:solidFill>
                  <a:srgbClr val="C40D1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Future Research Beyond Seminar</a:t>
            </a:r>
          </a:p>
        </p:txBody>
      </p:sp>
    </p:spTree>
    <p:extLst>
      <p:ext uri="{BB962C8B-B14F-4D97-AF65-F5344CB8AC3E}">
        <p14:creationId xmlns:p14="http://schemas.microsoft.com/office/powerpoint/2010/main" val="20204243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DA98D69-0671-8699-DA49-27057AAAF3D6}"/>
              </a:ext>
            </a:extLst>
          </p:cNvPr>
          <p:cNvSpPr txBox="1">
            <a:spLocks/>
          </p:cNvSpPr>
          <p:nvPr/>
        </p:nvSpPr>
        <p:spPr>
          <a:xfrm>
            <a:off x="838200" y="2190750"/>
            <a:ext cx="10515600" cy="356817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29905474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5C397-E910-0285-4E54-2123C6E5D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003B1BD-F4FD-8C3B-0643-D493DBD0E9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50800" y="1371599"/>
            <a:ext cx="9721850" cy="392767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noProof="0" dirty="0"/>
              <a:t>NLWKN (2020), </a:t>
            </a:r>
            <a:r>
              <a:rPr lang="en-US" noProof="0" dirty="0" err="1"/>
              <a:t>Grundwasserbericht</a:t>
            </a:r>
            <a:r>
              <a:rPr lang="en-US" noProof="0" dirty="0"/>
              <a:t> Niedersachsen – </a:t>
            </a:r>
            <a:r>
              <a:rPr lang="en-US" noProof="0" dirty="0" err="1"/>
              <a:t>Parameterblatt</a:t>
            </a:r>
            <a:r>
              <a:rPr lang="en-US" noProof="0" dirty="0"/>
              <a:t> </a:t>
            </a:r>
            <a:r>
              <a:rPr lang="en-US" noProof="0" dirty="0" err="1"/>
              <a:t>Nitrat</a:t>
            </a:r>
            <a:r>
              <a:rPr lang="en-US" noProof="0" dirty="0"/>
              <a:t>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 err="1"/>
              <a:t>Umweltbundesamt</a:t>
            </a:r>
            <a:r>
              <a:rPr lang="en-US" noProof="0" dirty="0"/>
              <a:t> (2024), </a:t>
            </a:r>
            <a:r>
              <a:rPr lang="en-US" noProof="0" dirty="0" err="1"/>
              <a:t>Daten</a:t>
            </a:r>
            <a:r>
              <a:rPr lang="en-US" noProof="0" dirty="0"/>
              <a:t> der </a:t>
            </a:r>
            <a:r>
              <a:rPr lang="en-US" noProof="0" dirty="0" err="1"/>
              <a:t>Auswertungen</a:t>
            </a:r>
            <a:r>
              <a:rPr lang="en-US" noProof="0" dirty="0"/>
              <a:t> des </a:t>
            </a:r>
            <a:r>
              <a:rPr lang="en-US" noProof="0" dirty="0" err="1"/>
              <a:t>Nitratberichts</a:t>
            </a:r>
            <a:r>
              <a:rPr lang="en-US" noProof="0" dirty="0"/>
              <a:t> 2024.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 err="1"/>
              <a:t>Statistische</a:t>
            </a:r>
            <a:r>
              <a:rPr lang="en-US" noProof="0" dirty="0"/>
              <a:t> </a:t>
            </a:r>
            <a:r>
              <a:rPr lang="en-US" noProof="0" dirty="0" err="1"/>
              <a:t>Ämter</a:t>
            </a:r>
            <a:r>
              <a:rPr lang="en-US" noProof="0" dirty="0"/>
              <a:t> des </a:t>
            </a:r>
            <a:r>
              <a:rPr lang="en-US" noProof="0" dirty="0" err="1"/>
              <a:t>Bundes</a:t>
            </a:r>
            <a:r>
              <a:rPr lang="en-US" noProof="0" dirty="0"/>
              <a:t> und der Länder (2010/2016/2020), </a:t>
            </a:r>
            <a:r>
              <a:rPr lang="en-US" noProof="0" dirty="0" err="1"/>
              <a:t>Regionalstatistik</a:t>
            </a:r>
            <a:r>
              <a:rPr lang="en-US" noProof="0" dirty="0"/>
              <a:t> </a:t>
            </a:r>
            <a:r>
              <a:rPr lang="en-US" noProof="0" dirty="0" err="1"/>
              <a:t>Tabelle</a:t>
            </a:r>
            <a:r>
              <a:rPr lang="en-US" noProof="0" dirty="0"/>
              <a:t> 41141-04-02-4: </a:t>
            </a:r>
            <a:r>
              <a:rPr lang="en-US" noProof="0" dirty="0" err="1"/>
              <a:t>Landwirtschaftliche</a:t>
            </a:r>
            <a:r>
              <a:rPr lang="en-US" noProof="0" dirty="0"/>
              <a:t> Betriebe </a:t>
            </a:r>
            <a:r>
              <a:rPr lang="en-US" noProof="0" dirty="0" err="1"/>
              <a:t>insgesamt</a:t>
            </a:r>
            <a:r>
              <a:rPr lang="en-US" noProof="0" dirty="0"/>
              <a:t> </a:t>
            </a:r>
            <a:r>
              <a:rPr lang="en-US" noProof="0" dirty="0" err="1"/>
              <a:t>sowie</a:t>
            </a:r>
            <a:r>
              <a:rPr lang="en-US" noProof="0" dirty="0"/>
              <a:t> </a:t>
            </a:r>
            <a:r>
              <a:rPr lang="en-US" noProof="0" dirty="0" err="1"/>
              <a:t>mit</a:t>
            </a:r>
            <a:r>
              <a:rPr lang="en-US" noProof="0" dirty="0"/>
              <a:t> </a:t>
            </a:r>
            <a:r>
              <a:rPr lang="en-US" noProof="0" dirty="0" err="1"/>
              <a:t>ökologischem</a:t>
            </a:r>
            <a:r>
              <a:rPr lang="en-US" noProof="0" dirty="0"/>
              <a:t> </a:t>
            </a:r>
            <a:r>
              <a:rPr lang="en-US" noProof="0" dirty="0" err="1"/>
              <a:t>Landbau</a:t>
            </a:r>
            <a:r>
              <a:rPr lang="en-US" noProof="0" dirty="0"/>
              <a:t> und </a:t>
            </a:r>
            <a:r>
              <a:rPr lang="en-US" noProof="0" dirty="0" err="1"/>
              <a:t>deren</a:t>
            </a:r>
            <a:r>
              <a:rPr lang="en-US" noProof="0" dirty="0"/>
              <a:t> </a:t>
            </a:r>
            <a:r>
              <a:rPr lang="en-US" noProof="0" dirty="0" err="1"/>
              <a:t>landwirtschaftlich</a:t>
            </a:r>
            <a:r>
              <a:rPr lang="en-US" noProof="0" dirty="0"/>
              <a:t> </a:t>
            </a:r>
            <a:r>
              <a:rPr lang="en-US" noProof="0" dirty="0" err="1"/>
              <a:t>genutzte</a:t>
            </a:r>
            <a:r>
              <a:rPr lang="en-US" noProof="0" dirty="0"/>
              <a:t> </a:t>
            </a:r>
            <a:r>
              <a:rPr lang="en-US" noProof="0" dirty="0" err="1"/>
              <a:t>Fläche</a:t>
            </a:r>
            <a:r>
              <a:rPr lang="en-US" noProof="0" dirty="0"/>
              <a:t> (LF) und </a:t>
            </a:r>
            <a:r>
              <a:rPr lang="en-US" noProof="0" dirty="0" err="1"/>
              <a:t>Viehbestand</a:t>
            </a:r>
            <a:r>
              <a:rPr lang="en-US" noProof="0" dirty="0"/>
              <a:t>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/>
              <a:t>Google, World Resources Institute und National Geographic Society (2022), Dynamic World V1: Near real-time global 10 m land use/land cover mapping.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/>
              <a:t>European Environment Agency / Copernicus (2012/2018), CORINE Land Cover.</a:t>
            </a:r>
          </a:p>
          <a:p>
            <a:pPr>
              <a:lnSpc>
                <a:spcPct val="100000"/>
              </a:lnSpc>
            </a:pPr>
            <a:endParaRPr lang="en-US" noProof="0" dirty="0"/>
          </a:p>
          <a:p>
            <a:pPr>
              <a:lnSpc>
                <a:spcPct val="100000"/>
              </a:lnSpc>
            </a:pPr>
            <a:r>
              <a:rPr lang="en-US" noProof="0" dirty="0" err="1"/>
              <a:t>GeoBasis</a:t>
            </a:r>
            <a:r>
              <a:rPr lang="en-US" noProof="0" dirty="0"/>
              <a:t>-DE / </a:t>
            </a:r>
            <a:r>
              <a:rPr lang="en-US" noProof="0" dirty="0" err="1"/>
              <a:t>Bundesamt</a:t>
            </a:r>
            <a:r>
              <a:rPr lang="en-US" noProof="0" dirty="0"/>
              <a:t> für </a:t>
            </a:r>
            <a:r>
              <a:rPr lang="en-US" noProof="0" dirty="0" err="1"/>
              <a:t>Kartographie</a:t>
            </a:r>
            <a:r>
              <a:rPr lang="en-US" noProof="0" dirty="0"/>
              <a:t> und </a:t>
            </a:r>
            <a:r>
              <a:rPr lang="en-US" noProof="0" dirty="0" err="1"/>
              <a:t>Geodäsie</a:t>
            </a:r>
            <a:r>
              <a:rPr lang="en-US" noProof="0" dirty="0"/>
              <a:t> (2026), </a:t>
            </a:r>
            <a:r>
              <a:rPr lang="en-US" noProof="0" dirty="0" err="1"/>
              <a:t>Verwaltungsgebiete</a:t>
            </a:r>
            <a:r>
              <a:rPr lang="en-US" noProof="0" dirty="0"/>
              <a:t> 1:250 000 (VG250), </a:t>
            </a:r>
            <a:r>
              <a:rPr lang="en-US" noProof="0" dirty="0" err="1"/>
              <a:t>Kreisgrenzen</a:t>
            </a:r>
            <a:r>
              <a:rPr lang="en-US" noProof="0" dirty="0"/>
              <a:t> Niedersachsen.</a:t>
            </a:r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6EA517C-8131-7EF5-9696-BB52A05F5C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Bibliography</a:t>
            </a:r>
          </a:p>
        </p:txBody>
      </p:sp>
    </p:spTree>
    <p:extLst>
      <p:ext uri="{BB962C8B-B14F-4D97-AF65-F5344CB8AC3E}">
        <p14:creationId xmlns:p14="http://schemas.microsoft.com/office/powerpoint/2010/main" val="23773345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7CEE9-1854-9281-5D36-82DCAFE7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EEA6C46-9117-DAB9-05B8-EFBA813821FC}"/>
              </a:ext>
            </a:extLst>
          </p:cNvPr>
          <p:cNvSpPr txBox="1">
            <a:spLocks/>
          </p:cNvSpPr>
          <p:nvPr/>
        </p:nvSpPr>
        <p:spPr>
          <a:xfrm>
            <a:off x="838200" y="2190750"/>
            <a:ext cx="10515600" cy="356817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4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</a:t>
            </a:r>
            <a:r>
              <a:rPr lang="en-US" sz="48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4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stions?</a:t>
            </a:r>
            <a:endParaRPr lang="en-US" sz="48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0219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888A4-0E20-BA00-A746-9A0E1E6A8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49938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FDE6-19A0-E945-B342-A6F0AF19B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283CD4-4020-A051-4F55-E9761ABC2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9C1AA7B-1818-97C7-7C79-410F91C4101D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3192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5030B-805D-73FE-ECE3-9F109CA16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A494A0-D63D-9D2C-5540-6B5B8277BA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0EF11F-8910-E824-ACB5-B34B2E1C2C3C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0897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7400-4A15-1481-304D-C8FCCD9CD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3FE03D-2606-2E00-6EE9-D966F6A6A8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D3E14B3-A72E-2EA6-D8D4-B389129E4592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08347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9E96-13D3-B6E9-6DC3-7CC49BBC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829C7-B3F1-E6FC-A374-0E71319E5F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C43D215-6E07-75CF-C90C-0AB4977DE18E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39631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4ACBC-2A72-C789-0954-AEF8AD5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7F4677-E313-1EE6-AB25-7B5E9BC0C8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7498C7D-F5A5-192C-73B5-A18A4B13A4D3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6354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A7342-C0BF-723F-3C4A-5D6B29C8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1CC766-7FFC-6ABC-A8D5-A4B7578D89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A124D28-37E5-F2B0-2297-C3624DD6BD02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5412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EC20-3E3D-8D43-B1C7-6351C4D8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AB29AE-7E47-EBDB-B3A3-496BF0AB57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DE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E22757B-8C60-29CF-63FC-13852B24DF18}"/>
              </a:ext>
            </a:extLst>
          </p:cNvPr>
          <p:cNvGraphicFramePr>
            <a:graphicFrameLocks noGrp="1"/>
          </p:cNvGraphicFramePr>
          <p:nvPr/>
        </p:nvGraphicFramePr>
        <p:xfrm>
          <a:off x="550798" y="1371600"/>
          <a:ext cx="11427842" cy="4722678"/>
        </p:xfrm>
        <a:graphic>
          <a:graphicData uri="http://schemas.openxmlformats.org/drawingml/2006/table">
            <a:tbl>
              <a:tblPr/>
              <a:tblGrid>
                <a:gridCol w="3577065">
                  <a:extLst>
                    <a:ext uri="{9D8B030D-6E8A-4147-A177-3AD203B41FA5}">
                      <a16:colId xmlns:a16="http://schemas.microsoft.com/office/drawing/2014/main" val="2839672384"/>
                    </a:ext>
                  </a:extLst>
                </a:gridCol>
                <a:gridCol w="2364377">
                  <a:extLst>
                    <a:ext uri="{9D8B030D-6E8A-4147-A177-3AD203B41FA5}">
                      <a16:colId xmlns:a16="http://schemas.microsoft.com/office/drawing/2014/main" val="1824701587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18791129"/>
                    </a:ext>
                  </a:extLst>
                </a:gridCol>
              </a:tblGrid>
              <a:tr h="184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i="0" u="non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Chosen Source</a:t>
                      </a:r>
                      <a:endParaRPr lang="en-DE" sz="1800" b="1" i="0" u="none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</a:t>
                      </a:r>
                      <a:endParaRPr lang="en-DE" sz="1200" b="1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Assessment / Criteria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799788"/>
                  </a:ext>
                </a:extLst>
              </a:tr>
              <a:tr h="70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UBA Groundwater Report (2024)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Geodaten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des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Niedersächsisches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Umweltportals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short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has longer panel wit more complete metadata,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unofficial</a:t>
                      </a:r>
                      <a:r>
                        <a:rPr lang="en-US" sz="14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UBA is harmonized &amp; reported by national guidelines.</a:t>
                      </a:r>
                      <a:endParaRPr lang="en-DE" sz="1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875187"/>
                  </a:ext>
                </a:extLst>
              </a:tr>
              <a:tr h="153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Dynamic World</a:t>
                      </a:r>
                      <a:b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             +</a:t>
                      </a:r>
                      <a:endParaRPr lang="en-DE" sz="14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CORINE Land Cover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ALKIS</a:t>
                      </a: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Amtliches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Liegenschaftskataster-Informationssystem</a:t>
                      </a:r>
                      <a:r>
                        <a:rPr lang="en-US" sz="14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b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b="1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BORIS</a:t>
                      </a:r>
                      <a:r>
                        <a:rPr lang="en-US" sz="12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400" b="0" i="1" strike="sngStrike" dirty="0" err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Bodenrichtwerte</a:t>
                      </a:r>
                      <a:r>
                        <a:rPr lang="en-US" sz="1400" b="0" i="1" strike="sng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sz="1200" b="0" i="1" strike="sng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fine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cadastral / parcel-level -&gt; aggregation steps,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inconsistent</a:t>
                      </a:r>
                      <a:r>
                        <a:rPr lang="en-US" sz="1400" b="1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historical snapshot maintenance,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1" i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 unstandardized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tricky abbreviations and licensing.</a:t>
                      </a: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b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en-US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•  out of scope: valuation of land </a:t>
                      </a:r>
                      <a:r>
                        <a:rPr lang="en-US" sz="1400" b="0" i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wrt</a:t>
                      </a:r>
                      <a:r>
                        <a:rPr lang="en-US" sz="1400" b="0" i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property tax and ownership ) </a:t>
                      </a:r>
                      <a:endParaRPr lang="en-DE" sz="1400" b="0" i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197610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Regionalstatistik</a:t>
                      </a:r>
                      <a:r>
                        <a:rPr lang="en-DE" sz="12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(Agricultural Census)</a:t>
                      </a:r>
                      <a:endParaRPr lang="en-DE" sz="1200" b="1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kept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29519"/>
                  </a:ext>
                </a:extLst>
              </a:tr>
              <a:tr h="822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BKG VG250 Administrative Boundaries</a:t>
                      </a: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 </a:t>
                      </a:r>
                      <a:r>
                        <a:rPr lang="en-US" sz="1200" b="0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</a:t>
                      </a:r>
                      <a:r>
                        <a:rPr lang="en-US" sz="1200" b="0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DE" sz="1200" b="0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2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652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5039112"/>
      </p:ext>
    </p:extLst>
  </p:cSld>
  <p:clrMapOvr>
    <a:masterClrMapping/>
  </p:clrMapOvr>
</p:sld>
</file>

<file path=ppt/theme/theme1.xml><?xml version="1.0" encoding="utf-8"?>
<a:theme xmlns:a="http://schemas.openxmlformats.org/drawingml/2006/main" name="Titelfolien zur Auswahl">
  <a:themeElements>
    <a:clrScheme name="TU Berlin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-Berlin-Praesentation-Master-Verlauf-Blau-Gruen.potx" id="{C5D3096A-7172-486D-AFF7-84606E0F9696}" vid="{D5E81D5E-EE78-4998-966F-796B3A3B9436}"/>
    </a:ext>
  </a:extLst>
</a:theme>
</file>

<file path=ppt/theme/theme2.xml><?xml version="1.0" encoding="utf-8"?>
<a:theme xmlns:a="http://schemas.openxmlformats.org/drawingml/2006/main" name="Master für Folgeseiten">
  <a:themeElements>
    <a:clrScheme name="TU Berlin 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-Berlin-Praesentation-Master-Verlauf-Blau-Gruen.potx" id="{C5D3096A-7172-486D-AFF7-84606E0F9696}" vid="{57DCDA57-8EAF-4552-B667-8DB7FD433580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TU-Berlin-Praesentation-Master-Verlauf-Blau-Gruen</Template>
  <TotalTime>473</TotalTime>
  <Words>6188</Words>
  <Application>Microsoft Office PowerPoint</Application>
  <PresentationFormat>Widescreen</PresentationFormat>
  <Paragraphs>1013</Paragraphs>
  <Slides>58</Slides>
  <Notes>47</Notes>
  <HiddenSlides>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4" baseType="lpstr">
      <vt:lpstr>Arial</vt:lpstr>
      <vt:lpstr>Calibri</vt:lpstr>
      <vt:lpstr>Cascadia Code Light</vt:lpstr>
      <vt:lpstr>Symbol</vt:lpstr>
      <vt:lpstr>Titelfolien zur Auswahl</vt:lpstr>
      <vt:lpstr>Master für Folgeseiten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Rülicke-Ahrens, Janine</dc:creator>
  <cp:lastModifiedBy>TU-Pseudonym 5669684904547661</cp:lastModifiedBy>
  <cp:revision>10</cp:revision>
  <cp:lastPrinted>2021-03-24T16:10:50Z</cp:lastPrinted>
  <dcterms:created xsi:type="dcterms:W3CDTF">2023-04-20T08:59:26Z</dcterms:created>
  <dcterms:modified xsi:type="dcterms:W3CDTF">2026-07-16T11:52:12Z</dcterms:modified>
</cp:coreProperties>
</file>